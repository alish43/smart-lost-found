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ptos" panose="020B0004020202020204" pitchFamily="34" charset="0"/>
      <p:regular r:id="rId15"/>
      <p:bold r:id="rId16"/>
      <p:italic r:id="rId17"/>
      <p:boldItalic r:id="rId18"/>
    </p:embeddedFont>
    <p:embeddedFont>
      <p:font typeface="Aptos Bold" panose="020B00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4" y="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-9535"/>
            <a:ext cx="18320909" cy="10314108"/>
            <a:chOff x="0" y="0"/>
            <a:chExt cx="24427878" cy="13752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3752195"/>
            </a:xfrm>
            <a:custGeom>
              <a:avLst/>
              <a:gdLst/>
              <a:ahLst/>
              <a:cxnLst/>
              <a:rect l="l" t="t" r="r" b="b"/>
              <a:pathLst>
                <a:path w="24427814" h="13752195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235402" y="1715843"/>
            <a:ext cx="9059637" cy="1125588"/>
            <a:chOff x="0" y="0"/>
            <a:chExt cx="12079516" cy="15007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79517" cy="1500789"/>
            </a:xfrm>
            <a:custGeom>
              <a:avLst/>
              <a:gdLst/>
              <a:ahLst/>
              <a:cxnLst/>
              <a:rect l="l" t="t" r="r" b="b"/>
              <a:pathLst>
                <a:path w="12079517" h="1500789">
                  <a:moveTo>
                    <a:pt x="0" y="0"/>
                  </a:moveTo>
                  <a:lnTo>
                    <a:pt x="12079517" y="0"/>
                  </a:lnTo>
                  <a:lnTo>
                    <a:pt x="12079517" y="1500789"/>
                  </a:lnTo>
                  <a:lnTo>
                    <a:pt x="0" y="15007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830" b="-10683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2079516" cy="15007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6"/>
                </a:lnSpc>
              </a:pPr>
              <a:r>
                <a:rPr lang="en-US" sz="660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 Lost &amp; Found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6588" y="2951245"/>
            <a:ext cx="8510568" cy="576520"/>
            <a:chOff x="0" y="0"/>
            <a:chExt cx="11347425" cy="7686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47425" cy="768697"/>
            </a:xfrm>
            <a:custGeom>
              <a:avLst/>
              <a:gdLst/>
              <a:ahLst/>
              <a:cxnLst/>
              <a:rect l="l" t="t" r="r" b="b"/>
              <a:pathLst>
                <a:path w="11347425" h="768697">
                  <a:moveTo>
                    <a:pt x="0" y="0"/>
                  </a:moveTo>
                  <a:lnTo>
                    <a:pt x="11347425" y="0"/>
                  </a:lnTo>
                  <a:lnTo>
                    <a:pt x="1134742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36" b="-23763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1347425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2"/>
                </a:lnSpc>
              </a:pPr>
              <a:r>
                <a:rPr lang="en-US" sz="2627">
                  <a:solidFill>
                    <a:srgbClr val="DBEAFE"/>
                  </a:solidFill>
                  <a:latin typeface="Aptos"/>
                  <a:ea typeface="Aptos"/>
                  <a:cs typeface="Aptos"/>
                  <a:sym typeface="Aptos"/>
                </a:rPr>
                <a:t>AI-powered campus lost &amp; found platform on AWS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3328" y="3916309"/>
            <a:ext cx="3244844" cy="595589"/>
            <a:chOff x="0" y="0"/>
            <a:chExt cx="4326458" cy="7941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26509" cy="794131"/>
            </a:xfrm>
            <a:custGeom>
              <a:avLst/>
              <a:gdLst/>
              <a:ahLst/>
              <a:cxnLst/>
              <a:rect l="l" t="t" r="r" b="b"/>
              <a:pathLst>
                <a:path w="4326509" h="794131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4175252" y="0"/>
                  </a:lnTo>
                  <a:cubicBezTo>
                    <a:pt x="4258818" y="0"/>
                    <a:pt x="4326509" y="67691"/>
                    <a:pt x="4326509" y="151257"/>
                  </a:cubicBezTo>
                  <a:lnTo>
                    <a:pt x="4326509" y="642874"/>
                  </a:lnTo>
                  <a:cubicBezTo>
                    <a:pt x="4326509" y="726440"/>
                    <a:pt x="4258818" y="794131"/>
                    <a:pt x="4175252" y="794131"/>
                  </a:cubicBezTo>
                  <a:lnTo>
                    <a:pt x="151257" y="794131"/>
                  </a:lnTo>
                  <a:cubicBezTo>
                    <a:pt x="67691" y="794131"/>
                    <a:pt x="0" y="726440"/>
                    <a:pt x="0" y="642874"/>
                  </a:cubicBezTo>
                  <a:close/>
                </a:path>
              </a:pathLst>
            </a:custGeom>
            <a:solidFill>
              <a:srgbClr val="F59E0B"/>
            </a:solidFill>
            <a:ln w="1906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468755" y="4063108"/>
            <a:ext cx="2813980" cy="247079"/>
            <a:chOff x="0" y="0"/>
            <a:chExt cx="3751974" cy="329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51971" cy="329441"/>
            </a:xfrm>
            <a:custGeom>
              <a:avLst/>
              <a:gdLst/>
              <a:ahLst/>
              <a:cxnLst/>
              <a:rect l="l" t="t" r="r" b="b"/>
              <a:pathLst>
                <a:path w="3751971" h="329441">
                  <a:moveTo>
                    <a:pt x="0" y="0"/>
                  </a:moveTo>
                  <a:lnTo>
                    <a:pt x="3751971" y="0"/>
                  </a:lnTo>
                  <a:lnTo>
                    <a:pt x="375197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1913" b="-17191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751974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85"/>
                </a:lnSpc>
              </a:pPr>
              <a:r>
                <a:rPr lang="en-US" b="1" dirty="0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Cloud Management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0314" y="7714421"/>
            <a:ext cx="5627961" cy="754970"/>
            <a:chOff x="0" y="0"/>
            <a:chExt cx="7503947" cy="10066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03943" cy="1006625"/>
            </a:xfrm>
            <a:custGeom>
              <a:avLst/>
              <a:gdLst/>
              <a:ahLst/>
              <a:cxnLst/>
              <a:rect l="l" t="t" r="r" b="b"/>
              <a:pathLst>
                <a:path w="7503943" h="1006625">
                  <a:moveTo>
                    <a:pt x="0" y="0"/>
                  </a:moveTo>
                  <a:lnTo>
                    <a:pt x="7503943" y="0"/>
                  </a:lnTo>
                  <a:lnTo>
                    <a:pt x="7503943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7503947" cy="9971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7"/>
                </a:lnSpc>
              </a:pPr>
              <a:r>
                <a:rPr lang="en-US" sz="1831">
                  <a:solidFill>
                    <a:srgbClr val="E5E7EB"/>
                  </a:solidFill>
                  <a:latin typeface="Aptos"/>
                  <a:ea typeface="Aptos"/>
                  <a:cs typeface="Aptos"/>
                  <a:sym typeface="Aptos"/>
                </a:rPr>
                <a:t>Group members: __________________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40527" y="1433684"/>
            <a:ext cx="4682338" cy="6809984"/>
            <a:chOff x="0" y="0"/>
            <a:chExt cx="6243117" cy="9079979"/>
          </a:xfrm>
          <a:solidFill>
            <a:schemeClr val="tx2">
              <a:lumMod val="75000"/>
            </a:schemeClr>
          </a:solidFill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43193" cy="9079992"/>
            </a:xfrm>
            <a:custGeom>
              <a:avLst/>
              <a:gdLst/>
              <a:ahLst/>
              <a:cxnLst/>
              <a:rect l="l" t="t" r="r" b="b"/>
              <a:pathLst>
                <a:path w="6243193" h="9079992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096254" y="0"/>
                  </a:lnTo>
                  <a:cubicBezTo>
                    <a:pt x="6177407" y="0"/>
                    <a:pt x="6243193" y="65786"/>
                    <a:pt x="6243193" y="146939"/>
                  </a:cubicBezTo>
                  <a:lnTo>
                    <a:pt x="6243193" y="8933053"/>
                  </a:lnTo>
                  <a:cubicBezTo>
                    <a:pt x="6243193" y="9014206"/>
                    <a:pt x="6177407" y="9079992"/>
                    <a:pt x="6096254" y="9079992"/>
                  </a:cubicBezTo>
                  <a:lnTo>
                    <a:pt x="146939" y="9079992"/>
                  </a:lnTo>
                  <a:cubicBezTo>
                    <a:pt x="65786" y="9079992"/>
                    <a:pt x="0" y="9014206"/>
                    <a:pt x="0" y="8933053"/>
                  </a:cubicBezTo>
                  <a:close/>
                </a:path>
              </a:pathLst>
            </a:custGeom>
            <a:grpFill/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2422686" y="1990373"/>
            <a:ext cx="3568951" cy="480431"/>
            <a:chOff x="0" y="0"/>
            <a:chExt cx="4758601" cy="6405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58598" cy="640580"/>
            </a:xfrm>
            <a:custGeom>
              <a:avLst/>
              <a:gdLst/>
              <a:ahLst/>
              <a:cxnLst/>
              <a:rect l="l" t="t" r="r" b="b"/>
              <a:pathLst>
                <a:path w="4758598" h="640580">
                  <a:moveTo>
                    <a:pt x="0" y="0"/>
                  </a:moveTo>
                  <a:lnTo>
                    <a:pt x="4758598" y="0"/>
                  </a:lnTo>
                  <a:lnTo>
                    <a:pt x="475859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46" b="-9474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758601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Live cloud workflow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44524" y="2873083"/>
            <a:ext cx="760305" cy="760305"/>
            <a:chOff x="0" y="0"/>
            <a:chExt cx="1013739" cy="10137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354049" y="2964971"/>
            <a:ext cx="741245" cy="494167"/>
            <a:chOff x="0" y="0"/>
            <a:chExt cx="988327" cy="6588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246284" y="3019882"/>
            <a:ext cx="2745343" cy="343167"/>
            <a:chOff x="0" y="0"/>
            <a:chExt cx="3660458" cy="4575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60460" cy="457557"/>
            </a:xfrm>
            <a:custGeom>
              <a:avLst/>
              <a:gdLst/>
              <a:ahLst/>
              <a:cxnLst/>
              <a:rect l="l" t="t" r="r" b="b"/>
              <a:pathLst>
                <a:path w="3660460" h="457557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366045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3"/>
                </a:lnSpc>
              </a:pPr>
              <a:r>
                <a:rPr lang="en-US" sz="186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 item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709417" y="3636054"/>
            <a:ext cx="30509" cy="140322"/>
            <a:chOff x="0" y="0"/>
            <a:chExt cx="40678" cy="1870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640" cy="187071"/>
            </a:xfrm>
            <a:custGeom>
              <a:avLst/>
              <a:gdLst/>
              <a:ahLst/>
              <a:cxnLst/>
              <a:rect l="l" t="t" r="r" b="b"/>
              <a:pathLst>
                <a:path w="40640" h="187071">
                  <a:moveTo>
                    <a:pt x="0" y="0"/>
                  </a:moveTo>
                  <a:lnTo>
                    <a:pt x="40640" y="18707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0630" r="-540724" b="-13"/>
              </a:stretch>
            </a:blipFill>
            <a:ln w="3050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344524" y="3833946"/>
            <a:ext cx="760305" cy="760305"/>
            <a:chOff x="0" y="0"/>
            <a:chExt cx="1013739" cy="101373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354049" y="3925843"/>
            <a:ext cx="741245" cy="494167"/>
            <a:chOff x="0" y="0"/>
            <a:chExt cx="988327" cy="65888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🖼️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246284" y="3980755"/>
            <a:ext cx="2745343" cy="343167"/>
            <a:chOff x="0" y="0"/>
            <a:chExt cx="3660458" cy="4575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660460" cy="457557"/>
            </a:xfrm>
            <a:custGeom>
              <a:avLst/>
              <a:gdLst/>
              <a:ahLst/>
              <a:cxnLst/>
              <a:rect l="l" t="t" r="r" b="b"/>
              <a:pathLst>
                <a:path w="3660460" h="457557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66045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3"/>
                </a:lnSpc>
              </a:pPr>
              <a:r>
                <a:rPr lang="en-US" sz="186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Upload image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09417" y="4596927"/>
            <a:ext cx="30509" cy="140322"/>
            <a:chOff x="0" y="0"/>
            <a:chExt cx="40678" cy="187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640" cy="187071"/>
            </a:xfrm>
            <a:custGeom>
              <a:avLst/>
              <a:gdLst/>
              <a:ahLst/>
              <a:cxnLst/>
              <a:rect l="l" t="t" r="r" b="b"/>
              <a:pathLst>
                <a:path w="40640" h="187071">
                  <a:moveTo>
                    <a:pt x="0" y="0"/>
                  </a:moveTo>
                  <a:lnTo>
                    <a:pt x="40640" y="18707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0630" r="-540724" b="-13"/>
              </a:stretch>
            </a:blipFill>
            <a:ln w="3050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2344524" y="4794818"/>
            <a:ext cx="760305" cy="760305"/>
            <a:chOff x="0" y="0"/>
            <a:chExt cx="1013739" cy="101373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354049" y="4886716"/>
            <a:ext cx="741245" cy="494167"/>
            <a:chOff x="0" y="0"/>
            <a:chExt cx="988327" cy="65888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246284" y="4941618"/>
            <a:ext cx="2745343" cy="343167"/>
            <a:chOff x="0" y="0"/>
            <a:chExt cx="3660458" cy="45755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660460" cy="457557"/>
            </a:xfrm>
            <a:custGeom>
              <a:avLst/>
              <a:gdLst/>
              <a:ahLst/>
              <a:cxnLst/>
              <a:rect l="l" t="t" r="r" b="b"/>
              <a:pathLst>
                <a:path w="3660460" h="457557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366045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3"/>
                </a:lnSpc>
              </a:pPr>
              <a:r>
                <a:rPr lang="en-US" sz="186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labels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709417" y="5557799"/>
            <a:ext cx="30509" cy="140322"/>
            <a:chOff x="0" y="0"/>
            <a:chExt cx="40678" cy="1870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640" cy="187071"/>
            </a:xfrm>
            <a:custGeom>
              <a:avLst/>
              <a:gdLst/>
              <a:ahLst/>
              <a:cxnLst/>
              <a:rect l="l" t="t" r="r" b="b"/>
              <a:pathLst>
                <a:path w="40640" h="187071">
                  <a:moveTo>
                    <a:pt x="0" y="0"/>
                  </a:moveTo>
                  <a:lnTo>
                    <a:pt x="40640" y="18707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0630" r="-540724" b="-13"/>
              </a:stretch>
            </a:blipFill>
            <a:ln w="3050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2344524" y="5755691"/>
            <a:ext cx="760305" cy="760305"/>
            <a:chOff x="0" y="0"/>
            <a:chExt cx="1013739" cy="101373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0891B2">
                <a:alpha val="1176"/>
              </a:srgbClr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2354049" y="5847588"/>
            <a:ext cx="741245" cy="494167"/>
            <a:chOff x="0" y="0"/>
            <a:chExt cx="988327" cy="65888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246284" y="5902490"/>
            <a:ext cx="2745343" cy="343167"/>
            <a:chOff x="0" y="0"/>
            <a:chExt cx="3660458" cy="45755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660460" cy="457557"/>
            </a:xfrm>
            <a:custGeom>
              <a:avLst/>
              <a:gdLst/>
              <a:ahLst/>
              <a:cxnLst/>
              <a:rect l="l" t="t" r="r" b="b"/>
              <a:pathLst>
                <a:path w="3660460" h="457557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366045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3"/>
                </a:lnSpc>
              </a:pPr>
              <a:r>
                <a:rPr lang="en-US" sz="186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Claim item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709417" y="6518672"/>
            <a:ext cx="30509" cy="140322"/>
            <a:chOff x="0" y="0"/>
            <a:chExt cx="40678" cy="18709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640" cy="187071"/>
            </a:xfrm>
            <a:custGeom>
              <a:avLst/>
              <a:gdLst/>
              <a:ahLst/>
              <a:cxnLst/>
              <a:rect l="l" t="t" r="r" b="b"/>
              <a:pathLst>
                <a:path w="40640" h="187071">
                  <a:moveTo>
                    <a:pt x="0" y="0"/>
                  </a:moveTo>
                  <a:lnTo>
                    <a:pt x="40640" y="18707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0630" r="-540724" b="-13"/>
              </a:stretch>
            </a:blipFill>
            <a:ln w="30504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344524" y="6716563"/>
            <a:ext cx="760305" cy="760305"/>
            <a:chOff x="0" y="0"/>
            <a:chExt cx="1013739" cy="101373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2354049" y="6808451"/>
            <a:ext cx="741245" cy="494167"/>
            <a:chOff x="0" y="0"/>
            <a:chExt cx="988327" cy="65888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✅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246284" y="6863363"/>
            <a:ext cx="2745343" cy="343167"/>
            <a:chOff x="0" y="0"/>
            <a:chExt cx="3660458" cy="4575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660460" cy="457557"/>
            </a:xfrm>
            <a:custGeom>
              <a:avLst/>
              <a:gdLst/>
              <a:ahLst/>
              <a:cxnLst/>
              <a:rect l="l" t="t" r="r" b="b"/>
              <a:pathLst>
                <a:path w="3660460" h="457557">
                  <a:moveTo>
                    <a:pt x="0" y="0"/>
                  </a:moveTo>
                  <a:lnTo>
                    <a:pt x="3660460" y="0"/>
                  </a:lnTo>
                  <a:lnTo>
                    <a:pt x="366046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3660458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3"/>
                </a:lnSpc>
              </a:pPr>
              <a:r>
                <a:rPr lang="en-US" sz="186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return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business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Manual lost-and-found processes are slow, fragmented, and hard to verify.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2120017"/>
            <a:ext cx="5574573" cy="6329543"/>
            <a:chOff x="0" y="0"/>
            <a:chExt cx="7432764" cy="84393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32802" cy="8439404"/>
            </a:xfrm>
            <a:custGeom>
              <a:avLst/>
              <a:gdLst/>
              <a:ahLst/>
              <a:cxnLst/>
              <a:rect l="l" t="t" r="r" b="b"/>
              <a:pathLst>
                <a:path w="7432802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85990" y="0"/>
                  </a:lnTo>
                  <a:cubicBezTo>
                    <a:pt x="7367016" y="0"/>
                    <a:pt x="7432802" y="65786"/>
                    <a:pt x="7432802" y="146812"/>
                  </a:cubicBezTo>
                  <a:lnTo>
                    <a:pt x="7432802" y="8292592"/>
                  </a:lnTo>
                  <a:cubicBezTo>
                    <a:pt x="7432802" y="8373618"/>
                    <a:pt x="7367016" y="8439404"/>
                    <a:pt x="7285990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31769" y="2598544"/>
            <a:ext cx="760305" cy="760305"/>
            <a:chOff x="0" y="0"/>
            <a:chExt cx="1013739" cy="10137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DC2626">
                <a:alpha val="1176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41304" y="2690441"/>
            <a:ext cx="741245" cy="494167"/>
            <a:chOff x="0" y="0"/>
            <a:chExt cx="988327" cy="6588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⏳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02176" y="2690441"/>
            <a:ext cx="3294412" cy="411804"/>
            <a:chOff x="0" y="0"/>
            <a:chExt cx="4392549" cy="5490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92552" cy="549069"/>
            </a:xfrm>
            <a:custGeom>
              <a:avLst/>
              <a:gdLst/>
              <a:ahLst/>
              <a:cxnLst/>
              <a:rect l="l" t="t" r="r" b="b"/>
              <a:pathLst>
                <a:path w="4392552" h="549069">
                  <a:moveTo>
                    <a:pt x="0" y="0"/>
                  </a:moveTo>
                  <a:lnTo>
                    <a:pt x="4392552" y="0"/>
                  </a:lnTo>
                  <a:lnTo>
                    <a:pt x="439255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79" b="-10588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39254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Slow recovery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31769" y="3751593"/>
            <a:ext cx="142608" cy="142608"/>
            <a:chOff x="0" y="0"/>
            <a:chExt cx="190144" cy="1901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688382" y="3678765"/>
            <a:ext cx="4461186" cy="439255"/>
            <a:chOff x="0" y="0"/>
            <a:chExt cx="5948248" cy="5856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948248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Students do not know where to search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1769" y="4575191"/>
            <a:ext cx="142608" cy="142608"/>
            <a:chOff x="0" y="0"/>
            <a:chExt cx="190144" cy="1901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688382" y="4502363"/>
            <a:ext cx="4461186" cy="439255"/>
            <a:chOff x="0" y="0"/>
            <a:chExt cx="5948248" cy="58567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948248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Reports are often paper-based or informal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31769" y="5398799"/>
            <a:ext cx="142608" cy="142608"/>
            <a:chOff x="0" y="0"/>
            <a:chExt cx="190144" cy="1901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688382" y="5325970"/>
            <a:ext cx="4461186" cy="439255"/>
            <a:chOff x="0" y="0"/>
            <a:chExt cx="5948248" cy="58567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48247" cy="585674"/>
            </a:xfrm>
            <a:custGeom>
              <a:avLst/>
              <a:gdLst/>
              <a:ahLst/>
              <a:cxnLst/>
              <a:rect l="l" t="t" r="r" b="b"/>
              <a:pathLst>
                <a:path w="5948247" h="585674">
                  <a:moveTo>
                    <a:pt x="0" y="0"/>
                  </a:moveTo>
                  <a:lnTo>
                    <a:pt x="5948247" y="0"/>
                  </a:lnTo>
                  <a:lnTo>
                    <a:pt x="594824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894" b="-14789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5948248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No consistent item lifecycle tracking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87105" y="2120017"/>
            <a:ext cx="5094141" cy="6329543"/>
            <a:chOff x="0" y="0"/>
            <a:chExt cx="6792189" cy="843939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92214" cy="8439404"/>
            </a:xfrm>
            <a:custGeom>
              <a:avLst/>
              <a:gdLst/>
              <a:ahLst/>
              <a:cxnLst/>
              <a:rect l="l" t="t" r="r" b="b"/>
              <a:pathLst>
                <a:path w="6792214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645402" y="0"/>
                  </a:lnTo>
                  <a:cubicBezTo>
                    <a:pt x="6726555" y="0"/>
                    <a:pt x="6792214" y="65786"/>
                    <a:pt x="6792214" y="146812"/>
                  </a:cubicBezTo>
                  <a:lnTo>
                    <a:pt x="6792214" y="8292592"/>
                  </a:lnTo>
                  <a:cubicBezTo>
                    <a:pt x="6792214" y="8373745"/>
                    <a:pt x="6726428" y="8439404"/>
                    <a:pt x="6645402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196995" y="2598544"/>
            <a:ext cx="760305" cy="760305"/>
            <a:chOff x="0" y="0"/>
            <a:chExt cx="1013739" cy="10137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206529" y="2690441"/>
            <a:ext cx="741245" cy="494167"/>
            <a:chOff x="0" y="0"/>
            <a:chExt cx="988327" cy="65888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🔍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67402" y="2690441"/>
            <a:ext cx="3157147" cy="411804"/>
            <a:chOff x="0" y="0"/>
            <a:chExt cx="4209529" cy="5490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09529" cy="549069"/>
            </a:xfrm>
            <a:custGeom>
              <a:avLst/>
              <a:gdLst/>
              <a:ahLst/>
              <a:cxnLst/>
              <a:rect l="l" t="t" r="r" b="b"/>
              <a:pathLst>
                <a:path w="4209529" h="54906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Poor identification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196995" y="3751593"/>
            <a:ext cx="142608" cy="142608"/>
            <a:chOff x="0" y="0"/>
            <a:chExt cx="190144" cy="1901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7453608" y="3678765"/>
            <a:ext cx="3980755" cy="439255"/>
            <a:chOff x="0" y="0"/>
            <a:chExt cx="5307673" cy="58567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Descriptions are incomplete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196995" y="4575191"/>
            <a:ext cx="142608" cy="142608"/>
            <a:chOff x="0" y="0"/>
            <a:chExt cx="190144" cy="19014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453608" y="4502363"/>
            <a:ext cx="3980755" cy="439255"/>
            <a:chOff x="0" y="0"/>
            <a:chExt cx="5307673" cy="5856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Images are not searchable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196995" y="5398799"/>
            <a:ext cx="142608" cy="142608"/>
            <a:chOff x="0" y="0"/>
            <a:chExt cx="190144" cy="1901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7453608" y="5325970"/>
            <a:ext cx="3980755" cy="439255"/>
            <a:chOff x="0" y="0"/>
            <a:chExt cx="5307673" cy="58567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307667" cy="585674"/>
            </a:xfrm>
            <a:custGeom>
              <a:avLst/>
              <a:gdLst/>
              <a:ahLst/>
              <a:cxnLst/>
              <a:rect l="l" t="t" r="r" b="b"/>
              <a:pathLst>
                <a:path w="5307667" h="585674">
                  <a:moveTo>
                    <a:pt x="0" y="0"/>
                  </a:moveTo>
                  <a:lnTo>
                    <a:pt x="5307667" y="0"/>
                  </a:lnTo>
                  <a:lnTo>
                    <a:pt x="5307667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530767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Hard to verify ownership claims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40527" y="2120017"/>
            <a:ext cx="5094141" cy="6329543"/>
            <a:chOff x="0" y="0"/>
            <a:chExt cx="6792189" cy="843939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792214" cy="8439404"/>
            </a:xfrm>
            <a:custGeom>
              <a:avLst/>
              <a:gdLst/>
              <a:ahLst/>
              <a:cxnLst/>
              <a:rect l="l" t="t" r="r" b="b"/>
              <a:pathLst>
                <a:path w="6792214" h="8439404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645402" y="0"/>
                  </a:lnTo>
                  <a:cubicBezTo>
                    <a:pt x="6726555" y="0"/>
                    <a:pt x="6792214" y="65786"/>
                    <a:pt x="6792214" y="146812"/>
                  </a:cubicBezTo>
                  <a:lnTo>
                    <a:pt x="6792214" y="8292592"/>
                  </a:lnTo>
                  <a:cubicBezTo>
                    <a:pt x="6792214" y="8373745"/>
                    <a:pt x="6726428" y="8439404"/>
                    <a:pt x="6645402" y="8439404"/>
                  </a:cubicBezTo>
                  <a:lnTo>
                    <a:pt x="146812" y="8439404"/>
                  </a:lnTo>
                  <a:cubicBezTo>
                    <a:pt x="65786" y="8439404"/>
                    <a:pt x="0" y="8373618"/>
                    <a:pt x="0" y="829259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2550416" y="2598544"/>
            <a:ext cx="760305" cy="760305"/>
            <a:chOff x="0" y="0"/>
            <a:chExt cx="1013739" cy="101373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2559951" y="2690441"/>
            <a:ext cx="741245" cy="494167"/>
            <a:chOff x="0" y="0"/>
            <a:chExt cx="988327" cy="65888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🛡️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20823" y="2690441"/>
            <a:ext cx="3019882" cy="411804"/>
            <a:chOff x="0" y="0"/>
            <a:chExt cx="4026510" cy="54907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026506" cy="549069"/>
            </a:xfrm>
            <a:custGeom>
              <a:avLst/>
              <a:gdLst/>
              <a:ahLst/>
              <a:cxnLst/>
              <a:rect l="l" t="t" r="r" b="b"/>
              <a:pathLst>
                <a:path w="4026506" h="549069">
                  <a:moveTo>
                    <a:pt x="0" y="0"/>
                  </a:moveTo>
                  <a:lnTo>
                    <a:pt x="4026506" y="0"/>
                  </a:lnTo>
                  <a:lnTo>
                    <a:pt x="402650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4026510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Weak control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550416" y="3751593"/>
            <a:ext cx="142608" cy="142608"/>
            <a:chOff x="0" y="0"/>
            <a:chExt cx="190144" cy="1901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2807029" y="3678765"/>
            <a:ext cx="4049382" cy="439255"/>
            <a:chOff x="0" y="0"/>
            <a:chExt cx="5399176" cy="58567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539917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No role-based admin workflow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550416" y="4575191"/>
            <a:ext cx="142608" cy="142608"/>
            <a:chOff x="0" y="0"/>
            <a:chExt cx="190144" cy="19014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2807029" y="4502363"/>
            <a:ext cx="4049382" cy="439255"/>
            <a:chOff x="0" y="0"/>
            <a:chExt cx="5399176" cy="58567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539917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No notifications for new items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550416" y="5398799"/>
            <a:ext cx="142608" cy="142608"/>
            <a:chOff x="0" y="0"/>
            <a:chExt cx="190144" cy="19014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2807029" y="5325970"/>
            <a:ext cx="4049382" cy="439255"/>
            <a:chOff x="0" y="0"/>
            <a:chExt cx="5399176" cy="58567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399178" cy="585674"/>
            </a:xfrm>
            <a:custGeom>
              <a:avLst/>
              <a:gdLst/>
              <a:ahLst/>
              <a:cxnLst/>
              <a:rect l="l" t="t" r="r" b="b"/>
              <a:pathLst>
                <a:path w="5399178" h="585674">
                  <a:moveTo>
                    <a:pt x="0" y="0"/>
                  </a:moveTo>
                  <a:lnTo>
                    <a:pt x="5399178" y="0"/>
                  </a:lnTo>
                  <a:lnTo>
                    <a:pt x="539917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627" b="-12962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539917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Limited auditing and monitoring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2676" y="8853735"/>
            <a:ext cx="15236666" cy="480431"/>
            <a:chOff x="0" y="0"/>
            <a:chExt cx="20315555" cy="64057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315552" cy="640580"/>
            </a:xfrm>
            <a:custGeom>
              <a:avLst/>
              <a:gdLst/>
              <a:ahLst/>
              <a:cxnLst/>
              <a:rect l="l" t="t" r="r" b="b"/>
              <a:pathLst>
                <a:path w="20315552" h="640580">
                  <a:moveTo>
                    <a:pt x="0" y="0"/>
                  </a:moveTo>
                  <a:lnTo>
                    <a:pt x="20315552" y="0"/>
                  </a:lnTo>
                  <a:lnTo>
                    <a:pt x="20315552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954" b="-56795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20315555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audience: university students, staff, reception/security office, and lost &amp; found administrators.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 serverless SaaS-style platform for reporting, claiming, and returning lost items.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1982753"/>
            <a:ext cx="7221779" cy="6466808"/>
            <a:chOff x="0" y="0"/>
            <a:chExt cx="9629038" cy="86224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29140" cy="8622411"/>
            </a:xfrm>
            <a:custGeom>
              <a:avLst/>
              <a:gdLst/>
              <a:ahLst/>
              <a:cxnLst/>
              <a:rect l="l" t="t" r="r" b="b"/>
              <a:pathLst>
                <a:path w="9629140" h="862241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9482328" y="0"/>
                  </a:lnTo>
                  <a:cubicBezTo>
                    <a:pt x="9563354" y="0"/>
                    <a:pt x="9629140" y="65659"/>
                    <a:pt x="9629140" y="146812"/>
                  </a:cubicBezTo>
                  <a:lnTo>
                    <a:pt x="9629140" y="8475599"/>
                  </a:lnTo>
                  <a:cubicBezTo>
                    <a:pt x="9629140" y="8556625"/>
                    <a:pt x="9563481" y="8622411"/>
                    <a:pt x="9482328" y="8622411"/>
                  </a:cubicBezTo>
                  <a:lnTo>
                    <a:pt x="146812" y="8622411"/>
                  </a:lnTo>
                  <a:cubicBezTo>
                    <a:pt x="65659" y="8622411"/>
                    <a:pt x="0" y="8556752"/>
                    <a:pt x="0" y="847559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63142" y="2365191"/>
            <a:ext cx="1529001" cy="403412"/>
            <a:chOff x="0" y="0"/>
            <a:chExt cx="2038668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8731" cy="537845"/>
            </a:xfrm>
            <a:custGeom>
              <a:avLst/>
              <a:gdLst/>
              <a:ahLst/>
              <a:cxnLst/>
              <a:rect l="l" t="t" r="r" b="b"/>
              <a:pathLst>
                <a:path w="2038731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904238" y="0"/>
                  </a:lnTo>
                  <a:cubicBezTo>
                    <a:pt x="1978533" y="0"/>
                    <a:pt x="2038731" y="60198"/>
                    <a:pt x="2038731" y="134493"/>
                  </a:cubicBezTo>
                  <a:lnTo>
                    <a:pt x="2038731" y="403352"/>
                  </a:lnTo>
                  <a:cubicBezTo>
                    <a:pt x="2038731" y="477647"/>
                    <a:pt x="1978533" y="537845"/>
                    <a:pt x="1904238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82490" y="2450221"/>
            <a:ext cx="1290314" cy="219627"/>
            <a:chOff x="0" y="0"/>
            <a:chExt cx="1720418" cy="2928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0416" cy="292837"/>
            </a:xfrm>
            <a:custGeom>
              <a:avLst/>
              <a:gdLst/>
              <a:ahLst/>
              <a:cxnLst/>
              <a:rect l="l" t="t" r="r" b="b"/>
              <a:pathLst>
                <a:path w="1720416" h="292837">
                  <a:moveTo>
                    <a:pt x="0" y="0"/>
                  </a:moveTo>
                  <a:lnTo>
                    <a:pt x="1720416" y="0"/>
                  </a:lnTo>
                  <a:lnTo>
                    <a:pt x="1720416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74" b="-6447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720418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flow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3142" y="3078985"/>
            <a:ext cx="760305" cy="760305"/>
            <a:chOff x="0" y="0"/>
            <a:chExt cx="1013739" cy="101373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72676" y="3170872"/>
            <a:ext cx="741245" cy="494167"/>
            <a:chOff x="0" y="0"/>
            <a:chExt cx="988327" cy="6588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61000" y="3115970"/>
            <a:ext cx="3019882" cy="329441"/>
            <a:chOff x="0" y="0"/>
            <a:chExt cx="4026510" cy="4392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Register / Login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61000" y="3486588"/>
            <a:ext cx="4941618" cy="274539"/>
            <a:chOff x="0" y="0"/>
            <a:chExt cx="6588823" cy="3660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658882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93"/>
                </a:lnSpc>
              </a:pPr>
              <a:r>
                <a:rPr lang="en-US" sz="141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Cognito authenticates users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28045" y="3841956"/>
            <a:ext cx="30509" cy="277587"/>
            <a:chOff x="0" y="0"/>
            <a:chExt cx="40678" cy="3701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640" cy="370078"/>
            </a:xfrm>
            <a:custGeom>
              <a:avLst/>
              <a:gdLst/>
              <a:ahLst/>
              <a:cxnLst/>
              <a:rect l="l" t="t" r="r" b="b"/>
              <a:pathLst>
                <a:path w="40640" h="370078">
                  <a:moveTo>
                    <a:pt x="0" y="0"/>
                  </a:moveTo>
                  <a:lnTo>
                    <a:pt x="40640" y="37007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118437" r="-1118531" b="-10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363142" y="4149662"/>
            <a:ext cx="760305" cy="760305"/>
            <a:chOff x="0" y="0"/>
            <a:chExt cx="1013739" cy="101373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72676" y="4241559"/>
            <a:ext cx="741245" cy="494167"/>
            <a:chOff x="0" y="0"/>
            <a:chExt cx="988327" cy="65888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361000" y="4186647"/>
            <a:ext cx="3019882" cy="329441"/>
            <a:chOff x="0" y="0"/>
            <a:chExt cx="4026510" cy="4392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 item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361000" y="4557274"/>
            <a:ext cx="4941618" cy="274539"/>
            <a:chOff x="0" y="0"/>
            <a:chExt cx="6588823" cy="3660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658882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93"/>
                </a:lnSpc>
              </a:pPr>
              <a:r>
                <a:rPr lang="en-US" sz="141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Submit title, details, priority, location, image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28045" y="4912643"/>
            <a:ext cx="30509" cy="277587"/>
            <a:chOff x="0" y="0"/>
            <a:chExt cx="40678" cy="3701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640" cy="370078"/>
            </a:xfrm>
            <a:custGeom>
              <a:avLst/>
              <a:gdLst/>
              <a:ahLst/>
              <a:cxnLst/>
              <a:rect l="l" t="t" r="r" b="b"/>
              <a:pathLst>
                <a:path w="40640" h="370078">
                  <a:moveTo>
                    <a:pt x="0" y="0"/>
                  </a:moveTo>
                  <a:lnTo>
                    <a:pt x="40640" y="37007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118437" r="-1118531" b="-10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63142" y="5220348"/>
            <a:ext cx="760305" cy="760305"/>
            <a:chOff x="0" y="0"/>
            <a:chExt cx="1013739" cy="10137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372676" y="5312245"/>
            <a:ext cx="741245" cy="494167"/>
            <a:chOff x="0" y="0"/>
            <a:chExt cx="988327" cy="65888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361000" y="5257333"/>
            <a:ext cx="3019882" cy="329441"/>
            <a:chOff x="0" y="0"/>
            <a:chExt cx="4026510" cy="43925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labeling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361000" y="5627961"/>
            <a:ext cx="4941618" cy="274539"/>
            <a:chOff x="0" y="0"/>
            <a:chExt cx="6588823" cy="3660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658882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93"/>
                </a:lnSpc>
              </a:pPr>
              <a:r>
                <a:rPr lang="en-US" sz="141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Rekognition extracts searchable labels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728045" y="5983329"/>
            <a:ext cx="30509" cy="277587"/>
            <a:chOff x="0" y="0"/>
            <a:chExt cx="40678" cy="37011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640" cy="370078"/>
            </a:xfrm>
            <a:custGeom>
              <a:avLst/>
              <a:gdLst/>
              <a:ahLst/>
              <a:cxnLst/>
              <a:rect l="l" t="t" r="r" b="b"/>
              <a:pathLst>
                <a:path w="40640" h="370078">
                  <a:moveTo>
                    <a:pt x="0" y="0"/>
                  </a:moveTo>
                  <a:lnTo>
                    <a:pt x="40640" y="37007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118437" r="-1118531" b="-10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363142" y="6291034"/>
            <a:ext cx="760305" cy="760305"/>
            <a:chOff x="0" y="0"/>
            <a:chExt cx="1013739" cy="101373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372676" y="6382931"/>
            <a:ext cx="741245" cy="494167"/>
            <a:chOff x="0" y="0"/>
            <a:chExt cx="988327" cy="65888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361000" y="6328019"/>
            <a:ext cx="3019882" cy="329441"/>
            <a:chOff x="0" y="0"/>
            <a:chExt cx="4026510" cy="43925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3" b="-12861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5"/>
                </a:lnSpc>
              </a:pPr>
              <a:r>
                <a:rPr lang="en-US" sz="192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Claim item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361000" y="6698637"/>
            <a:ext cx="4941618" cy="274539"/>
            <a:chOff x="0" y="0"/>
            <a:chExt cx="6588823" cy="36605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588827" cy="366046"/>
            </a:xfrm>
            <a:custGeom>
              <a:avLst/>
              <a:gdLst/>
              <a:ahLst/>
              <a:cxnLst/>
              <a:rect l="l" t="t" r="r" b="b"/>
              <a:pathLst>
                <a:path w="6588827" h="366046">
                  <a:moveTo>
                    <a:pt x="0" y="0"/>
                  </a:moveTo>
                  <a:lnTo>
                    <a:pt x="6588827" y="0"/>
                  </a:lnTo>
                  <a:lnTo>
                    <a:pt x="658882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29" b="-30073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6588823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93"/>
                </a:lnSpc>
              </a:pPr>
              <a:r>
                <a:rPr lang="en-US" sz="141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User provides contact and claim reason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571576" y="1982753"/>
            <a:ext cx="8594455" cy="6466808"/>
            <a:chOff x="0" y="0"/>
            <a:chExt cx="11459274" cy="862241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459337" cy="8622411"/>
            </a:xfrm>
            <a:custGeom>
              <a:avLst/>
              <a:gdLst/>
              <a:ahLst/>
              <a:cxnLst/>
              <a:rect l="l" t="t" r="r" b="b"/>
              <a:pathLst>
                <a:path w="11459337" h="862241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1312525" y="0"/>
                  </a:lnTo>
                  <a:cubicBezTo>
                    <a:pt x="11393551" y="0"/>
                    <a:pt x="11459337" y="65659"/>
                    <a:pt x="11459337" y="146812"/>
                  </a:cubicBezTo>
                  <a:lnTo>
                    <a:pt x="11459337" y="8475599"/>
                  </a:lnTo>
                  <a:cubicBezTo>
                    <a:pt x="11459337" y="8556625"/>
                    <a:pt x="11393678" y="8622411"/>
                    <a:pt x="11312525" y="8622411"/>
                  </a:cubicBezTo>
                  <a:lnTo>
                    <a:pt x="146812" y="8622411"/>
                  </a:lnTo>
                  <a:cubicBezTo>
                    <a:pt x="65659" y="8622411"/>
                    <a:pt x="0" y="8556752"/>
                    <a:pt x="0" y="8475599"/>
                  </a:cubicBezTo>
                  <a:close/>
                </a:path>
              </a:pathLst>
            </a:custGeom>
            <a:solidFill>
              <a:srgbClr val="EFF6FF"/>
            </a:solidFill>
            <a:ln w="15252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8981475" y="2365191"/>
            <a:ext cx="2009442" cy="403412"/>
            <a:chOff x="0" y="0"/>
            <a:chExt cx="2679256" cy="53788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679319" cy="537845"/>
            </a:xfrm>
            <a:custGeom>
              <a:avLst/>
              <a:gdLst/>
              <a:ahLst/>
              <a:cxnLst/>
              <a:rect l="l" t="t" r="r" b="b"/>
              <a:pathLst>
                <a:path w="2679319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544826" y="0"/>
                  </a:lnTo>
                  <a:cubicBezTo>
                    <a:pt x="2619121" y="0"/>
                    <a:pt x="2679319" y="60198"/>
                    <a:pt x="2679319" y="134493"/>
                  </a:cubicBezTo>
                  <a:lnTo>
                    <a:pt x="2679319" y="403352"/>
                  </a:lnTo>
                  <a:cubicBezTo>
                    <a:pt x="2679319" y="477647"/>
                    <a:pt x="2619121" y="537845"/>
                    <a:pt x="2544826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9100814" y="2450221"/>
            <a:ext cx="1770745" cy="219627"/>
            <a:chOff x="0" y="0"/>
            <a:chExt cx="2360994" cy="29283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360997" cy="292837"/>
            </a:xfrm>
            <a:custGeom>
              <a:avLst/>
              <a:gdLst/>
              <a:ahLst/>
              <a:cxnLst/>
              <a:rect l="l" t="t" r="r" b="b"/>
              <a:pathLst>
                <a:path w="2360997" h="292837">
                  <a:moveTo>
                    <a:pt x="0" y="0"/>
                  </a:moveTo>
                  <a:lnTo>
                    <a:pt x="2360997" y="0"/>
                  </a:lnTo>
                  <a:lnTo>
                    <a:pt x="2360997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097" b="-10709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2360994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workflow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128274" y="3253235"/>
            <a:ext cx="2882608" cy="521618"/>
            <a:chOff x="0" y="0"/>
            <a:chExt cx="3843477" cy="69549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843483" cy="695487"/>
            </a:xfrm>
            <a:custGeom>
              <a:avLst/>
              <a:gdLst/>
              <a:ahLst/>
              <a:cxnLst/>
              <a:rect l="l" t="t" r="r" b="b"/>
              <a:pathLst>
                <a:path w="3843483" h="695487">
                  <a:moveTo>
                    <a:pt x="0" y="0"/>
                  </a:moveTo>
                  <a:lnTo>
                    <a:pt x="3843483" y="0"/>
                  </a:lnTo>
                  <a:lnTo>
                    <a:pt x="3843483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80" b="-5768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3843477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Queue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169451" y="3925843"/>
            <a:ext cx="6794725" cy="1029500"/>
            <a:chOff x="0" y="0"/>
            <a:chExt cx="9059634" cy="137266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059638" cy="1372672"/>
            </a:xfrm>
            <a:custGeom>
              <a:avLst/>
              <a:gdLst/>
              <a:ahLst/>
              <a:cxnLst/>
              <a:rect l="l" t="t" r="r" b="b"/>
              <a:pathLst>
                <a:path w="9059638" h="1372672">
                  <a:moveTo>
                    <a:pt x="0" y="0"/>
                  </a:moveTo>
                  <a:lnTo>
                    <a:pt x="9059638" y="0"/>
                  </a:lnTo>
                  <a:lnTo>
                    <a:pt x="905963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01" b="-7860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9059634" cy="1382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Claimed items are collected into a review queue. Admins verify claim details and mark the item as returned.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159916" y="5549789"/>
            <a:ext cx="2970314" cy="403412"/>
            <a:chOff x="0" y="0"/>
            <a:chExt cx="3960419" cy="53788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9279265" y="5634819"/>
            <a:ext cx="2731618" cy="219627"/>
            <a:chOff x="0" y="0"/>
            <a:chExt cx="3642157" cy="29283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 Reports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454338" y="5549789"/>
            <a:ext cx="2970314" cy="403412"/>
            <a:chOff x="0" y="0"/>
            <a:chExt cx="3960419" cy="53788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0891B2">
                <a:alpha val="2353"/>
              </a:srgbClr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12573676" y="5634819"/>
            <a:ext cx="2731618" cy="219627"/>
            <a:chOff x="0" y="0"/>
            <a:chExt cx="3642157" cy="292837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 dirty="0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 Claims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9159916" y="6208671"/>
            <a:ext cx="2970314" cy="403412"/>
            <a:chOff x="0" y="0"/>
            <a:chExt cx="3960419" cy="53788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9279265" y="6293701"/>
            <a:ext cx="2731618" cy="219627"/>
            <a:chOff x="0" y="0"/>
            <a:chExt cx="3642157" cy="292837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Status Timeline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454338" y="6208671"/>
            <a:ext cx="2970314" cy="403412"/>
            <a:chOff x="0" y="0"/>
            <a:chExt cx="3960419" cy="537883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2573676" y="6293701"/>
            <a:ext cx="2731618" cy="219627"/>
            <a:chOff x="0" y="0"/>
            <a:chExt cx="3642157" cy="29283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Toast Notifications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159916" y="6867554"/>
            <a:ext cx="2970314" cy="403412"/>
            <a:chOff x="0" y="0"/>
            <a:chExt cx="3960419" cy="537883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960495" cy="537845"/>
            </a:xfrm>
            <a:custGeom>
              <a:avLst/>
              <a:gdLst/>
              <a:ahLst/>
              <a:cxnLst/>
              <a:rect l="l" t="t" r="r" b="b"/>
              <a:pathLst>
                <a:path w="396049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826002" y="0"/>
                  </a:lnTo>
                  <a:cubicBezTo>
                    <a:pt x="3900297" y="0"/>
                    <a:pt x="3960495" y="60198"/>
                    <a:pt x="3960495" y="134493"/>
                  </a:cubicBezTo>
                  <a:lnTo>
                    <a:pt x="3960495" y="403352"/>
                  </a:lnTo>
                  <a:cubicBezTo>
                    <a:pt x="3960495" y="477647"/>
                    <a:pt x="3900297" y="537845"/>
                    <a:pt x="382600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9279265" y="6952583"/>
            <a:ext cx="2731618" cy="219627"/>
            <a:chOff x="0" y="0"/>
            <a:chExt cx="3642157" cy="292837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642158" cy="292837"/>
            </a:xfrm>
            <a:custGeom>
              <a:avLst/>
              <a:gdLst/>
              <a:ahLst/>
              <a:cxnLst/>
              <a:rect l="l" t="t" r="r" b="b"/>
              <a:pathLst>
                <a:path w="3642158" h="292837">
                  <a:moveTo>
                    <a:pt x="0" y="0"/>
                  </a:moveTo>
                  <a:lnTo>
                    <a:pt x="3642158" y="0"/>
                  </a:lnTo>
                  <a:lnTo>
                    <a:pt x="364215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345" b="-192345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0"/>
              <a:ext cx="364215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1110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Image Preview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304039" y="8922372"/>
            <a:ext cx="15785735" cy="411804"/>
            <a:chOff x="0" y="0"/>
            <a:chExt cx="21047646" cy="549072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1047644" cy="549069"/>
            </a:xfrm>
            <a:custGeom>
              <a:avLst/>
              <a:gdLst/>
              <a:ahLst/>
              <a:cxnLst/>
              <a:rect l="l" t="t" r="r" b="b"/>
              <a:pathLst>
                <a:path w="21047644" h="549069">
                  <a:moveTo>
                    <a:pt x="0" y="0"/>
                  </a:moveTo>
                  <a:lnTo>
                    <a:pt x="21047644" y="0"/>
                  </a:lnTo>
                  <a:lnTo>
                    <a:pt x="2104764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26" b="-69692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21047646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 dirty="0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Value: faster recovery, stronger verification, searchable AI labels, and clear lifecycle tracking.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 cases and roles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app separates regular users and administrators with Cognito groups.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9145" y="1886664"/>
            <a:ext cx="15869622" cy="6809984"/>
            <a:chOff x="0" y="0"/>
            <a:chExt cx="21159495" cy="90799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159471" cy="9079865"/>
            </a:xfrm>
            <a:custGeom>
              <a:avLst/>
              <a:gdLst/>
              <a:ahLst/>
              <a:cxnLst/>
              <a:rect l="l" t="t" r="r" b="b"/>
              <a:pathLst>
                <a:path w="21159471" h="9079865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21012786" y="0"/>
                  </a:lnTo>
                  <a:cubicBezTo>
                    <a:pt x="21093812" y="0"/>
                    <a:pt x="21159471" y="65659"/>
                    <a:pt x="21159471" y="146685"/>
                  </a:cubicBezTo>
                  <a:lnTo>
                    <a:pt x="21159471" y="8933180"/>
                  </a:lnTo>
                  <a:cubicBezTo>
                    <a:pt x="21159471" y="9014206"/>
                    <a:pt x="21093812" y="9079865"/>
                    <a:pt x="21012786" y="9079865"/>
                  </a:cubicBezTo>
                  <a:lnTo>
                    <a:pt x="146685" y="9079865"/>
                  </a:lnTo>
                  <a:cubicBezTo>
                    <a:pt x="65659" y="9079992"/>
                    <a:pt x="0" y="9014333"/>
                    <a:pt x="0" y="893318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57240" y="1884759"/>
            <a:ext cx="15873432" cy="774030"/>
            <a:chOff x="0" y="0"/>
            <a:chExt cx="21164575" cy="1032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64550" cy="1032002"/>
            </a:xfrm>
            <a:custGeom>
              <a:avLst/>
              <a:gdLst/>
              <a:ahLst/>
              <a:cxnLst/>
              <a:rect l="l" t="t" r="r" b="b"/>
              <a:pathLst>
                <a:path w="21164550" h="1032002">
                  <a:moveTo>
                    <a:pt x="0" y="0"/>
                  </a:moveTo>
                  <a:lnTo>
                    <a:pt x="21164550" y="0"/>
                  </a:lnTo>
                  <a:lnTo>
                    <a:pt x="21164550" y="1032002"/>
                  </a:lnTo>
                  <a:lnTo>
                    <a:pt x="0" y="1032002"/>
                  </a:ln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441304" y="2127647"/>
            <a:ext cx="1921745" cy="274539"/>
            <a:chOff x="0" y="0"/>
            <a:chExt cx="2562327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2322" cy="366046"/>
            </a:xfrm>
            <a:custGeom>
              <a:avLst/>
              <a:gdLst/>
              <a:ahLst/>
              <a:cxnLst/>
              <a:rect l="l" t="t" r="r" b="b"/>
              <a:pathLst>
                <a:path w="2562322" h="366046">
                  <a:moveTo>
                    <a:pt x="0" y="0"/>
                  </a:moveTo>
                  <a:lnTo>
                    <a:pt x="2562322" y="0"/>
                  </a:lnTo>
                  <a:lnTo>
                    <a:pt x="2562322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4" b="-8639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562327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Actor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37578" y="2127647"/>
            <a:ext cx="10157774" cy="274539"/>
            <a:chOff x="0" y="0"/>
            <a:chExt cx="13543699" cy="3660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43700" cy="366046"/>
            </a:xfrm>
            <a:custGeom>
              <a:avLst/>
              <a:gdLst/>
              <a:ahLst/>
              <a:cxnLst/>
              <a:rect l="l" t="t" r="r" b="b"/>
              <a:pathLst>
                <a:path w="13543700" h="366046">
                  <a:moveTo>
                    <a:pt x="0" y="0"/>
                  </a:moveTo>
                  <a:lnTo>
                    <a:pt x="13543700" y="0"/>
                  </a:lnTo>
                  <a:lnTo>
                    <a:pt x="1354370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945" b="-67094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3543699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/ use case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1304" y="2855157"/>
            <a:ext cx="1715843" cy="274539"/>
            <a:chOff x="0" y="0"/>
            <a:chExt cx="2287791" cy="3660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37578" y="2855157"/>
            <a:ext cx="11530451" cy="274539"/>
            <a:chOff x="0" y="0"/>
            <a:chExt cx="15373934" cy="3660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Register and confirm account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5877" y="3408426"/>
            <a:ext cx="15736167" cy="609314"/>
            <a:chOff x="0" y="0"/>
            <a:chExt cx="20981556" cy="8124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441304" y="3527765"/>
            <a:ext cx="1715843" cy="274539"/>
            <a:chOff x="0" y="0"/>
            <a:chExt cx="2287791" cy="36605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637578" y="3527765"/>
            <a:ext cx="11530451" cy="274539"/>
            <a:chOff x="0" y="0"/>
            <a:chExt cx="15373934" cy="3660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Login and report lost or found item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41304" y="4200382"/>
            <a:ext cx="1715843" cy="274539"/>
            <a:chOff x="0" y="0"/>
            <a:chExt cx="2287791" cy="3660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37578" y="4200382"/>
            <a:ext cx="11530451" cy="274539"/>
            <a:chOff x="0" y="0"/>
            <a:chExt cx="15373934" cy="3660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Upload image and preview before submit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5877" y="4753642"/>
            <a:ext cx="15736167" cy="609314"/>
            <a:chOff x="0" y="0"/>
            <a:chExt cx="20981556" cy="8124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441304" y="4872990"/>
            <a:ext cx="1715843" cy="274539"/>
            <a:chOff x="0" y="0"/>
            <a:chExt cx="2287791" cy="3660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637578" y="4872990"/>
            <a:ext cx="11530451" cy="274539"/>
            <a:chOff x="0" y="0"/>
            <a:chExt cx="15373934" cy="3660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Analyze image and save AI labels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41304" y="5545598"/>
            <a:ext cx="1715843" cy="274539"/>
            <a:chOff x="0" y="0"/>
            <a:chExt cx="2287791" cy="36605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637578" y="5545598"/>
            <a:ext cx="11530451" cy="274539"/>
            <a:chOff x="0" y="0"/>
            <a:chExt cx="15373934" cy="3660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Claim an item with contact and reason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5877" y="6098858"/>
            <a:ext cx="15736167" cy="609314"/>
            <a:chOff x="0" y="0"/>
            <a:chExt cx="20981556" cy="81241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441304" y="6218206"/>
            <a:ext cx="1715843" cy="274539"/>
            <a:chOff x="0" y="0"/>
            <a:chExt cx="2287791" cy="3660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637578" y="6218206"/>
            <a:ext cx="11530451" cy="274539"/>
            <a:chOff x="0" y="0"/>
            <a:chExt cx="15373934" cy="3660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Review claimed items in Admin Queue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41304" y="6890814"/>
            <a:ext cx="1715843" cy="274539"/>
            <a:chOff x="0" y="0"/>
            <a:chExt cx="2287791" cy="3660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37578" y="6890814"/>
            <a:ext cx="11530451" cy="274539"/>
            <a:chOff x="0" y="0"/>
            <a:chExt cx="15373934" cy="3660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Mark item as returned or delete invalid reports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25877" y="7444083"/>
            <a:ext cx="15736167" cy="609314"/>
            <a:chOff x="0" y="0"/>
            <a:chExt cx="20981556" cy="81241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981543" cy="812419"/>
            </a:xfrm>
            <a:custGeom>
              <a:avLst/>
              <a:gdLst/>
              <a:ahLst/>
              <a:cxnLst/>
              <a:rect l="l" t="t" r="r" b="b"/>
              <a:pathLst>
                <a:path w="20981543" h="812419">
                  <a:moveTo>
                    <a:pt x="0" y="0"/>
                  </a:moveTo>
                  <a:lnTo>
                    <a:pt x="20981543" y="0"/>
                  </a:lnTo>
                  <a:lnTo>
                    <a:pt x="20981543" y="812419"/>
                  </a:lnTo>
                  <a:lnTo>
                    <a:pt x="0" y="812419"/>
                  </a:lnTo>
                  <a:close/>
                </a:path>
              </a:pathLst>
            </a:custGeom>
            <a:solidFill>
              <a:srgbClr val="F8FAFC"/>
            </a:solidFill>
            <a:ln w="19065" cap="sq">
              <a:solidFill>
                <a:srgbClr val="F8FAFC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441304" y="7563421"/>
            <a:ext cx="1715843" cy="274539"/>
            <a:chOff x="0" y="0"/>
            <a:chExt cx="2287791" cy="36605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2287791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637578" y="7563421"/>
            <a:ext cx="11530451" cy="274539"/>
            <a:chOff x="0" y="0"/>
            <a:chExt cx="15373934" cy="3660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373931" cy="366046"/>
            </a:xfrm>
            <a:custGeom>
              <a:avLst/>
              <a:gdLst/>
              <a:ahLst/>
              <a:cxnLst/>
              <a:rect l="l" t="t" r="r" b="b"/>
              <a:pathLst>
                <a:path w="15373931" h="366046">
                  <a:moveTo>
                    <a:pt x="0" y="0"/>
                  </a:moveTo>
                  <a:lnTo>
                    <a:pt x="15373931" y="0"/>
                  </a:lnTo>
                  <a:lnTo>
                    <a:pt x="15373931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8370" b="-76837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15373934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Send notifications and scheduled summaries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Serverless backend with secure authentication, storage, AI labeling, notifications, automation, and monitoring.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35996" y="3759594"/>
            <a:ext cx="1609077" cy="30509"/>
            <a:chOff x="0" y="0"/>
            <a:chExt cx="2145436" cy="40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5411" cy="40640"/>
            </a:xfrm>
            <a:custGeom>
              <a:avLst/>
              <a:gdLst/>
              <a:ahLst/>
              <a:cxnLst/>
              <a:rect l="l" t="t" r="r" b="b"/>
              <a:pathLst>
                <a:path w="2145411" h="40640">
                  <a:moveTo>
                    <a:pt x="0" y="0"/>
                  </a:moveTo>
                  <a:lnTo>
                    <a:pt x="2145411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978592" r="-1" b="-97868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3142" y="3759594"/>
            <a:ext cx="1677714" cy="30509"/>
            <a:chOff x="0" y="0"/>
            <a:chExt cx="2236953" cy="406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36978" cy="40640"/>
            </a:xfrm>
            <a:custGeom>
              <a:avLst/>
              <a:gdLst/>
              <a:ahLst/>
              <a:cxnLst/>
              <a:rect l="l" t="t" r="r" b="b"/>
              <a:pathLst>
                <a:path w="2236978" h="40640">
                  <a:moveTo>
                    <a:pt x="0" y="0"/>
                  </a:moveTo>
                  <a:lnTo>
                    <a:pt x="2236978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022470" r="1" b="-1022564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318917" y="3759594"/>
            <a:ext cx="1677714" cy="30509"/>
            <a:chOff x="0" y="0"/>
            <a:chExt cx="2236953" cy="406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6978" cy="40640"/>
            </a:xfrm>
            <a:custGeom>
              <a:avLst/>
              <a:gdLst/>
              <a:ahLst/>
              <a:cxnLst/>
              <a:rect l="l" t="t" r="r" b="b"/>
              <a:pathLst>
                <a:path w="2236978" h="40640">
                  <a:moveTo>
                    <a:pt x="0" y="0"/>
                  </a:moveTo>
                  <a:lnTo>
                    <a:pt x="2236978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022470" r="1" b="-1022564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3505574" y="3759594"/>
            <a:ext cx="305038" cy="140322"/>
            <a:chOff x="0" y="0"/>
            <a:chExt cx="406718" cy="187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781" cy="187071"/>
            </a:xfrm>
            <a:custGeom>
              <a:avLst/>
              <a:gdLst/>
              <a:ahLst/>
              <a:cxnLst/>
              <a:rect l="l" t="t" r="r" b="b"/>
              <a:pathLst>
                <a:path w="406781" h="187071">
                  <a:moveTo>
                    <a:pt x="0" y="0"/>
                  </a:moveTo>
                  <a:lnTo>
                    <a:pt x="406781" y="18707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9020" r="-9004" b="-13"/>
              </a:stretch>
            </a:blipFill>
            <a:ln w="30504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3505574" y="4171398"/>
            <a:ext cx="305038" cy="963920"/>
            <a:chOff x="0" y="0"/>
            <a:chExt cx="406718" cy="12852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6781" cy="1285240"/>
            </a:xfrm>
            <a:custGeom>
              <a:avLst/>
              <a:gdLst/>
              <a:ahLst/>
              <a:cxnLst/>
              <a:rect l="l" t="t" r="r" b="b"/>
              <a:pathLst>
                <a:path w="406781" h="1285240">
                  <a:moveTo>
                    <a:pt x="0" y="0"/>
                  </a:moveTo>
                  <a:lnTo>
                    <a:pt x="406781" y="12852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55383" r="-355368"/>
              </a:stretch>
            </a:blipFill>
            <a:ln w="30504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flipH="1">
            <a:off x="8594456" y="4433735"/>
            <a:ext cx="45719" cy="1758543"/>
            <a:chOff x="0" y="0"/>
            <a:chExt cx="40678" cy="21454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" cy="2145411"/>
            </a:xfrm>
            <a:custGeom>
              <a:avLst/>
              <a:gdLst/>
              <a:ahLst/>
              <a:cxnLst/>
              <a:rect l="l" t="t" r="r" b="b"/>
              <a:pathLst>
                <a:path w="40640" h="2145411">
                  <a:moveTo>
                    <a:pt x="0" y="0"/>
                  </a:moveTo>
                  <a:lnTo>
                    <a:pt x="40640" y="214541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723258" r="-6723352" b="-1"/>
              </a:stretch>
            </a:blipFill>
            <a:ln w="30504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5000305" y="5600499"/>
            <a:ext cx="45719" cy="1621280"/>
            <a:chOff x="0" y="0"/>
            <a:chExt cx="40678" cy="17793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640" cy="1779397"/>
            </a:xfrm>
            <a:custGeom>
              <a:avLst/>
              <a:gdLst/>
              <a:ahLst/>
              <a:cxnLst/>
              <a:rect l="l" t="t" r="r" b="b"/>
              <a:pathLst>
                <a:path w="40640" h="1779397">
                  <a:moveTo>
                    <a:pt x="0" y="0"/>
                  </a:moveTo>
                  <a:lnTo>
                    <a:pt x="40640" y="1779397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567604" r="-5567698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475437" y="6710839"/>
            <a:ext cx="3324920" cy="30509"/>
            <a:chOff x="0" y="0"/>
            <a:chExt cx="4433227" cy="406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433189" cy="40640"/>
            </a:xfrm>
            <a:custGeom>
              <a:avLst/>
              <a:gdLst/>
              <a:ahLst/>
              <a:cxnLst/>
              <a:rect l="l" t="t" r="r" b="b"/>
              <a:pathLst>
                <a:path w="4433189" h="40640">
                  <a:moveTo>
                    <a:pt x="0" y="0"/>
                  </a:moveTo>
                  <a:lnTo>
                    <a:pt x="4433189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075484" b="-2075578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21880" y="3080890"/>
            <a:ext cx="2623328" cy="1387926"/>
            <a:chOff x="0" y="0"/>
            <a:chExt cx="3497771" cy="18505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97834" cy="1850644"/>
            </a:xfrm>
            <a:custGeom>
              <a:avLst/>
              <a:gdLst/>
              <a:ahLst/>
              <a:cxnLst/>
              <a:rect l="l" t="t" r="r" b="b"/>
              <a:pathLst>
                <a:path w="3497834" h="185064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349752" y="0"/>
                  </a:lnTo>
                  <a:cubicBezTo>
                    <a:pt x="3431540" y="0"/>
                    <a:pt x="3497834" y="66294"/>
                    <a:pt x="3497834" y="148082"/>
                  </a:cubicBezTo>
                  <a:lnTo>
                    <a:pt x="3497834" y="1702562"/>
                  </a:lnTo>
                  <a:cubicBezTo>
                    <a:pt x="3497834" y="1784350"/>
                    <a:pt x="3431540" y="1850644"/>
                    <a:pt x="3349752" y="1850644"/>
                  </a:cubicBezTo>
                  <a:lnTo>
                    <a:pt x="148082" y="1850644"/>
                  </a:lnTo>
                  <a:cubicBezTo>
                    <a:pt x="66294" y="1850517"/>
                    <a:pt x="0" y="1784223"/>
                    <a:pt x="0" y="17025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66774" y="3335598"/>
            <a:ext cx="2333539" cy="1098137"/>
            <a:chOff x="0" y="0"/>
            <a:chExt cx="3111386" cy="14641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11391" cy="1464184"/>
            </a:xfrm>
            <a:custGeom>
              <a:avLst/>
              <a:gdLst/>
              <a:ahLst/>
              <a:cxnLst/>
              <a:rect l="l" t="t" r="r" b="b"/>
              <a:pathLst>
                <a:path w="3111391" h="1464184">
                  <a:moveTo>
                    <a:pt x="0" y="0"/>
                  </a:moveTo>
                  <a:lnTo>
                    <a:pt x="3111391" y="0"/>
                  </a:lnTo>
                  <a:lnTo>
                    <a:pt x="3111391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111386" cy="1464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Regular / Admin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16292" y="3080890"/>
            <a:ext cx="2554700" cy="1387926"/>
            <a:chOff x="0" y="0"/>
            <a:chExt cx="3406267" cy="18505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06394" cy="1850644"/>
            </a:xfrm>
            <a:custGeom>
              <a:avLst/>
              <a:gdLst/>
              <a:ahLst/>
              <a:cxnLst/>
              <a:rect l="l" t="t" r="r" b="b"/>
              <a:pathLst>
                <a:path w="3406394" h="185064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258312" y="0"/>
                  </a:lnTo>
                  <a:cubicBezTo>
                    <a:pt x="3340100" y="0"/>
                    <a:pt x="3406394" y="66294"/>
                    <a:pt x="3406394" y="148082"/>
                  </a:cubicBezTo>
                  <a:lnTo>
                    <a:pt x="3406394" y="1702562"/>
                  </a:lnTo>
                  <a:cubicBezTo>
                    <a:pt x="3406394" y="1784350"/>
                    <a:pt x="3340100" y="1850644"/>
                    <a:pt x="3258312" y="1850644"/>
                  </a:cubicBezTo>
                  <a:lnTo>
                    <a:pt x="148082" y="1850644"/>
                  </a:lnTo>
                  <a:cubicBezTo>
                    <a:pt x="66294" y="1850517"/>
                    <a:pt x="0" y="1784223"/>
                    <a:pt x="0" y="17025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461186" y="3335598"/>
            <a:ext cx="2264912" cy="1098137"/>
            <a:chOff x="0" y="0"/>
            <a:chExt cx="3019882" cy="146418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19879" cy="1464184"/>
            </a:xfrm>
            <a:custGeom>
              <a:avLst/>
              <a:gdLst/>
              <a:ahLst/>
              <a:cxnLst/>
              <a:rect l="l" t="t" r="r" b="b"/>
              <a:pathLst>
                <a:path w="3019879" h="1464184">
                  <a:moveTo>
                    <a:pt x="0" y="0"/>
                  </a:moveTo>
                  <a:lnTo>
                    <a:pt x="3019879" y="0"/>
                  </a:lnTo>
                  <a:lnTo>
                    <a:pt x="301987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07" r="-1220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019882" cy="1464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Frontend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HTML/CSS/JS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10704" y="3080890"/>
            <a:ext cx="2623328" cy="1387926"/>
            <a:chOff x="0" y="0"/>
            <a:chExt cx="3497771" cy="18505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97834" cy="1850644"/>
            </a:xfrm>
            <a:custGeom>
              <a:avLst/>
              <a:gdLst/>
              <a:ahLst/>
              <a:cxnLst/>
              <a:rect l="l" t="t" r="r" b="b"/>
              <a:pathLst>
                <a:path w="3497834" h="185064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349752" y="0"/>
                  </a:lnTo>
                  <a:cubicBezTo>
                    <a:pt x="3431540" y="0"/>
                    <a:pt x="3497834" y="66294"/>
                    <a:pt x="3497834" y="148082"/>
                  </a:cubicBezTo>
                  <a:lnTo>
                    <a:pt x="3497834" y="1702562"/>
                  </a:lnTo>
                  <a:cubicBezTo>
                    <a:pt x="3497834" y="1784350"/>
                    <a:pt x="3431540" y="1850644"/>
                    <a:pt x="3349752" y="1850644"/>
                  </a:cubicBezTo>
                  <a:lnTo>
                    <a:pt x="148082" y="1850644"/>
                  </a:lnTo>
                  <a:cubicBezTo>
                    <a:pt x="66294" y="1850517"/>
                    <a:pt x="0" y="1784223"/>
                    <a:pt x="0" y="17025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7755598" y="3335598"/>
            <a:ext cx="2333539" cy="1098137"/>
            <a:chOff x="0" y="0"/>
            <a:chExt cx="3111386" cy="14641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11391" cy="1464184"/>
            </a:xfrm>
            <a:custGeom>
              <a:avLst/>
              <a:gdLst/>
              <a:ahLst/>
              <a:cxnLst/>
              <a:rect l="l" t="t" r="r" b="b"/>
              <a:pathLst>
                <a:path w="3111391" h="1464184">
                  <a:moveTo>
                    <a:pt x="0" y="0"/>
                  </a:moveTo>
                  <a:lnTo>
                    <a:pt x="3111391" y="0"/>
                  </a:lnTo>
                  <a:lnTo>
                    <a:pt x="3111391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111386" cy="1464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Gateway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JWT Authorizer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05115" y="3080890"/>
            <a:ext cx="2623328" cy="1387926"/>
            <a:chOff x="0" y="0"/>
            <a:chExt cx="3497771" cy="18505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97834" cy="1850644"/>
            </a:xfrm>
            <a:custGeom>
              <a:avLst/>
              <a:gdLst/>
              <a:ahLst/>
              <a:cxnLst/>
              <a:rect l="l" t="t" r="r" b="b"/>
              <a:pathLst>
                <a:path w="3497834" h="185064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349752" y="0"/>
                  </a:lnTo>
                  <a:cubicBezTo>
                    <a:pt x="3431540" y="0"/>
                    <a:pt x="3497834" y="66294"/>
                    <a:pt x="3497834" y="148082"/>
                  </a:cubicBezTo>
                  <a:lnTo>
                    <a:pt x="3497834" y="1702562"/>
                  </a:lnTo>
                  <a:cubicBezTo>
                    <a:pt x="3497834" y="1784350"/>
                    <a:pt x="3431540" y="1850644"/>
                    <a:pt x="3349752" y="1850644"/>
                  </a:cubicBezTo>
                  <a:lnTo>
                    <a:pt x="148082" y="1850644"/>
                  </a:lnTo>
                  <a:cubicBezTo>
                    <a:pt x="66294" y="1850517"/>
                    <a:pt x="0" y="1784223"/>
                    <a:pt x="0" y="17025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1050010" y="3335598"/>
            <a:ext cx="2333539" cy="1098137"/>
            <a:chOff x="0" y="0"/>
            <a:chExt cx="3111386" cy="146418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111391" cy="1464184"/>
            </a:xfrm>
            <a:custGeom>
              <a:avLst/>
              <a:gdLst/>
              <a:ahLst/>
              <a:cxnLst/>
              <a:rect l="l" t="t" r="r" b="b"/>
              <a:pathLst>
                <a:path w="3111391" h="1464184">
                  <a:moveTo>
                    <a:pt x="0" y="0"/>
                  </a:moveTo>
                  <a:lnTo>
                    <a:pt x="3111391" y="0"/>
                  </a:lnTo>
                  <a:lnTo>
                    <a:pt x="3111391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r="-1037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3111386" cy="1464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Lambda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logic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198900" y="1845478"/>
            <a:ext cx="3103769" cy="907485"/>
            <a:chOff x="0" y="0"/>
            <a:chExt cx="4138358" cy="12099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138422" cy="1210056"/>
            </a:xfrm>
            <a:custGeom>
              <a:avLst/>
              <a:gdLst/>
              <a:ahLst/>
              <a:cxnLst/>
              <a:rect l="l" t="t" r="r" b="b"/>
              <a:pathLst>
                <a:path w="4138422" h="1210056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3989451" y="0"/>
                  </a:lnTo>
                  <a:cubicBezTo>
                    <a:pt x="4071747" y="0"/>
                    <a:pt x="4138422" y="66675"/>
                    <a:pt x="4138422" y="148971"/>
                  </a:cubicBezTo>
                  <a:lnTo>
                    <a:pt x="4138422" y="1061085"/>
                  </a:lnTo>
                  <a:cubicBezTo>
                    <a:pt x="4138422" y="1143381"/>
                    <a:pt x="4071747" y="1210056"/>
                    <a:pt x="3989451" y="1210056"/>
                  </a:cubicBezTo>
                  <a:lnTo>
                    <a:pt x="148971" y="1210056"/>
                  </a:lnTo>
                  <a:cubicBezTo>
                    <a:pt x="66675" y="1209929"/>
                    <a:pt x="0" y="1143254"/>
                    <a:pt x="0" y="106108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343794" y="2100186"/>
            <a:ext cx="2813980" cy="617706"/>
            <a:chOff x="0" y="0"/>
            <a:chExt cx="3751974" cy="8236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751971" cy="823603"/>
            </a:xfrm>
            <a:custGeom>
              <a:avLst/>
              <a:gdLst/>
              <a:ahLst/>
              <a:cxnLst/>
              <a:rect l="l" t="t" r="r" b="b"/>
              <a:pathLst>
                <a:path w="3751971" h="823603">
                  <a:moveTo>
                    <a:pt x="0" y="0"/>
                  </a:moveTo>
                  <a:lnTo>
                    <a:pt x="3751971" y="0"/>
                  </a:lnTo>
                  <a:lnTo>
                    <a:pt x="375197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4" b="-3876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3751974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Cognito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User/Admin Groups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787733" y="2120017"/>
            <a:ext cx="3103769" cy="1044759"/>
            <a:chOff x="0" y="0"/>
            <a:chExt cx="4138358" cy="139301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138295" cy="1393063"/>
            </a:xfrm>
            <a:custGeom>
              <a:avLst/>
              <a:gdLst/>
              <a:ahLst/>
              <a:cxnLst/>
              <a:rect l="l" t="t" r="r" b="b"/>
              <a:pathLst>
                <a:path w="4138295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3989705" y="0"/>
                  </a:lnTo>
                  <a:cubicBezTo>
                    <a:pt x="4071747" y="0"/>
                    <a:pt x="4138295" y="66548"/>
                    <a:pt x="4138295" y="148590"/>
                  </a:cubicBezTo>
                  <a:lnTo>
                    <a:pt x="4138295" y="1244473"/>
                  </a:lnTo>
                  <a:cubicBezTo>
                    <a:pt x="4138295" y="1326515"/>
                    <a:pt x="4071747" y="1393063"/>
                    <a:pt x="3989705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3932627" y="2374725"/>
            <a:ext cx="2813980" cy="754971"/>
            <a:chOff x="0" y="0"/>
            <a:chExt cx="3751974" cy="100662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51971" cy="1006626"/>
            </a:xfrm>
            <a:custGeom>
              <a:avLst/>
              <a:gdLst/>
              <a:ahLst/>
              <a:cxnLst/>
              <a:rect l="l" t="t" r="r" b="b"/>
              <a:pathLst>
                <a:path w="3751971" h="1006626">
                  <a:moveTo>
                    <a:pt x="0" y="0"/>
                  </a:moveTo>
                  <a:lnTo>
                    <a:pt x="3751971" y="0"/>
                  </a:lnTo>
                  <a:lnTo>
                    <a:pt x="3751971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751974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DynamoDB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LostFoundItems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787733" y="3355419"/>
            <a:ext cx="3103769" cy="1044759"/>
            <a:chOff x="0" y="0"/>
            <a:chExt cx="4138358" cy="13930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138295" cy="1393063"/>
            </a:xfrm>
            <a:custGeom>
              <a:avLst/>
              <a:gdLst/>
              <a:ahLst/>
              <a:cxnLst/>
              <a:rect l="l" t="t" r="r" b="b"/>
              <a:pathLst>
                <a:path w="4138295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3989705" y="0"/>
                  </a:lnTo>
                  <a:cubicBezTo>
                    <a:pt x="4071747" y="0"/>
                    <a:pt x="4138295" y="66548"/>
                    <a:pt x="4138295" y="148590"/>
                  </a:cubicBezTo>
                  <a:lnTo>
                    <a:pt x="4138295" y="1244473"/>
                  </a:lnTo>
                  <a:cubicBezTo>
                    <a:pt x="4138295" y="1326515"/>
                    <a:pt x="4071747" y="1393063"/>
                    <a:pt x="3989705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3932627" y="3610127"/>
            <a:ext cx="2813980" cy="754971"/>
            <a:chOff x="0" y="0"/>
            <a:chExt cx="3751974" cy="100662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751971" cy="1006626"/>
            </a:xfrm>
            <a:custGeom>
              <a:avLst/>
              <a:gdLst/>
              <a:ahLst/>
              <a:cxnLst/>
              <a:rect l="l" t="t" r="r" b="b"/>
              <a:pathLst>
                <a:path w="3751971" h="1006626">
                  <a:moveTo>
                    <a:pt x="0" y="0"/>
                  </a:moveTo>
                  <a:lnTo>
                    <a:pt x="3751971" y="0"/>
                  </a:lnTo>
                  <a:lnTo>
                    <a:pt x="3751971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3751974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S3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Private images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787733" y="4590831"/>
            <a:ext cx="3103769" cy="1044759"/>
            <a:chOff x="0" y="0"/>
            <a:chExt cx="4138358" cy="13930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138295" cy="1393063"/>
            </a:xfrm>
            <a:custGeom>
              <a:avLst/>
              <a:gdLst/>
              <a:ahLst/>
              <a:cxnLst/>
              <a:rect l="l" t="t" r="r" b="b"/>
              <a:pathLst>
                <a:path w="4138295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3989705" y="0"/>
                  </a:lnTo>
                  <a:cubicBezTo>
                    <a:pt x="4071747" y="0"/>
                    <a:pt x="4138295" y="66548"/>
                    <a:pt x="4138295" y="148590"/>
                  </a:cubicBezTo>
                  <a:lnTo>
                    <a:pt x="4138295" y="1244473"/>
                  </a:lnTo>
                  <a:cubicBezTo>
                    <a:pt x="4138295" y="1326515"/>
                    <a:pt x="4071747" y="1393063"/>
                    <a:pt x="3989705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3932627" y="4845529"/>
            <a:ext cx="2813980" cy="754971"/>
            <a:chOff x="0" y="0"/>
            <a:chExt cx="3751974" cy="100662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751971" cy="1006626"/>
            </a:xfrm>
            <a:custGeom>
              <a:avLst/>
              <a:gdLst/>
              <a:ahLst/>
              <a:cxnLst/>
              <a:rect l="l" t="t" r="r" b="b"/>
              <a:pathLst>
                <a:path w="3751971" h="1006626">
                  <a:moveTo>
                    <a:pt x="0" y="0"/>
                  </a:moveTo>
                  <a:lnTo>
                    <a:pt x="3751971" y="0"/>
                  </a:lnTo>
                  <a:lnTo>
                    <a:pt x="3751971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3751974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Rekognition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DetectLabels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061635" y="6238037"/>
            <a:ext cx="3035132" cy="1044759"/>
            <a:chOff x="0" y="0"/>
            <a:chExt cx="4046842" cy="13930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46855" cy="1393063"/>
            </a:xfrm>
            <a:custGeom>
              <a:avLst/>
              <a:gdLst/>
              <a:ahLst/>
              <a:cxnLst/>
              <a:rect l="l" t="t" r="r" b="b"/>
              <a:pathLst>
                <a:path w="4046855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3898265" y="0"/>
                  </a:lnTo>
                  <a:cubicBezTo>
                    <a:pt x="3980307" y="0"/>
                    <a:pt x="4046855" y="66548"/>
                    <a:pt x="4046855" y="148590"/>
                  </a:cubicBezTo>
                  <a:lnTo>
                    <a:pt x="4046855" y="1244473"/>
                  </a:lnTo>
                  <a:cubicBezTo>
                    <a:pt x="4046855" y="1326515"/>
                    <a:pt x="3980307" y="1393063"/>
                    <a:pt x="3898265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7206529" y="6492745"/>
            <a:ext cx="2745343" cy="754971"/>
            <a:chOff x="0" y="0"/>
            <a:chExt cx="3660458" cy="100662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660460" cy="1006626"/>
            </a:xfrm>
            <a:custGeom>
              <a:avLst/>
              <a:gdLst/>
              <a:ahLst/>
              <a:cxnLst/>
              <a:rect l="l" t="t" r="r" b="b"/>
              <a:pathLst>
                <a:path w="3660460" h="1006626">
                  <a:moveTo>
                    <a:pt x="0" y="0"/>
                  </a:moveTo>
                  <a:lnTo>
                    <a:pt x="3660460" y="0"/>
                  </a:lnTo>
                  <a:lnTo>
                    <a:pt x="366046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366045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SNS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Email notifications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629958" y="6238037"/>
            <a:ext cx="2897867" cy="1044759"/>
            <a:chOff x="0" y="0"/>
            <a:chExt cx="3863823" cy="139301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863848" cy="1393063"/>
            </a:xfrm>
            <a:custGeom>
              <a:avLst/>
              <a:gdLst/>
              <a:ahLst/>
              <a:cxnLst/>
              <a:rect l="l" t="t" r="r" b="b"/>
              <a:pathLst>
                <a:path w="3863848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3715258" y="0"/>
                  </a:lnTo>
                  <a:cubicBezTo>
                    <a:pt x="3797300" y="0"/>
                    <a:pt x="3863848" y="66548"/>
                    <a:pt x="3863848" y="148590"/>
                  </a:cubicBezTo>
                  <a:lnTo>
                    <a:pt x="3863848" y="1244473"/>
                  </a:lnTo>
                  <a:cubicBezTo>
                    <a:pt x="3863848" y="1326515"/>
                    <a:pt x="3797300" y="1393063"/>
                    <a:pt x="3715258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3774853" y="6492745"/>
            <a:ext cx="2608078" cy="754971"/>
            <a:chOff x="0" y="0"/>
            <a:chExt cx="3477438" cy="100662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477437" cy="1006626"/>
            </a:xfrm>
            <a:custGeom>
              <a:avLst/>
              <a:gdLst/>
              <a:ahLst/>
              <a:cxnLst/>
              <a:rect l="l" t="t" r="r" b="b"/>
              <a:pathLst>
                <a:path w="3477437" h="1006626">
                  <a:moveTo>
                    <a:pt x="0" y="0"/>
                  </a:moveTo>
                  <a:lnTo>
                    <a:pt x="3477437" y="0"/>
                  </a:lnTo>
                  <a:lnTo>
                    <a:pt x="347743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11" b="-1731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477438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EventBridge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summary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375929" y="7198900"/>
            <a:ext cx="3309661" cy="1044759"/>
            <a:chOff x="0" y="0"/>
            <a:chExt cx="4412882" cy="139301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412869" cy="1393063"/>
            </a:xfrm>
            <a:custGeom>
              <a:avLst/>
              <a:gdLst/>
              <a:ahLst/>
              <a:cxnLst/>
              <a:rect l="l" t="t" r="r" b="b"/>
              <a:pathLst>
                <a:path w="441286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264279" y="0"/>
                  </a:lnTo>
                  <a:cubicBezTo>
                    <a:pt x="4346321" y="0"/>
                    <a:pt x="4412869" y="66548"/>
                    <a:pt x="4412869" y="148590"/>
                  </a:cubicBezTo>
                  <a:lnTo>
                    <a:pt x="4412869" y="1244473"/>
                  </a:lnTo>
                  <a:cubicBezTo>
                    <a:pt x="4412869" y="1326515"/>
                    <a:pt x="4346321" y="1393063"/>
                    <a:pt x="426427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3520823" y="7453608"/>
            <a:ext cx="3019882" cy="754971"/>
            <a:chOff x="0" y="0"/>
            <a:chExt cx="4026510" cy="100662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026506" cy="1006626"/>
            </a:xfrm>
            <a:custGeom>
              <a:avLst/>
              <a:gdLst/>
              <a:ahLst/>
              <a:cxnLst/>
              <a:rect l="l" t="t" r="r" b="b"/>
              <a:pathLst>
                <a:path w="4026506" h="1006626">
                  <a:moveTo>
                    <a:pt x="0" y="0"/>
                  </a:moveTo>
                  <a:lnTo>
                    <a:pt x="4026506" y="0"/>
                  </a:lnTo>
                  <a:lnTo>
                    <a:pt x="402650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4026510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CloudWatch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Logs + alarms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35402" y="8881186"/>
            <a:ext cx="15648470" cy="411804"/>
            <a:chOff x="0" y="0"/>
            <a:chExt cx="20864627" cy="54907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0864621" cy="549069"/>
            </a:xfrm>
            <a:custGeom>
              <a:avLst/>
              <a:gdLst/>
              <a:ahLst/>
              <a:cxnLst/>
              <a:rect l="l" t="t" r="r" b="b"/>
              <a:pathLst>
                <a:path w="20864621" h="549069">
                  <a:moveTo>
                    <a:pt x="0" y="0"/>
                  </a:moveTo>
                  <a:lnTo>
                    <a:pt x="20864621" y="0"/>
                  </a:lnTo>
                  <a:lnTo>
                    <a:pt x="2086462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0431" b="-690431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20864627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7"/>
                </a:lnSpc>
              </a:pPr>
              <a:r>
                <a:rPr lang="en-US" sz="198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 protected API requests include: Authorization: Bearer &lt;Cognito JWT&gt;</a:t>
              </a:r>
            </a:p>
          </p:txBody>
        </p:sp>
      </p:grpSp>
      <p:grpSp>
        <p:nvGrpSpPr>
          <p:cNvPr id="82" name="Group 18">
            <a:extLst>
              <a:ext uri="{FF2B5EF4-FFF2-40B4-BE49-F238E27FC236}">
                <a16:creationId xmlns:a16="http://schemas.microsoft.com/office/drawing/2014/main" id="{2C4B2B98-D695-3E9F-F634-7C5AE488A44E}"/>
              </a:ext>
            </a:extLst>
          </p:cNvPr>
          <p:cNvGrpSpPr/>
          <p:nvPr/>
        </p:nvGrpSpPr>
        <p:grpSpPr>
          <a:xfrm flipH="1">
            <a:off x="8632579" y="2763667"/>
            <a:ext cx="45719" cy="317222"/>
            <a:chOff x="0" y="0"/>
            <a:chExt cx="40678" cy="2145436"/>
          </a:xfrm>
        </p:grpSpPr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0AFE336E-9A6B-A1CE-F95E-A30866F04601}"/>
                </a:ext>
              </a:extLst>
            </p:cNvPr>
            <p:cNvSpPr/>
            <p:nvPr/>
          </p:nvSpPr>
          <p:spPr>
            <a:xfrm>
              <a:off x="0" y="0"/>
              <a:ext cx="40640" cy="2145411"/>
            </a:xfrm>
            <a:custGeom>
              <a:avLst/>
              <a:gdLst/>
              <a:ahLst/>
              <a:cxnLst/>
              <a:rect l="l" t="t" r="r" b="b"/>
              <a:pathLst>
                <a:path w="40640" h="2145411">
                  <a:moveTo>
                    <a:pt x="0" y="0"/>
                  </a:moveTo>
                  <a:lnTo>
                    <a:pt x="40640" y="214541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723258" r="-6723352" b="-1"/>
              </a:stretch>
            </a:blipFill>
            <a:ln w="30504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84" name="Group 16">
            <a:extLst>
              <a:ext uri="{FF2B5EF4-FFF2-40B4-BE49-F238E27FC236}">
                <a16:creationId xmlns:a16="http://schemas.microsoft.com/office/drawing/2014/main" id="{F258D515-6D9A-4413-18B6-E871B519FFCC}"/>
              </a:ext>
            </a:extLst>
          </p:cNvPr>
          <p:cNvGrpSpPr/>
          <p:nvPr/>
        </p:nvGrpSpPr>
        <p:grpSpPr>
          <a:xfrm flipV="1">
            <a:off x="13520823" y="2753019"/>
            <a:ext cx="266908" cy="567281"/>
            <a:chOff x="0" y="0"/>
            <a:chExt cx="406718" cy="1285227"/>
          </a:xfrm>
        </p:grpSpPr>
        <p:sp>
          <p:nvSpPr>
            <p:cNvPr id="85" name="Freeform 17">
              <a:extLst>
                <a:ext uri="{FF2B5EF4-FFF2-40B4-BE49-F238E27FC236}">
                  <a16:creationId xmlns:a16="http://schemas.microsoft.com/office/drawing/2014/main" id="{D9B2CDCF-E253-5B19-51E3-58D80FAEED9F}"/>
                </a:ext>
              </a:extLst>
            </p:cNvPr>
            <p:cNvSpPr/>
            <p:nvPr/>
          </p:nvSpPr>
          <p:spPr>
            <a:xfrm>
              <a:off x="0" y="0"/>
              <a:ext cx="406781" cy="1285240"/>
            </a:xfrm>
            <a:custGeom>
              <a:avLst/>
              <a:gdLst/>
              <a:ahLst/>
              <a:cxnLst/>
              <a:rect l="l" t="t" r="r" b="b"/>
              <a:pathLst>
                <a:path w="406781" h="1285240">
                  <a:moveTo>
                    <a:pt x="0" y="0"/>
                  </a:moveTo>
                  <a:lnTo>
                    <a:pt x="406781" y="12852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55383" r="-355368"/>
              </a:stretch>
            </a:blipFill>
            <a:ln w="30504" cap="sq">
              <a:solidFill>
                <a:srgbClr val="7C3AE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services demonstration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Each service has a visible role in the application demo and implementation.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1941566"/>
            <a:ext cx="5094141" cy="1772269"/>
            <a:chOff x="0" y="0"/>
            <a:chExt cx="6792189" cy="23630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67054" y="2186740"/>
            <a:ext cx="760305" cy="760305"/>
            <a:chOff x="0" y="0"/>
            <a:chExt cx="1013739" cy="10137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76588" y="2278637"/>
            <a:ext cx="741245" cy="494167"/>
            <a:chOff x="0" y="0"/>
            <a:chExt cx="988327" cy="6588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96274" y="2264912"/>
            <a:ext cx="3294412" cy="301990"/>
            <a:chOff x="0" y="0"/>
            <a:chExt cx="4392549" cy="4026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Cognito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96274" y="2717892"/>
            <a:ext cx="3500314" cy="617706"/>
            <a:chOff x="0" y="0"/>
            <a:chExt cx="4667085" cy="8236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Register, confirm, login, User/Admin groups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32194" y="1941566"/>
            <a:ext cx="5094141" cy="1772269"/>
            <a:chOff x="0" y="0"/>
            <a:chExt cx="6792189" cy="23630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977367" y="2186740"/>
            <a:ext cx="760305" cy="760305"/>
            <a:chOff x="0" y="0"/>
            <a:chExt cx="1013739" cy="10137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986902" y="2278637"/>
            <a:ext cx="741245" cy="494167"/>
            <a:chOff x="0" y="0"/>
            <a:chExt cx="988327" cy="6588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906598" y="2264912"/>
            <a:ext cx="3294412" cy="301990"/>
            <a:chOff x="0" y="0"/>
            <a:chExt cx="4392549" cy="4026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Gateway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06598" y="2717892"/>
            <a:ext cx="3500314" cy="617706"/>
            <a:chOff x="0" y="0"/>
            <a:chExt cx="4667085" cy="8236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Routes: GET/POST/PUT/DELETE /items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42517" y="1941566"/>
            <a:ext cx="5094141" cy="1772269"/>
            <a:chOff x="0" y="0"/>
            <a:chExt cx="6792189" cy="23630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2687691" y="2186740"/>
            <a:ext cx="760305" cy="760305"/>
            <a:chOff x="0" y="0"/>
            <a:chExt cx="1013739" cy="10137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2697216" y="2278637"/>
            <a:ext cx="741245" cy="494167"/>
            <a:chOff x="0" y="0"/>
            <a:chExt cx="988327" cy="65888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616911" y="2264912"/>
            <a:ext cx="3294412" cy="301990"/>
            <a:chOff x="0" y="0"/>
            <a:chExt cx="4392549" cy="40265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Lambda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616911" y="2717892"/>
            <a:ext cx="3500314" cy="617706"/>
            <a:chOff x="0" y="0"/>
            <a:chExt cx="4667085" cy="82360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create, get, claim, return, delete, daily summary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21880" y="4302566"/>
            <a:ext cx="5094141" cy="1772269"/>
            <a:chOff x="0" y="0"/>
            <a:chExt cx="6792189" cy="236302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267054" y="4547740"/>
            <a:ext cx="760305" cy="760305"/>
            <a:chOff x="0" y="0"/>
            <a:chExt cx="1013739" cy="101373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276588" y="4639637"/>
            <a:ext cx="741245" cy="494167"/>
            <a:chOff x="0" y="0"/>
            <a:chExt cx="988327" cy="65888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196274" y="4625902"/>
            <a:ext cx="3294412" cy="301990"/>
            <a:chOff x="0" y="0"/>
            <a:chExt cx="4392549" cy="40265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DynamoDB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196274" y="5078892"/>
            <a:ext cx="3500314" cy="617706"/>
            <a:chOff x="0" y="0"/>
            <a:chExt cx="4667085" cy="82360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Item records, statuses, reports, claims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32194" y="4302566"/>
            <a:ext cx="5094141" cy="1772269"/>
            <a:chOff x="0" y="0"/>
            <a:chExt cx="6792189" cy="236302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977367" y="4547740"/>
            <a:ext cx="760305" cy="760305"/>
            <a:chOff x="0" y="0"/>
            <a:chExt cx="1013739" cy="101373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6986902" y="4639637"/>
            <a:ext cx="741245" cy="494167"/>
            <a:chOff x="0" y="0"/>
            <a:chExt cx="988327" cy="65888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906598" y="4625902"/>
            <a:ext cx="3294412" cy="301990"/>
            <a:chOff x="0" y="0"/>
            <a:chExt cx="4392549" cy="40265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S3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906598" y="5078892"/>
            <a:ext cx="3500314" cy="617706"/>
            <a:chOff x="0" y="0"/>
            <a:chExt cx="4667085" cy="82360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Private item image storage and pre-signed URLs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442517" y="4302566"/>
            <a:ext cx="5094141" cy="1772269"/>
            <a:chOff x="0" y="0"/>
            <a:chExt cx="6792189" cy="236302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687691" y="4547740"/>
            <a:ext cx="760305" cy="760305"/>
            <a:chOff x="0" y="0"/>
            <a:chExt cx="1013739" cy="101373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0891B2">
                <a:alpha val="1176"/>
              </a:srgbClr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697216" y="4639637"/>
            <a:ext cx="741245" cy="494167"/>
            <a:chOff x="0" y="0"/>
            <a:chExt cx="988327" cy="658889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6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616911" y="4625902"/>
            <a:ext cx="3294412" cy="301990"/>
            <a:chOff x="0" y="0"/>
            <a:chExt cx="4392549" cy="40265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Rekognition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616911" y="5078892"/>
            <a:ext cx="3500314" cy="617706"/>
            <a:chOff x="0" y="0"/>
            <a:chExt cx="4667085" cy="82360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Detect labels from uploaded images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21880" y="6663566"/>
            <a:ext cx="5094141" cy="1772269"/>
            <a:chOff x="0" y="0"/>
            <a:chExt cx="6792189" cy="236302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1267054" y="6908740"/>
            <a:ext cx="760305" cy="760305"/>
            <a:chOff x="0" y="0"/>
            <a:chExt cx="1013739" cy="1013739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DC2626">
                <a:alpha val="1176"/>
              </a:srgbClr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1276588" y="7000627"/>
            <a:ext cx="741245" cy="494167"/>
            <a:chOff x="0" y="0"/>
            <a:chExt cx="988327" cy="65888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2196274" y="6986902"/>
            <a:ext cx="3294412" cy="301990"/>
            <a:chOff x="0" y="0"/>
            <a:chExt cx="4392549" cy="40265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DC26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SNS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196274" y="7439882"/>
            <a:ext cx="3500314" cy="617706"/>
            <a:chOff x="0" y="0"/>
            <a:chExt cx="4667085" cy="82360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New item and summary email notifications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732194" y="6663566"/>
            <a:ext cx="5094141" cy="1772269"/>
            <a:chOff x="0" y="0"/>
            <a:chExt cx="6792189" cy="236302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6977367" y="6908740"/>
            <a:ext cx="760305" cy="760305"/>
            <a:chOff x="0" y="0"/>
            <a:chExt cx="1013739" cy="1013739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</p:sp>
      </p:grpSp>
      <p:grpSp>
        <p:nvGrpSpPr>
          <p:cNvPr id="103" name="Group 103"/>
          <p:cNvGrpSpPr/>
          <p:nvPr/>
        </p:nvGrpSpPr>
        <p:grpSpPr>
          <a:xfrm>
            <a:off x="6986902" y="7000627"/>
            <a:ext cx="741245" cy="494167"/>
            <a:chOff x="0" y="0"/>
            <a:chExt cx="988327" cy="658889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8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906598" y="6986902"/>
            <a:ext cx="3294412" cy="301990"/>
            <a:chOff x="0" y="0"/>
            <a:chExt cx="4392549" cy="40265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CloudWatch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7906598" y="7439882"/>
            <a:ext cx="3500314" cy="617706"/>
            <a:chOff x="0" y="0"/>
            <a:chExt cx="4667085" cy="82360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Logs, metrics, alarm for Lambda errors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442517" y="6663566"/>
            <a:ext cx="5094141" cy="1772269"/>
            <a:chOff x="0" y="0"/>
            <a:chExt cx="6792189" cy="236302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6792214" cy="2363089"/>
            </a:xfrm>
            <a:custGeom>
              <a:avLst/>
              <a:gdLst/>
              <a:ahLst/>
              <a:cxnLst/>
              <a:rect l="l" t="t" r="r" b="b"/>
              <a:pathLst>
                <a:path w="6792214" h="236308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644513" y="0"/>
                  </a:lnTo>
                  <a:cubicBezTo>
                    <a:pt x="6726047" y="0"/>
                    <a:pt x="6792214" y="66167"/>
                    <a:pt x="6792214" y="147701"/>
                  </a:cubicBezTo>
                  <a:lnTo>
                    <a:pt x="6792214" y="2215388"/>
                  </a:lnTo>
                  <a:cubicBezTo>
                    <a:pt x="6792214" y="2296922"/>
                    <a:pt x="6726047" y="2363089"/>
                    <a:pt x="6644513" y="2363089"/>
                  </a:cubicBezTo>
                  <a:lnTo>
                    <a:pt x="147701" y="2363089"/>
                  </a:lnTo>
                  <a:cubicBezTo>
                    <a:pt x="66167" y="2363089"/>
                    <a:pt x="0" y="2296922"/>
                    <a:pt x="0" y="22153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12687691" y="6908740"/>
            <a:ext cx="760305" cy="760305"/>
            <a:chOff x="0" y="0"/>
            <a:chExt cx="1013739" cy="1013739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116" name="Group 116"/>
          <p:cNvGrpSpPr/>
          <p:nvPr/>
        </p:nvGrpSpPr>
        <p:grpSpPr>
          <a:xfrm>
            <a:off x="12697216" y="7000627"/>
            <a:ext cx="741245" cy="494167"/>
            <a:chOff x="0" y="0"/>
            <a:chExt cx="988327" cy="658889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9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616911" y="6986902"/>
            <a:ext cx="3294412" cy="301990"/>
            <a:chOff x="0" y="0"/>
            <a:chExt cx="4392549" cy="402654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392552" cy="402651"/>
            </a:xfrm>
            <a:custGeom>
              <a:avLst/>
              <a:gdLst/>
              <a:ahLst/>
              <a:cxnLst/>
              <a:rect l="l" t="t" r="r" b="b"/>
              <a:pathLst>
                <a:path w="4392552" h="402651">
                  <a:moveTo>
                    <a:pt x="0" y="0"/>
                  </a:moveTo>
                  <a:lnTo>
                    <a:pt x="4392552" y="0"/>
                  </a:lnTo>
                  <a:lnTo>
                    <a:pt x="439255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3" b="-162564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9525"/>
              <a:ext cx="4392549" cy="3931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 b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EventBridge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616911" y="7439882"/>
            <a:ext cx="3500314" cy="617706"/>
            <a:chOff x="0" y="0"/>
            <a:chExt cx="4667085" cy="82360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667086" cy="823603"/>
            </a:xfrm>
            <a:custGeom>
              <a:avLst/>
              <a:gdLst/>
              <a:ahLst/>
              <a:cxnLst/>
              <a:rect l="l" t="t" r="r" b="b"/>
              <a:pathLst>
                <a:path w="4667086" h="823603">
                  <a:moveTo>
                    <a:pt x="0" y="0"/>
                  </a:moveTo>
                  <a:lnTo>
                    <a:pt x="4667086" y="0"/>
                  </a:lnTo>
                  <a:lnTo>
                    <a:pt x="466708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414" b="-60415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4667085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9"/>
                </a:lnSpc>
              </a:pPr>
              <a:r>
                <a:rPr lang="en-US" sz="144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Scheduled trigger for summary Lambda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19975" y="8981475"/>
            <a:ext cx="16285235" cy="540677"/>
            <a:chOff x="0" y="0"/>
            <a:chExt cx="21713647" cy="720903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1713698" cy="720852"/>
            </a:xfrm>
            <a:custGeom>
              <a:avLst/>
              <a:gdLst/>
              <a:ahLst/>
              <a:cxnLst/>
              <a:rect l="l" t="t" r="r" b="b"/>
              <a:pathLst>
                <a:path w="21713698" h="720852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21561933" y="0"/>
                  </a:lnTo>
                  <a:cubicBezTo>
                    <a:pt x="21645753" y="0"/>
                    <a:pt x="21713698" y="67945"/>
                    <a:pt x="21713698" y="151765"/>
                  </a:cubicBezTo>
                  <a:lnTo>
                    <a:pt x="21713698" y="569087"/>
                  </a:lnTo>
                  <a:cubicBezTo>
                    <a:pt x="21713698" y="652907"/>
                    <a:pt x="21645753" y="720852"/>
                    <a:pt x="21561933" y="720852"/>
                  </a:cubicBezTo>
                  <a:lnTo>
                    <a:pt x="151765" y="720852"/>
                  </a:lnTo>
                  <a:cubicBezTo>
                    <a:pt x="67945" y="720852"/>
                    <a:pt x="0" y="652907"/>
                    <a:pt x="0" y="569087"/>
                  </a:cubicBez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127" name="Group 127"/>
          <p:cNvGrpSpPr/>
          <p:nvPr/>
        </p:nvGrpSpPr>
        <p:grpSpPr>
          <a:xfrm>
            <a:off x="1304039" y="9142000"/>
            <a:ext cx="15717098" cy="192176"/>
            <a:chOff x="0" y="0"/>
            <a:chExt cx="20956130" cy="256235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0956132" cy="256232"/>
            </a:xfrm>
            <a:custGeom>
              <a:avLst/>
              <a:gdLst/>
              <a:ahLst/>
              <a:cxnLst/>
              <a:rect l="l" t="t" r="r" b="b"/>
              <a:pathLst>
                <a:path w="20956132" h="256232">
                  <a:moveTo>
                    <a:pt x="0" y="0"/>
                  </a:moveTo>
                  <a:lnTo>
                    <a:pt x="20956132" y="0"/>
                  </a:lnTo>
                  <a:lnTo>
                    <a:pt x="209561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3597" b="-1543598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0"/>
              <a:ext cx="20956130" cy="256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93"/>
                </a:lnSpc>
              </a:pPr>
              <a:r>
                <a:rPr lang="en-US" sz="141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Mandatory services: DynamoDB, S3, Lambda, API Gateway, IAM  •  Optional services: Cognito, Rekognition, SNS, CloudWatch, EventBridge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and bonus capabilities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project goes beyond CRUD with role enforcement, monitoring, automation, and advanced data security.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3057" y="1845478"/>
            <a:ext cx="5231406" cy="6672710"/>
            <a:chOff x="0" y="0"/>
            <a:chExt cx="6975208" cy="88969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5221" cy="8896985"/>
            </a:xfrm>
            <a:custGeom>
              <a:avLst/>
              <a:gdLst/>
              <a:ahLst/>
              <a:cxnLst/>
              <a:rect l="l" t="t" r="r" b="b"/>
              <a:pathLst>
                <a:path w="6975221" h="8896985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828409" y="0"/>
                  </a:lnTo>
                  <a:cubicBezTo>
                    <a:pt x="6909562" y="0"/>
                    <a:pt x="6975221" y="65786"/>
                    <a:pt x="6975221" y="146812"/>
                  </a:cubicBezTo>
                  <a:lnTo>
                    <a:pt x="6975221" y="8750173"/>
                  </a:lnTo>
                  <a:cubicBezTo>
                    <a:pt x="6975221" y="8831326"/>
                    <a:pt x="6909435" y="8896985"/>
                    <a:pt x="6828409" y="8896985"/>
                  </a:cubicBezTo>
                  <a:lnTo>
                    <a:pt x="146812" y="8896985"/>
                  </a:lnTo>
                  <a:cubicBezTo>
                    <a:pt x="65786" y="8896985"/>
                    <a:pt x="0" y="8831199"/>
                    <a:pt x="0" y="87501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31769" y="2255377"/>
            <a:ext cx="3176216" cy="403412"/>
            <a:chOff x="0" y="0"/>
            <a:chExt cx="4234955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34942" cy="537845"/>
            </a:xfrm>
            <a:custGeom>
              <a:avLst/>
              <a:gdLst/>
              <a:ahLst/>
              <a:cxnLst/>
              <a:rect l="l" t="t" r="r" b="b"/>
              <a:pathLst>
                <a:path w="4234942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4100449" y="0"/>
                  </a:lnTo>
                  <a:cubicBezTo>
                    <a:pt x="4174744" y="0"/>
                    <a:pt x="4234942" y="60198"/>
                    <a:pt x="4234942" y="134493"/>
                  </a:cubicBezTo>
                  <a:lnTo>
                    <a:pt x="4234942" y="403352"/>
                  </a:lnTo>
                  <a:cubicBezTo>
                    <a:pt x="4234942" y="477647"/>
                    <a:pt x="4174744" y="537845"/>
                    <a:pt x="4100449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DC2626">
                <a:alpha val="2353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51118" y="2340407"/>
            <a:ext cx="2937520" cy="219627"/>
            <a:chOff x="0" y="0"/>
            <a:chExt cx="3916693" cy="2928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16692" cy="292837"/>
            </a:xfrm>
            <a:custGeom>
              <a:avLst/>
              <a:gdLst/>
              <a:ahLst/>
              <a:cxnLst/>
              <a:rect l="l" t="t" r="r" b="b"/>
              <a:pathLst>
                <a:path w="3916692" h="292837">
                  <a:moveTo>
                    <a:pt x="0" y="0"/>
                  </a:moveTo>
                  <a:lnTo>
                    <a:pt x="3916692" y="0"/>
                  </a:lnTo>
                  <a:lnTo>
                    <a:pt x="391669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916693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>
                  <a:solidFill>
                    <a:srgbClr val="DC26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data security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72956" y="3161338"/>
            <a:ext cx="142608" cy="142608"/>
            <a:chOff x="0" y="0"/>
            <a:chExt cx="190144" cy="1901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29569" y="3088510"/>
            <a:ext cx="4118019" cy="439255"/>
            <a:chOff x="0" y="0"/>
            <a:chExt cx="5490693" cy="5856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Cognito authentication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2956" y="3888857"/>
            <a:ext cx="142608" cy="142608"/>
            <a:chOff x="0" y="0"/>
            <a:chExt cx="190144" cy="1901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729569" y="3816029"/>
            <a:ext cx="4118019" cy="439255"/>
            <a:chOff x="0" y="0"/>
            <a:chExt cx="5490693" cy="5856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API Gateway JWT Authorizer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72956" y="4616377"/>
            <a:ext cx="142608" cy="142608"/>
            <a:chOff x="0" y="0"/>
            <a:chExt cx="190144" cy="1901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729569" y="4543549"/>
            <a:ext cx="4118019" cy="439255"/>
            <a:chOff x="0" y="0"/>
            <a:chExt cx="5490693" cy="5856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Cognito Groups: User / Admin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72956" y="5343887"/>
            <a:ext cx="142608" cy="142608"/>
            <a:chOff x="0" y="0"/>
            <a:chExt cx="190144" cy="1901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29569" y="5271059"/>
            <a:ext cx="4118019" cy="439255"/>
            <a:chOff x="0" y="0"/>
            <a:chExt cx="5490693" cy="5856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Backend Lambda checks Admin group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72956" y="6071406"/>
            <a:ext cx="142608" cy="142608"/>
            <a:chOff x="0" y="0"/>
            <a:chExt cx="190144" cy="1901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729569" y="5998578"/>
            <a:ext cx="4118019" cy="439255"/>
            <a:chOff x="0" y="0"/>
            <a:chExt cx="5490693" cy="58567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Private S3 + pre-signed URLs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72956" y="6798926"/>
            <a:ext cx="142608" cy="142608"/>
            <a:chOff x="0" y="0"/>
            <a:chExt cx="190144" cy="19014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29569" y="6726098"/>
            <a:ext cx="4118019" cy="439255"/>
            <a:chOff x="0" y="0"/>
            <a:chExt cx="5490693" cy="5856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90690" cy="585674"/>
            </a:xfrm>
            <a:custGeom>
              <a:avLst/>
              <a:gdLst/>
              <a:ahLst/>
              <a:cxnLst/>
              <a:rect l="l" t="t" r="r" b="b"/>
              <a:pathLst>
                <a:path w="5490690" h="585674">
                  <a:moveTo>
                    <a:pt x="0" y="0"/>
                  </a:moveTo>
                  <a:lnTo>
                    <a:pt x="5490690" y="0"/>
                  </a:lnTo>
                  <a:lnTo>
                    <a:pt x="549069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672" b="-13267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5490693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Least-privilege IAM roles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49831" y="1845478"/>
            <a:ext cx="4888240" cy="6672710"/>
            <a:chOff x="0" y="0"/>
            <a:chExt cx="6517653" cy="889694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17640" cy="8896985"/>
            </a:xfrm>
            <a:custGeom>
              <a:avLst/>
              <a:gdLst/>
              <a:ahLst/>
              <a:cxnLst/>
              <a:rect l="l" t="t" r="r" b="b"/>
              <a:pathLst>
                <a:path w="6517640" h="8896985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8750046"/>
                  </a:lnTo>
                  <a:cubicBezTo>
                    <a:pt x="6517640" y="8831199"/>
                    <a:pt x="6451854" y="8896985"/>
                    <a:pt x="6370701" y="8896985"/>
                  </a:cubicBezTo>
                  <a:lnTo>
                    <a:pt x="146939" y="8896985"/>
                  </a:lnTo>
                  <a:cubicBezTo>
                    <a:pt x="65786" y="8896985"/>
                    <a:pt x="0" y="8831199"/>
                    <a:pt x="0" y="87500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991093" y="2255377"/>
            <a:ext cx="2901677" cy="403412"/>
            <a:chOff x="0" y="0"/>
            <a:chExt cx="3868903" cy="53788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68928" cy="537845"/>
            </a:xfrm>
            <a:custGeom>
              <a:avLst/>
              <a:gdLst/>
              <a:ahLst/>
              <a:cxnLst/>
              <a:rect l="l" t="t" r="r" b="b"/>
              <a:pathLst>
                <a:path w="3868928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734435" y="0"/>
                  </a:lnTo>
                  <a:cubicBezTo>
                    <a:pt x="3808730" y="0"/>
                    <a:pt x="3868928" y="60198"/>
                    <a:pt x="3868928" y="134493"/>
                  </a:cubicBezTo>
                  <a:lnTo>
                    <a:pt x="3868928" y="403352"/>
                  </a:lnTo>
                  <a:cubicBezTo>
                    <a:pt x="3868928" y="477647"/>
                    <a:pt x="3808730" y="537845"/>
                    <a:pt x="3734435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7110441" y="2340407"/>
            <a:ext cx="2662980" cy="219627"/>
            <a:chOff x="0" y="0"/>
            <a:chExt cx="3550641" cy="29283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550646" cy="292837"/>
            </a:xfrm>
            <a:custGeom>
              <a:avLst/>
              <a:gdLst/>
              <a:ahLst/>
              <a:cxnLst/>
              <a:rect l="l" t="t" r="r" b="b"/>
              <a:pathLst>
                <a:path w="3550646" h="292837">
                  <a:moveTo>
                    <a:pt x="0" y="0"/>
                  </a:moveTo>
                  <a:lnTo>
                    <a:pt x="3550646" y="0"/>
                  </a:lnTo>
                  <a:lnTo>
                    <a:pt x="3550646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255" b="-18625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3550641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CloudWatch monitoring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00627" y="3047333"/>
            <a:ext cx="3980755" cy="754971"/>
            <a:chOff x="0" y="0"/>
            <a:chExt cx="5307673" cy="100662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07667" cy="1006626"/>
            </a:xfrm>
            <a:custGeom>
              <a:avLst/>
              <a:gdLst/>
              <a:ahLst/>
              <a:cxnLst/>
              <a:rect l="l" t="t" r="r" b="b"/>
              <a:pathLst>
                <a:path w="5307667" h="1006626">
                  <a:moveTo>
                    <a:pt x="0" y="0"/>
                  </a:moveTo>
                  <a:lnTo>
                    <a:pt x="5307667" y="0"/>
                  </a:lnTo>
                  <a:lnTo>
                    <a:pt x="5307667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5307673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5"/>
                </a:lnSpc>
              </a:pPr>
              <a:r>
                <a:rPr lang="en-US" sz="199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Monitors Lambda logs, errors, and alarms for operational visibility.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 rot="1200000">
            <a:off x="7334269" y="4108485"/>
            <a:ext cx="3244844" cy="3244844"/>
            <a:chOff x="0" y="0"/>
            <a:chExt cx="4326458" cy="4326458"/>
          </a:xfrm>
        </p:grpSpPr>
        <p:sp>
          <p:nvSpPr>
            <p:cNvPr id="56" name="Freeform 56"/>
            <p:cNvSpPr/>
            <p:nvPr/>
          </p:nvSpPr>
          <p:spPr>
            <a:xfrm>
              <a:off x="2163191" y="0"/>
              <a:ext cx="2163191" cy="2163191"/>
            </a:xfrm>
            <a:custGeom>
              <a:avLst/>
              <a:gdLst/>
              <a:ahLst/>
              <a:cxnLst/>
              <a:rect l="l" t="t" r="r" b="b"/>
              <a:pathLst>
                <a:path w="2163191" h="2163191">
                  <a:moveTo>
                    <a:pt x="0" y="0"/>
                  </a:moveTo>
                  <a:cubicBezTo>
                    <a:pt x="1194689" y="0"/>
                    <a:pt x="2163191" y="968502"/>
                    <a:pt x="2163191" y="2163191"/>
                  </a:cubicBezTo>
                  <a:lnTo>
                    <a:pt x="0" y="2163191"/>
                  </a:lnTo>
                  <a:close/>
                </a:path>
              </a:pathLst>
            </a:custGeom>
            <a:solidFill>
              <a:srgbClr val="F59E0B">
                <a:alpha val="5882"/>
              </a:srgbClr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2163191" y="0"/>
              <a:ext cx="2163191" cy="2163191"/>
            </a:xfrm>
            <a:custGeom>
              <a:avLst/>
              <a:gdLst/>
              <a:ahLst/>
              <a:cxnLst/>
              <a:rect l="l" t="t" r="r" b="b"/>
              <a:pathLst>
                <a:path w="2163191" h="2163191">
                  <a:moveTo>
                    <a:pt x="0" y="0"/>
                  </a:moveTo>
                  <a:cubicBezTo>
                    <a:pt x="1194689" y="0"/>
                    <a:pt x="2163191" y="968502"/>
                    <a:pt x="2163191" y="2163191"/>
                  </a:cubicBezTo>
                </a:path>
              </a:pathLst>
            </a:custGeom>
            <a:solidFill>
              <a:srgbClr val="F59E0B">
                <a:alpha val="5882"/>
              </a:srgbClr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7851686" y="5037706"/>
            <a:ext cx="2264912" cy="617706"/>
            <a:chOff x="0" y="0"/>
            <a:chExt cx="3019882" cy="8236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019879" cy="823603"/>
            </a:xfrm>
            <a:custGeom>
              <a:avLst/>
              <a:gdLst/>
              <a:ahLst/>
              <a:cxnLst/>
              <a:rect l="l" t="t" r="r" b="b"/>
              <a:pathLst>
                <a:path w="3019879" h="823603">
                  <a:moveTo>
                    <a:pt x="0" y="0"/>
                  </a:moveTo>
                  <a:lnTo>
                    <a:pt x="3019879" y="0"/>
                  </a:lnTo>
                  <a:lnTo>
                    <a:pt x="301987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4" b="-21445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3019882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Errors ≥ threshold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 SNS alert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865988" y="1845478"/>
            <a:ext cx="4956877" cy="6672710"/>
            <a:chOff x="0" y="0"/>
            <a:chExt cx="6609169" cy="889694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609080" cy="8896858"/>
            </a:xfrm>
            <a:custGeom>
              <a:avLst/>
              <a:gdLst/>
              <a:ahLst/>
              <a:cxnLst/>
              <a:rect l="l" t="t" r="r" b="b"/>
              <a:pathLst>
                <a:path w="6609080" h="889685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462268" y="0"/>
                  </a:lnTo>
                  <a:cubicBezTo>
                    <a:pt x="6543421" y="0"/>
                    <a:pt x="6609080" y="65786"/>
                    <a:pt x="6609080" y="146812"/>
                  </a:cubicBezTo>
                  <a:lnTo>
                    <a:pt x="6609080" y="8750046"/>
                  </a:lnTo>
                  <a:cubicBezTo>
                    <a:pt x="6609080" y="8831199"/>
                    <a:pt x="6543294" y="8896858"/>
                    <a:pt x="6462268" y="8896858"/>
                  </a:cubicBezTo>
                  <a:lnTo>
                    <a:pt x="146812" y="8896858"/>
                  </a:lnTo>
                  <a:cubicBezTo>
                    <a:pt x="65786" y="8896985"/>
                    <a:pt x="0" y="8831199"/>
                    <a:pt x="0" y="875004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207250" y="2255377"/>
            <a:ext cx="3176216" cy="403412"/>
            <a:chOff x="0" y="0"/>
            <a:chExt cx="4234955" cy="53788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234942" cy="537845"/>
            </a:xfrm>
            <a:custGeom>
              <a:avLst/>
              <a:gdLst/>
              <a:ahLst/>
              <a:cxnLst/>
              <a:rect l="l" t="t" r="r" b="b"/>
              <a:pathLst>
                <a:path w="4234942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4100449" y="0"/>
                  </a:lnTo>
                  <a:cubicBezTo>
                    <a:pt x="4174744" y="0"/>
                    <a:pt x="4234942" y="60198"/>
                    <a:pt x="4234942" y="134493"/>
                  </a:cubicBezTo>
                  <a:lnTo>
                    <a:pt x="4234942" y="403352"/>
                  </a:lnTo>
                  <a:cubicBezTo>
                    <a:pt x="4234942" y="477647"/>
                    <a:pt x="4174744" y="537845"/>
                    <a:pt x="4100449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2326598" y="2340407"/>
            <a:ext cx="2937520" cy="219627"/>
            <a:chOff x="0" y="0"/>
            <a:chExt cx="3916693" cy="29283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916692" cy="292837"/>
            </a:xfrm>
            <a:custGeom>
              <a:avLst/>
              <a:gdLst/>
              <a:ahLst/>
              <a:cxnLst/>
              <a:rect l="l" t="t" r="r" b="b"/>
              <a:pathLst>
                <a:path w="3916692" h="292837">
                  <a:moveTo>
                    <a:pt x="0" y="0"/>
                  </a:moveTo>
                  <a:lnTo>
                    <a:pt x="3916692" y="0"/>
                  </a:lnTo>
                  <a:lnTo>
                    <a:pt x="391669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3916693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 err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EventBridge</a:t>
              </a:r>
              <a:r>
                <a:rPr lang="en-US" sz="30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automation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244235" y="3047333"/>
            <a:ext cx="3843480" cy="754971"/>
            <a:chOff x="0" y="0"/>
            <a:chExt cx="5124640" cy="100662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124644" cy="1006626"/>
            </a:xfrm>
            <a:custGeom>
              <a:avLst/>
              <a:gdLst/>
              <a:ahLst/>
              <a:cxnLst/>
              <a:rect l="l" t="t" r="r" b="b"/>
              <a:pathLst>
                <a:path w="5124644" h="1006626">
                  <a:moveTo>
                    <a:pt x="0" y="0"/>
                  </a:moveTo>
                  <a:lnTo>
                    <a:pt x="5124644" y="0"/>
                  </a:lnTo>
                  <a:lnTo>
                    <a:pt x="5124644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96" b="-4919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5124640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5"/>
                </a:lnSpc>
              </a:pPr>
              <a:r>
                <a:rPr lang="en-US" sz="199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Scheduled rule triggers sendDailySummary Lambda automatically.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681966" y="4583201"/>
            <a:ext cx="1403175" cy="30509"/>
            <a:chOff x="0" y="0"/>
            <a:chExt cx="1870900" cy="4067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70964" cy="40640"/>
            </a:xfrm>
            <a:custGeom>
              <a:avLst/>
              <a:gdLst/>
              <a:ahLst/>
              <a:cxnLst/>
              <a:rect l="l" t="t" r="r" b="b"/>
              <a:pathLst>
                <a:path w="1870964" h="40640">
                  <a:moveTo>
                    <a:pt x="0" y="0"/>
                  </a:moveTo>
                  <a:lnTo>
                    <a:pt x="187096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46965" r="3" b="-847058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4191907" y="4583201"/>
            <a:ext cx="1128646" cy="30509"/>
            <a:chOff x="0" y="0"/>
            <a:chExt cx="1504861" cy="4067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504823" cy="40640"/>
            </a:xfrm>
            <a:custGeom>
              <a:avLst/>
              <a:gdLst/>
              <a:ahLst/>
              <a:cxnLst/>
              <a:rect l="l" t="t" r="r" b="b"/>
              <a:pathLst>
                <a:path w="1504823" h="40640">
                  <a:moveTo>
                    <a:pt x="0" y="0"/>
                  </a:moveTo>
                  <a:lnTo>
                    <a:pt x="1504823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671465" r="-2" b="-671559"/>
              </a:stretch>
            </a:blipFill>
            <a:ln w="30504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209155" y="4220204"/>
            <a:ext cx="1195749" cy="770220"/>
            <a:chOff x="0" y="0"/>
            <a:chExt cx="1594333" cy="102696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2299147" y="4474912"/>
            <a:ext cx="1029500" cy="164725"/>
            <a:chOff x="0" y="0"/>
            <a:chExt cx="1372667" cy="21963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Rule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3650468" y="4220204"/>
            <a:ext cx="1195749" cy="770220"/>
            <a:chOff x="0" y="0"/>
            <a:chExt cx="1594333" cy="10269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13740451" y="4474912"/>
            <a:ext cx="1029500" cy="164725"/>
            <a:chOff x="0" y="0"/>
            <a:chExt cx="1372667" cy="21963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Lambda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091772" y="4220204"/>
            <a:ext cx="1195749" cy="770220"/>
            <a:chOff x="0" y="0"/>
            <a:chExt cx="1594333" cy="10269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594358" cy="1026922"/>
            </a:xfrm>
            <a:custGeom>
              <a:avLst/>
              <a:gdLst/>
              <a:ahLst/>
              <a:cxnLst/>
              <a:rect l="l" t="t" r="r" b="b"/>
              <a:pathLst>
                <a:path w="1594358" h="1026922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445006" y="0"/>
                  </a:lnTo>
                  <a:cubicBezTo>
                    <a:pt x="1527556" y="0"/>
                    <a:pt x="1594358" y="66929"/>
                    <a:pt x="1594358" y="149352"/>
                  </a:cubicBezTo>
                  <a:lnTo>
                    <a:pt x="1594358" y="877570"/>
                  </a:lnTo>
                  <a:cubicBezTo>
                    <a:pt x="1594358" y="960120"/>
                    <a:pt x="1527429" y="1026922"/>
                    <a:pt x="1445006" y="1026922"/>
                  </a:cubicBezTo>
                  <a:lnTo>
                    <a:pt x="149352" y="1026922"/>
                  </a:lnTo>
                  <a:cubicBezTo>
                    <a:pt x="66929" y="1026922"/>
                    <a:pt x="0" y="960120"/>
                    <a:pt x="0" y="877570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5181755" y="4474912"/>
            <a:ext cx="1029500" cy="164725"/>
            <a:chOff x="0" y="0"/>
            <a:chExt cx="1372667" cy="21963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372672" cy="219628"/>
            </a:xfrm>
            <a:custGeom>
              <a:avLst/>
              <a:gdLst/>
              <a:ahLst/>
              <a:cxnLst/>
              <a:rect l="l" t="t" r="r" b="b"/>
              <a:pathLst>
                <a:path w="1372672" h="219628">
                  <a:moveTo>
                    <a:pt x="0" y="0"/>
                  </a:moveTo>
                  <a:lnTo>
                    <a:pt x="1372672" y="0"/>
                  </a:lnTo>
                  <a:lnTo>
                    <a:pt x="1372672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79" b="-7178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1372667" cy="219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SNS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578569" y="8812559"/>
            <a:ext cx="15099392" cy="411804"/>
            <a:chOff x="0" y="0"/>
            <a:chExt cx="20132523" cy="54907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0132529" cy="549069"/>
            </a:xfrm>
            <a:custGeom>
              <a:avLst/>
              <a:gdLst/>
              <a:ahLst/>
              <a:cxnLst/>
              <a:rect l="l" t="t" r="r" b="b"/>
              <a:pathLst>
                <a:path w="20132529" h="549069">
                  <a:moveTo>
                    <a:pt x="0" y="0"/>
                  </a:moveTo>
                  <a:lnTo>
                    <a:pt x="20132529" y="0"/>
                  </a:lnTo>
                  <a:lnTo>
                    <a:pt x="20132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4450" b="-664451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2013252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49"/>
                </a:lnSpc>
              </a:pPr>
              <a:r>
                <a:rPr lang="en-US" sz="204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Official bonus categories covered: Advanced CloudWatch Monitoring • EventBridge • Advanced Data Security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challenges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Key technical problems we solved during implementation.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782" y="1845478"/>
            <a:ext cx="15800984" cy="1044759"/>
            <a:chOff x="0" y="0"/>
            <a:chExt cx="21067979" cy="13930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527858" y="2131838"/>
            <a:ext cx="458324" cy="458324"/>
            <a:chOff x="0" y="0"/>
            <a:chExt cx="611099" cy="6110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37392" y="2223726"/>
            <a:ext cx="439255" cy="109814"/>
            <a:chOff x="0" y="0"/>
            <a:chExt cx="585673" cy="146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23726" y="2072735"/>
            <a:ext cx="4323921" cy="384353"/>
            <a:chOff x="0" y="0"/>
            <a:chExt cx="5765228" cy="5124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CORS and browser preflight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94725" y="2072735"/>
            <a:ext cx="9265539" cy="384353"/>
            <a:chOff x="0" y="0"/>
            <a:chExt cx="12354052" cy="5124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Configured API Gateway CORS for GET, POST, PUT, DELETE, OPTIONS and authorization header.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7782" y="3190704"/>
            <a:ext cx="15800984" cy="1044759"/>
            <a:chOff x="0" y="0"/>
            <a:chExt cx="21067979" cy="13930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527858" y="3477054"/>
            <a:ext cx="458324" cy="458324"/>
            <a:chOff x="0" y="0"/>
            <a:chExt cx="611099" cy="6110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37392" y="3568951"/>
            <a:ext cx="439255" cy="109814"/>
            <a:chOff x="0" y="0"/>
            <a:chExt cx="585673" cy="1464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223726" y="3417951"/>
            <a:ext cx="4323921" cy="384353"/>
            <a:chOff x="0" y="0"/>
            <a:chExt cx="5765228" cy="5124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S3 image access denied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4725" y="3417951"/>
            <a:ext cx="9265539" cy="384353"/>
            <a:chOff x="0" y="0"/>
            <a:chExt cx="12354052" cy="5124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Moved from direct S3 links to private objects with Lambda-generated pre-signed URLs.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7782" y="4535919"/>
            <a:ext cx="15800984" cy="1044759"/>
            <a:chOff x="0" y="0"/>
            <a:chExt cx="21067979" cy="13930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527858" y="4822279"/>
            <a:ext cx="458324" cy="458324"/>
            <a:chOff x="0" y="0"/>
            <a:chExt cx="611099" cy="61109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537392" y="4914167"/>
            <a:ext cx="439255" cy="109814"/>
            <a:chOff x="0" y="0"/>
            <a:chExt cx="585673" cy="1464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23726" y="4763176"/>
            <a:ext cx="4323921" cy="384353"/>
            <a:chOff x="0" y="0"/>
            <a:chExt cx="5765228" cy="5124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Cognito 401 Unauthorized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94725" y="4763176"/>
            <a:ext cx="9265539" cy="384353"/>
            <a:chOff x="0" y="0"/>
            <a:chExt cx="12354052" cy="5124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Aligned JWT authorizer issuer/audience and sent Authorization: Bearer &lt;idToken&gt;.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27782" y="5881135"/>
            <a:ext cx="15800984" cy="1044759"/>
            <a:chOff x="0" y="0"/>
            <a:chExt cx="21067979" cy="139301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527858" y="6167495"/>
            <a:ext cx="458324" cy="458324"/>
            <a:chOff x="0" y="0"/>
            <a:chExt cx="611099" cy="61109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537392" y="6259382"/>
            <a:ext cx="439255" cy="109814"/>
            <a:chOff x="0" y="0"/>
            <a:chExt cx="585673" cy="1464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223726" y="6108392"/>
            <a:ext cx="4323921" cy="384353"/>
            <a:chOff x="0" y="0"/>
            <a:chExt cx="5765228" cy="51247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Admin-only actions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794725" y="6108392"/>
            <a:ext cx="9265539" cy="384353"/>
            <a:chOff x="0" y="0"/>
            <a:chExt cx="12354052" cy="51247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Added frontend role-based UI and backend group validation in Lambda.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27782" y="7226360"/>
            <a:ext cx="15800984" cy="1044759"/>
            <a:chOff x="0" y="0"/>
            <a:chExt cx="21067979" cy="139301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068029" cy="1393063"/>
            </a:xfrm>
            <a:custGeom>
              <a:avLst/>
              <a:gdLst/>
              <a:ahLst/>
              <a:cxnLst/>
              <a:rect l="l" t="t" r="r" b="b"/>
              <a:pathLst>
                <a:path w="21068029" h="1393063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919439" y="0"/>
                  </a:lnTo>
                  <a:cubicBezTo>
                    <a:pt x="21001481" y="0"/>
                    <a:pt x="21068029" y="66548"/>
                    <a:pt x="21068029" y="148590"/>
                  </a:cubicBezTo>
                  <a:lnTo>
                    <a:pt x="21068029" y="1244473"/>
                  </a:lnTo>
                  <a:cubicBezTo>
                    <a:pt x="21068029" y="1326515"/>
                    <a:pt x="21001481" y="1393063"/>
                    <a:pt x="20919439" y="1393063"/>
                  </a:cubicBezTo>
                  <a:lnTo>
                    <a:pt x="148590" y="1393063"/>
                  </a:lnTo>
                  <a:cubicBezTo>
                    <a:pt x="66548" y="1393063"/>
                    <a:pt x="0" y="1326515"/>
                    <a:pt x="0" y="1244473"/>
                  </a:cubicBezTo>
                  <a:close/>
                </a:path>
              </a:pathLst>
            </a:custGeom>
            <a:solidFill>
              <a:srgbClr val="F8FAFC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527858" y="7512710"/>
            <a:ext cx="458324" cy="458324"/>
            <a:chOff x="0" y="0"/>
            <a:chExt cx="611099" cy="61109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11124" cy="611124"/>
            </a:xfrm>
            <a:custGeom>
              <a:avLst/>
              <a:gdLst/>
              <a:ahLst/>
              <a:cxnLst/>
              <a:rect l="l" t="t" r="r" b="b"/>
              <a:pathLst>
                <a:path w="611124" h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DC2626">
                <a:alpha val="72157"/>
              </a:srgbClr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537392" y="7604608"/>
            <a:ext cx="439255" cy="109814"/>
            <a:chOff x="0" y="0"/>
            <a:chExt cx="585673" cy="14641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85674" cy="146418"/>
            </a:xfrm>
            <a:custGeom>
              <a:avLst/>
              <a:gdLst/>
              <a:ahLst/>
              <a:cxnLst/>
              <a:rect l="l" t="t" r="r" b="b"/>
              <a:pathLst>
                <a:path w="585674" h="146418">
                  <a:moveTo>
                    <a:pt x="0" y="0"/>
                  </a:moveTo>
                  <a:lnTo>
                    <a:pt x="585674" y="0"/>
                  </a:lnTo>
                  <a:lnTo>
                    <a:pt x="585674" y="146418"/>
                  </a:lnTo>
                  <a:lnTo>
                    <a:pt x="0" y="146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585673" cy="146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223726" y="7453608"/>
            <a:ext cx="4323921" cy="384353"/>
            <a:chOff x="0" y="0"/>
            <a:chExt cx="5765228" cy="51247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765224" cy="512464"/>
            </a:xfrm>
            <a:custGeom>
              <a:avLst/>
              <a:gdLst/>
              <a:ahLst/>
              <a:cxnLst/>
              <a:rect l="l" t="t" r="r" b="b"/>
              <a:pathLst>
                <a:path w="5765224" h="512464">
                  <a:moveTo>
                    <a:pt x="0" y="0"/>
                  </a:moveTo>
                  <a:lnTo>
                    <a:pt x="5765224" y="0"/>
                  </a:lnTo>
                  <a:lnTo>
                    <a:pt x="576522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7"/>
                </a:lnSpc>
              </a:pPr>
              <a:r>
                <a:rPr lang="en-US" sz="198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UI workflow complexity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794725" y="7453608"/>
            <a:ext cx="9265539" cy="384353"/>
            <a:chOff x="0" y="0"/>
            <a:chExt cx="12354052" cy="51247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354051" cy="512464"/>
            </a:xfrm>
            <a:custGeom>
              <a:avLst/>
              <a:gdLst/>
              <a:ahLst/>
              <a:cxnLst/>
              <a:rect l="l" t="t" r="r" b="b"/>
              <a:pathLst>
                <a:path w="12354051" h="512464">
                  <a:moveTo>
                    <a:pt x="0" y="0"/>
                  </a:moveTo>
                  <a:lnTo>
                    <a:pt x="12354051" y="0"/>
                  </a:lnTo>
                  <a:lnTo>
                    <a:pt x="12354051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728" b="-41972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1235405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Split the app into landing, auth, and dashboard pages with modals and toasts.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72676" y="9032186"/>
            <a:ext cx="15511196" cy="384353"/>
            <a:chOff x="0" y="0"/>
            <a:chExt cx="20681594" cy="51247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681598" cy="512464"/>
            </a:xfrm>
            <a:custGeom>
              <a:avLst/>
              <a:gdLst/>
              <a:ahLst/>
              <a:cxnLst/>
              <a:rect l="l" t="t" r="r" b="b"/>
              <a:pathLst>
                <a:path w="20681598" h="512464">
                  <a:moveTo>
                    <a:pt x="0" y="0"/>
                  </a:moveTo>
                  <a:lnTo>
                    <a:pt x="20681598" y="0"/>
                  </a:lnTo>
                  <a:lnTo>
                    <a:pt x="2068159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59" b="-73636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20681594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Main lesson: AWS cloud apps require code + IAM + API configuration + security to work together.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Results and lessons learned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final system is an end-to-end AWS serverless application with a real workflow.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782" y="1886664"/>
            <a:ext cx="2829230" cy="1456553"/>
            <a:chOff x="0" y="0"/>
            <a:chExt cx="3772306" cy="19420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31769" y="2090652"/>
            <a:ext cx="979932" cy="403412"/>
            <a:chOff x="0" y="0"/>
            <a:chExt cx="1306576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51108" y="2217620"/>
            <a:ext cx="979922" cy="219627"/>
            <a:chOff x="0" y="0"/>
            <a:chExt cx="1306563" cy="2928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306563" cy="163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Sample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82490" y="2484539"/>
            <a:ext cx="823608" cy="480431"/>
            <a:chOff x="0" y="0"/>
            <a:chExt cx="1098144" cy="6405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61000" y="2566902"/>
            <a:ext cx="1441304" cy="356892"/>
            <a:chOff x="0" y="0"/>
            <a:chExt cx="1921739" cy="4758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Sample Items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47655" y="1886664"/>
            <a:ext cx="2829230" cy="1456553"/>
            <a:chOff x="0" y="0"/>
            <a:chExt cx="3772306" cy="19420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451652" y="2090652"/>
            <a:ext cx="979932" cy="403412"/>
            <a:chOff x="0" y="0"/>
            <a:chExt cx="1306576" cy="5378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571000" y="2175681"/>
            <a:ext cx="741245" cy="219627"/>
            <a:chOff x="0" y="0"/>
            <a:chExt cx="988327" cy="2928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02363" y="2484539"/>
            <a:ext cx="823608" cy="480431"/>
            <a:chOff x="0" y="0"/>
            <a:chExt cx="1098144" cy="6405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5+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80873" y="2566902"/>
            <a:ext cx="1441304" cy="356892"/>
            <a:chOff x="0" y="0"/>
            <a:chExt cx="1921739" cy="4758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Services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67537" y="1886664"/>
            <a:ext cx="2829230" cy="1456553"/>
            <a:chOff x="0" y="0"/>
            <a:chExt cx="3772306" cy="19420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7471534" y="2090652"/>
            <a:ext cx="979932" cy="403412"/>
            <a:chOff x="0" y="0"/>
            <a:chExt cx="1306576" cy="5378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7590882" y="2175681"/>
            <a:ext cx="741245" cy="219627"/>
            <a:chOff x="0" y="0"/>
            <a:chExt cx="988327" cy="29283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22245" y="2484539"/>
            <a:ext cx="823608" cy="480431"/>
            <a:chOff x="0" y="0"/>
            <a:chExt cx="1098144" cy="64057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400755" y="2566902"/>
            <a:ext cx="1441304" cy="356892"/>
            <a:chOff x="0" y="0"/>
            <a:chExt cx="1921739" cy="4758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Roles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287419" y="1886664"/>
            <a:ext cx="2829230" cy="1456553"/>
            <a:chOff x="0" y="0"/>
            <a:chExt cx="3772306" cy="194207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491416" y="2090652"/>
            <a:ext cx="979932" cy="403412"/>
            <a:chOff x="0" y="0"/>
            <a:chExt cx="1306576" cy="5378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610755" y="2175681"/>
            <a:ext cx="741245" cy="219627"/>
            <a:chOff x="0" y="0"/>
            <a:chExt cx="988327" cy="29283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Bonus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42127" y="2484539"/>
            <a:ext cx="823608" cy="480431"/>
            <a:chOff x="0" y="0"/>
            <a:chExt cx="1098144" cy="64057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420637" y="2566902"/>
            <a:ext cx="1441304" cy="356892"/>
            <a:chOff x="0" y="0"/>
            <a:chExt cx="1921739" cy="475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Bonus Areas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07292" y="1886664"/>
            <a:ext cx="2829230" cy="1456553"/>
            <a:chOff x="0" y="0"/>
            <a:chExt cx="3772306" cy="194207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772281" cy="1942084"/>
            </a:xfrm>
            <a:custGeom>
              <a:avLst/>
              <a:gdLst/>
              <a:ahLst/>
              <a:cxnLst/>
              <a:rect l="l" t="t" r="r" b="b"/>
              <a:pathLst>
                <a:path w="3772281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624326" y="0"/>
                  </a:lnTo>
                  <a:cubicBezTo>
                    <a:pt x="3705987" y="0"/>
                    <a:pt x="3772281" y="66294"/>
                    <a:pt x="3772281" y="147955"/>
                  </a:cubicBezTo>
                  <a:lnTo>
                    <a:pt x="3772281" y="1794129"/>
                  </a:lnTo>
                  <a:cubicBezTo>
                    <a:pt x="3772281" y="1875790"/>
                    <a:pt x="3705987" y="1942084"/>
                    <a:pt x="3624326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511289" y="2090652"/>
            <a:ext cx="979932" cy="403412"/>
            <a:chOff x="0" y="0"/>
            <a:chExt cx="1306576" cy="53788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306576" cy="537845"/>
            </a:xfrm>
            <a:custGeom>
              <a:avLst/>
              <a:gdLst/>
              <a:ahLst/>
              <a:cxnLst/>
              <a:rect l="l" t="t" r="r" b="b"/>
              <a:pathLst>
                <a:path w="130657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1172083" y="0"/>
                  </a:lnTo>
                  <a:cubicBezTo>
                    <a:pt x="1246378" y="0"/>
                    <a:pt x="1306576" y="60198"/>
                    <a:pt x="1306576" y="134493"/>
                  </a:cubicBezTo>
                  <a:lnTo>
                    <a:pt x="1306576" y="403352"/>
                  </a:lnTo>
                  <a:cubicBezTo>
                    <a:pt x="1306576" y="477647"/>
                    <a:pt x="1246378" y="537845"/>
                    <a:pt x="117208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0891B2">
                <a:alpha val="2353"/>
              </a:srgbClr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3630637" y="2175681"/>
            <a:ext cx="741245" cy="219627"/>
            <a:chOff x="0" y="0"/>
            <a:chExt cx="988327" cy="29283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88324" cy="292837"/>
            </a:xfrm>
            <a:custGeom>
              <a:avLst/>
              <a:gdLst/>
              <a:ahLst/>
              <a:cxnLst/>
              <a:rect l="l" t="t" r="r" b="b"/>
              <a:pathLst>
                <a:path w="988324" h="292837">
                  <a:moveTo>
                    <a:pt x="0" y="0"/>
                  </a:moveTo>
                  <a:lnTo>
                    <a:pt x="988324" y="0"/>
                  </a:lnTo>
                  <a:lnTo>
                    <a:pt x="98832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62" b="-15762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9883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562000" y="2484539"/>
            <a:ext cx="823608" cy="480431"/>
            <a:chOff x="0" y="0"/>
            <a:chExt cx="1098144" cy="64057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8138" cy="640580"/>
            </a:xfrm>
            <a:custGeom>
              <a:avLst/>
              <a:gdLst/>
              <a:ahLst/>
              <a:cxnLst/>
              <a:rect l="l" t="t" r="r" b="b"/>
              <a:pathLst>
                <a:path w="1098138" h="640580">
                  <a:moveTo>
                    <a:pt x="0" y="0"/>
                  </a:moveTo>
                  <a:lnTo>
                    <a:pt x="1098138" y="0"/>
                  </a:lnTo>
                  <a:lnTo>
                    <a:pt x="10981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2" r="-2484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1098144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 dirty="0">
                  <a:solidFill>
                    <a:srgbClr val="0891B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440510" y="2566902"/>
            <a:ext cx="1441304" cy="356892"/>
            <a:chOff x="0" y="0"/>
            <a:chExt cx="1921739" cy="47585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921741" cy="475860"/>
            </a:xfrm>
            <a:custGeom>
              <a:avLst/>
              <a:gdLst/>
              <a:ahLst/>
              <a:cxnLst/>
              <a:rect l="l" t="t" r="r" b="b"/>
              <a:pathLst>
                <a:path w="1921741" h="475860">
                  <a:moveTo>
                    <a:pt x="0" y="0"/>
                  </a:moveTo>
                  <a:lnTo>
                    <a:pt x="1921741" y="0"/>
                  </a:lnTo>
                  <a:lnTo>
                    <a:pt x="192174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9" b="-2868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1921739" cy="475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Routes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96410" y="4110390"/>
            <a:ext cx="7496318" cy="3858730"/>
            <a:chOff x="0" y="0"/>
            <a:chExt cx="9995090" cy="514497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995027" cy="5144897"/>
            </a:xfrm>
            <a:custGeom>
              <a:avLst/>
              <a:gdLst/>
              <a:ahLst/>
              <a:cxnLst/>
              <a:rect l="l" t="t" r="r" b="b"/>
              <a:pathLst>
                <a:path w="9995027" h="514489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848088" y="0"/>
                  </a:lnTo>
                  <a:cubicBezTo>
                    <a:pt x="9929241" y="0"/>
                    <a:pt x="9995027" y="65786"/>
                    <a:pt x="9995027" y="146939"/>
                  </a:cubicBezTo>
                  <a:lnTo>
                    <a:pt x="9995027" y="4997958"/>
                  </a:lnTo>
                  <a:cubicBezTo>
                    <a:pt x="9995027" y="5079111"/>
                    <a:pt x="9929241" y="5144897"/>
                    <a:pt x="9848088" y="5144897"/>
                  </a:cubicBezTo>
                  <a:lnTo>
                    <a:pt x="146939" y="5144897"/>
                  </a:lnTo>
                  <a:cubicBezTo>
                    <a:pt x="65786" y="5145024"/>
                    <a:pt x="0" y="5079111"/>
                    <a:pt x="0" y="49979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706308" y="4451652"/>
            <a:ext cx="2352608" cy="403412"/>
            <a:chOff x="0" y="0"/>
            <a:chExt cx="3136811" cy="53788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136773" cy="537845"/>
            </a:xfrm>
            <a:custGeom>
              <a:avLst/>
              <a:gdLst/>
              <a:ahLst/>
              <a:cxnLst/>
              <a:rect l="l" t="t" r="r" b="b"/>
              <a:pathLst>
                <a:path w="3136773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002280" y="0"/>
                  </a:lnTo>
                  <a:cubicBezTo>
                    <a:pt x="3076575" y="0"/>
                    <a:pt x="3136773" y="60198"/>
                    <a:pt x="3136773" y="134493"/>
                  </a:cubicBezTo>
                  <a:lnTo>
                    <a:pt x="3136773" y="403352"/>
                  </a:lnTo>
                  <a:cubicBezTo>
                    <a:pt x="3136773" y="477647"/>
                    <a:pt x="3076575" y="537845"/>
                    <a:pt x="3002280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825657" y="4536681"/>
            <a:ext cx="2421998" cy="219627"/>
            <a:chOff x="0" y="0"/>
            <a:chExt cx="3229330" cy="29283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818554" cy="292837"/>
            </a:xfrm>
            <a:custGeom>
              <a:avLst/>
              <a:gdLst/>
              <a:ahLst/>
              <a:cxnLst/>
              <a:rect l="l" t="t" r="r" b="b"/>
              <a:pathLst>
                <a:path w="2818554" h="292837">
                  <a:moveTo>
                    <a:pt x="0" y="0"/>
                  </a:moveTo>
                  <a:lnTo>
                    <a:pt x="2818554" y="0"/>
                  </a:lnTo>
                  <a:lnTo>
                    <a:pt x="281855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543" b="-13754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1"/>
              <a:ext cx="3229330" cy="2095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Delivered features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706308" y="5357612"/>
            <a:ext cx="142608" cy="142608"/>
            <a:chOff x="0" y="0"/>
            <a:chExt cx="190144" cy="19014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962922" y="5284784"/>
            <a:ext cx="6039755" cy="439255"/>
            <a:chOff x="0" y="0"/>
            <a:chExt cx="8053006" cy="58567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Authentication, User/Admin roles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706308" y="6043955"/>
            <a:ext cx="142608" cy="142608"/>
            <a:chOff x="0" y="0"/>
            <a:chExt cx="190144" cy="19014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962922" y="5971127"/>
            <a:ext cx="6039755" cy="439255"/>
            <a:chOff x="0" y="0"/>
            <a:chExt cx="8053006" cy="58567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Item reporting with image upload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706308" y="6730289"/>
            <a:ext cx="142608" cy="142608"/>
            <a:chOff x="0" y="0"/>
            <a:chExt cx="190144" cy="19014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1962922" y="6657461"/>
            <a:ext cx="6039755" cy="439255"/>
            <a:chOff x="0" y="0"/>
            <a:chExt cx="8053006" cy="585673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AI labels, search, filters, status timeline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706308" y="7416622"/>
            <a:ext cx="142608" cy="142608"/>
            <a:chOff x="0" y="0"/>
            <a:chExt cx="190144" cy="19014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962922" y="7343794"/>
            <a:ext cx="6039755" cy="439255"/>
            <a:chOff x="0" y="0"/>
            <a:chExt cx="8053006" cy="58567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My Reports, My Claims, Admin Queue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257909" y="4110390"/>
            <a:ext cx="7496318" cy="3858730"/>
            <a:chOff x="0" y="0"/>
            <a:chExt cx="9995090" cy="514497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995027" cy="5144897"/>
            </a:xfrm>
            <a:custGeom>
              <a:avLst/>
              <a:gdLst/>
              <a:ahLst/>
              <a:cxnLst/>
              <a:rect l="l" t="t" r="r" b="b"/>
              <a:pathLst>
                <a:path w="9995027" h="514489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9848088" y="0"/>
                  </a:lnTo>
                  <a:cubicBezTo>
                    <a:pt x="9929241" y="0"/>
                    <a:pt x="9995027" y="65786"/>
                    <a:pt x="9995027" y="146939"/>
                  </a:cubicBezTo>
                  <a:lnTo>
                    <a:pt x="9995027" y="4997958"/>
                  </a:lnTo>
                  <a:cubicBezTo>
                    <a:pt x="9995027" y="5079111"/>
                    <a:pt x="9929241" y="5144897"/>
                    <a:pt x="9848088" y="5144897"/>
                  </a:cubicBezTo>
                  <a:lnTo>
                    <a:pt x="146939" y="5144897"/>
                  </a:lnTo>
                  <a:cubicBezTo>
                    <a:pt x="65786" y="5145024"/>
                    <a:pt x="0" y="5079111"/>
                    <a:pt x="0" y="49979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2" name="Group 102"/>
          <p:cNvGrpSpPr/>
          <p:nvPr/>
        </p:nvGrpSpPr>
        <p:grpSpPr>
          <a:xfrm>
            <a:off x="9667808" y="4451652"/>
            <a:ext cx="2352608" cy="403412"/>
            <a:chOff x="0" y="0"/>
            <a:chExt cx="3136811" cy="53788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136773" cy="537845"/>
            </a:xfrm>
            <a:custGeom>
              <a:avLst/>
              <a:gdLst/>
              <a:ahLst/>
              <a:cxnLst/>
              <a:rect l="l" t="t" r="r" b="b"/>
              <a:pathLst>
                <a:path w="3136773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3002280" y="0"/>
                  </a:lnTo>
                  <a:cubicBezTo>
                    <a:pt x="3076575" y="0"/>
                    <a:pt x="3136773" y="60198"/>
                    <a:pt x="3136773" y="134493"/>
                  </a:cubicBezTo>
                  <a:lnTo>
                    <a:pt x="3136773" y="403352"/>
                  </a:lnTo>
                  <a:cubicBezTo>
                    <a:pt x="3136773" y="477647"/>
                    <a:pt x="3076575" y="537845"/>
                    <a:pt x="3002280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9787157" y="4536681"/>
            <a:ext cx="2113912" cy="219627"/>
            <a:chOff x="0" y="0"/>
            <a:chExt cx="2818549" cy="292837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818554" cy="292837"/>
            </a:xfrm>
            <a:custGeom>
              <a:avLst/>
              <a:gdLst/>
              <a:ahLst/>
              <a:cxnLst/>
              <a:rect l="l" t="t" r="r" b="b"/>
              <a:pathLst>
                <a:path w="2818554" h="292837">
                  <a:moveTo>
                    <a:pt x="0" y="0"/>
                  </a:moveTo>
                  <a:lnTo>
                    <a:pt x="2818554" y="0"/>
                  </a:lnTo>
                  <a:lnTo>
                    <a:pt x="2818554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543" b="-137543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2818549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20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Lessons learned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667808" y="5357612"/>
            <a:ext cx="142608" cy="142608"/>
            <a:chOff x="0" y="0"/>
            <a:chExt cx="190144" cy="19014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9924421" y="5284784"/>
            <a:ext cx="6039755" cy="439255"/>
            <a:chOff x="0" y="0"/>
            <a:chExt cx="8053006" cy="58567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Serverless integration is powerful but configuration-heavy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667808" y="6043955"/>
            <a:ext cx="142608" cy="142608"/>
            <a:chOff x="0" y="0"/>
            <a:chExt cx="190144" cy="19014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9924421" y="5971127"/>
            <a:ext cx="6039755" cy="439255"/>
            <a:chOff x="0" y="0"/>
            <a:chExt cx="8053006" cy="58567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Least privilege IAM prevents overexposure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667808" y="6730289"/>
            <a:ext cx="142608" cy="142608"/>
            <a:chOff x="0" y="0"/>
            <a:chExt cx="190144" cy="19014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9924421" y="6657461"/>
            <a:ext cx="6039755" cy="439255"/>
            <a:chOff x="0" y="0"/>
            <a:chExt cx="8053006" cy="585673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Cognito groups should be enforced in backend, not only UI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9667808" y="7416622"/>
            <a:ext cx="142608" cy="142608"/>
            <a:chOff x="0" y="0"/>
            <a:chExt cx="190144" cy="19014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90246" cy="190246"/>
            </a:xfrm>
            <a:custGeom>
              <a:avLst/>
              <a:gdLst/>
              <a:ahLst/>
              <a:cxnLst/>
              <a:rect l="l" t="t" r="r" b="b"/>
              <a:pathLst>
                <a:path w="190246" h="19024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cubicBezTo>
                    <a:pt x="147701" y="0"/>
                    <a:pt x="190246" y="42545"/>
                    <a:pt x="190246" y="95123"/>
                  </a:cubicBezTo>
                  <a:cubicBezTo>
                    <a:pt x="190246" y="147701"/>
                    <a:pt x="147701" y="190246"/>
                    <a:pt x="95123" y="190246"/>
                  </a:cubicBezTo>
                  <a:cubicBezTo>
                    <a:pt x="42545" y="190246"/>
                    <a:pt x="0" y="147574"/>
                    <a:pt x="0" y="95123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9924421" y="7343794"/>
            <a:ext cx="6039755" cy="439255"/>
            <a:chOff x="0" y="0"/>
            <a:chExt cx="8053006" cy="585673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053012" cy="585674"/>
            </a:xfrm>
            <a:custGeom>
              <a:avLst/>
              <a:gdLst/>
              <a:ahLst/>
              <a:cxnLst/>
              <a:rect l="l" t="t" r="r" b="b"/>
              <a:pathLst>
                <a:path w="8053012" h="585674">
                  <a:moveTo>
                    <a:pt x="0" y="0"/>
                  </a:moveTo>
                  <a:lnTo>
                    <a:pt x="8053012" y="0"/>
                  </a:lnTo>
                  <a:lnTo>
                    <a:pt x="8053012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0"/>
              <a:ext cx="8053006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Monitoring and automation make apps production-like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Live demo — User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Show the regular user path: sign in, report item, browse, and claim.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1880" y="1845478"/>
            <a:ext cx="8251288" cy="7153151"/>
            <a:chOff x="0" y="0"/>
            <a:chExt cx="11001718" cy="95375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01756" cy="9537573"/>
            </a:xfrm>
            <a:custGeom>
              <a:avLst/>
              <a:gdLst/>
              <a:ahLst/>
              <a:cxnLst/>
              <a:rect l="l" t="t" r="r" b="b"/>
              <a:pathLst>
                <a:path w="11001756" h="9537573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855071" y="0"/>
                  </a:lnTo>
                  <a:cubicBezTo>
                    <a:pt x="10936097" y="0"/>
                    <a:pt x="11001756" y="65659"/>
                    <a:pt x="11001756" y="146685"/>
                  </a:cubicBezTo>
                  <a:lnTo>
                    <a:pt x="11001756" y="9390888"/>
                  </a:lnTo>
                  <a:cubicBezTo>
                    <a:pt x="11001756" y="9471914"/>
                    <a:pt x="10936097" y="9537573"/>
                    <a:pt x="10855071" y="9537573"/>
                  </a:cubicBezTo>
                  <a:lnTo>
                    <a:pt x="146685" y="9537573"/>
                  </a:lnTo>
                  <a:cubicBezTo>
                    <a:pt x="65659" y="9537573"/>
                    <a:pt x="0" y="9471914"/>
                    <a:pt x="0" y="93908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970030" y="2127647"/>
            <a:ext cx="2354990" cy="6588824"/>
            <a:chOff x="0" y="0"/>
            <a:chExt cx="3139986" cy="8785098"/>
          </a:xfrm>
        </p:grpSpPr>
        <p:sp>
          <p:nvSpPr>
            <p:cNvPr id="11" name="Freeform 11" descr="/mnt/data/image(5).png"/>
            <p:cNvSpPr/>
            <p:nvPr/>
          </p:nvSpPr>
          <p:spPr>
            <a:xfrm>
              <a:off x="0" y="0"/>
              <a:ext cx="3139948" cy="8785098"/>
            </a:xfrm>
            <a:custGeom>
              <a:avLst/>
              <a:gdLst/>
              <a:ahLst/>
              <a:cxnLst/>
              <a:rect l="l" t="t" r="r" b="b"/>
              <a:pathLst>
                <a:path w="3139948" h="8785098">
                  <a:moveTo>
                    <a:pt x="0" y="0"/>
                  </a:moveTo>
                  <a:lnTo>
                    <a:pt x="3139948" y="0"/>
                  </a:lnTo>
                  <a:lnTo>
                    <a:pt x="3139948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669713" y="1845478"/>
            <a:ext cx="7496318" cy="7153151"/>
            <a:chOff x="0" y="0"/>
            <a:chExt cx="9995090" cy="95375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95027" cy="9537573"/>
            </a:xfrm>
            <a:custGeom>
              <a:avLst/>
              <a:gdLst/>
              <a:ahLst/>
              <a:cxnLst/>
              <a:rect l="l" t="t" r="r" b="b"/>
              <a:pathLst>
                <a:path w="9995027" h="9537573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848342" y="0"/>
                  </a:lnTo>
                  <a:cubicBezTo>
                    <a:pt x="9929368" y="0"/>
                    <a:pt x="9995027" y="65659"/>
                    <a:pt x="9995027" y="146685"/>
                  </a:cubicBezTo>
                  <a:lnTo>
                    <a:pt x="9995027" y="9390888"/>
                  </a:lnTo>
                  <a:cubicBezTo>
                    <a:pt x="9995027" y="9471914"/>
                    <a:pt x="9929368" y="9537573"/>
                    <a:pt x="9848342" y="9537573"/>
                  </a:cubicBezTo>
                  <a:lnTo>
                    <a:pt x="146685" y="9537573"/>
                  </a:lnTo>
                  <a:cubicBezTo>
                    <a:pt x="65659" y="9537573"/>
                    <a:pt x="0" y="9471914"/>
                    <a:pt x="0" y="93908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079612" y="2255377"/>
            <a:ext cx="1803540" cy="403412"/>
            <a:chOff x="0" y="0"/>
            <a:chExt cx="2404720" cy="5378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04745" cy="537845"/>
            </a:xfrm>
            <a:custGeom>
              <a:avLst/>
              <a:gdLst/>
              <a:ahLst/>
              <a:cxnLst/>
              <a:rect l="l" t="t" r="r" b="b"/>
              <a:pathLst>
                <a:path w="2404745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270252" y="0"/>
                  </a:lnTo>
                  <a:cubicBezTo>
                    <a:pt x="2344547" y="0"/>
                    <a:pt x="2404745" y="60198"/>
                    <a:pt x="2404745" y="134493"/>
                  </a:cubicBezTo>
                  <a:lnTo>
                    <a:pt x="2404745" y="403352"/>
                  </a:lnTo>
                  <a:cubicBezTo>
                    <a:pt x="2404745" y="477647"/>
                    <a:pt x="2344547" y="537845"/>
                    <a:pt x="2270252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198960" y="2306162"/>
            <a:ext cx="4120667" cy="253872"/>
            <a:chOff x="0" y="-45660"/>
            <a:chExt cx="5494224" cy="3384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86462" cy="292837"/>
            </a:xfrm>
            <a:custGeom>
              <a:avLst/>
              <a:gdLst/>
              <a:ahLst/>
              <a:cxnLst/>
              <a:rect l="l" t="t" r="r" b="b"/>
              <a:pathLst>
                <a:path w="2086462" h="292837">
                  <a:moveTo>
                    <a:pt x="0" y="0"/>
                  </a:moveTo>
                  <a:lnTo>
                    <a:pt x="2086462" y="0"/>
                  </a:lnTo>
                  <a:lnTo>
                    <a:pt x="208646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830" b="-8883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3089478" y="-45660"/>
              <a:ext cx="2404746" cy="220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Demo workflow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79612" y="2941711"/>
            <a:ext cx="760305" cy="760305"/>
            <a:chOff x="0" y="0"/>
            <a:chExt cx="1013739" cy="10137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089147" y="3033608"/>
            <a:ext cx="741245" cy="494167"/>
            <a:chOff x="0" y="0"/>
            <a:chExt cx="988327" cy="6588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050010" y="3088510"/>
            <a:ext cx="5147520" cy="247079"/>
            <a:chOff x="0" y="0"/>
            <a:chExt cx="6863359" cy="3294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 dirty="0">
                  <a:solidFill>
                    <a:srgbClr val="111827"/>
                  </a:solidFill>
                  <a:latin typeface="Aptos" panose="020B0004020202020204" pitchFamily="34" charset="0"/>
                  <a:ea typeface="Aptos Bold"/>
                  <a:cs typeface="Aptos Bold"/>
                  <a:sym typeface="Aptos Bold"/>
                </a:rPr>
                <a:t>Open landing page and go to auth page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79612" y="3696681"/>
            <a:ext cx="760305" cy="760305"/>
            <a:chOff x="0" y="0"/>
            <a:chExt cx="1013739" cy="10137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089147" y="3788578"/>
            <a:ext cx="741245" cy="494167"/>
            <a:chOff x="0" y="0"/>
            <a:chExt cx="988327" cy="65888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050010" y="3843480"/>
            <a:ext cx="5147520" cy="247079"/>
            <a:chOff x="0" y="0"/>
            <a:chExt cx="6863359" cy="3294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 dirty="0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Login as regular User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79612" y="4451652"/>
            <a:ext cx="760305" cy="760305"/>
            <a:chOff x="0" y="0"/>
            <a:chExt cx="1013739" cy="10137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089147" y="4543549"/>
            <a:ext cx="741245" cy="494167"/>
            <a:chOff x="0" y="0"/>
            <a:chExt cx="988327" cy="65888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050010" y="4598451"/>
            <a:ext cx="5147520" cy="247079"/>
            <a:chOff x="0" y="0"/>
            <a:chExt cx="6863359" cy="3294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Add a found item with image preview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79612" y="5206622"/>
            <a:ext cx="760305" cy="760305"/>
            <a:chOff x="0" y="0"/>
            <a:chExt cx="1013739" cy="101373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089147" y="5298519"/>
            <a:ext cx="741245" cy="494167"/>
            <a:chOff x="0" y="0"/>
            <a:chExt cx="988327" cy="65888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050010" y="5353421"/>
            <a:ext cx="5147520" cy="247079"/>
            <a:chOff x="0" y="0"/>
            <a:chExt cx="6863359" cy="3294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Show AI labels and item card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79612" y="5961593"/>
            <a:ext cx="760305" cy="760305"/>
            <a:chOff x="0" y="0"/>
            <a:chExt cx="1013739" cy="101373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089147" y="6053490"/>
            <a:ext cx="741245" cy="494167"/>
            <a:chOff x="0" y="0"/>
            <a:chExt cx="988327" cy="6588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050010" y="6108392"/>
            <a:ext cx="5147520" cy="247079"/>
            <a:chOff x="0" y="0"/>
            <a:chExt cx="6863359" cy="3294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Use search and filters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079612" y="6716563"/>
            <a:ext cx="760305" cy="760305"/>
            <a:chOff x="0" y="0"/>
            <a:chExt cx="1013739" cy="101373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0089147" y="6808451"/>
            <a:ext cx="741245" cy="494167"/>
            <a:chOff x="0" y="0"/>
            <a:chExt cx="988327" cy="65888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6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050010" y="6863363"/>
            <a:ext cx="5147520" cy="247079"/>
            <a:chOff x="0" y="0"/>
            <a:chExt cx="6863359" cy="32943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Submit claim request with modal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079612" y="7471534"/>
            <a:ext cx="760305" cy="760305"/>
            <a:chOff x="0" y="0"/>
            <a:chExt cx="1013739" cy="101373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0089147" y="7563421"/>
            <a:ext cx="741245" cy="494167"/>
            <a:chOff x="0" y="0"/>
            <a:chExt cx="988327" cy="65888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7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1050010" y="7618333"/>
            <a:ext cx="5147520" cy="247079"/>
            <a:chOff x="0" y="0"/>
            <a:chExt cx="6863359" cy="32943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863362" cy="329441"/>
            </a:xfrm>
            <a:custGeom>
              <a:avLst/>
              <a:gdLst/>
              <a:ahLst/>
              <a:cxnLst/>
              <a:rect l="l" t="t" r="r" b="b"/>
              <a:pathLst>
                <a:path w="6863362" h="329441">
                  <a:moveTo>
                    <a:pt x="0" y="0"/>
                  </a:moveTo>
                  <a:lnTo>
                    <a:pt x="6863362" y="0"/>
                  </a:lnTo>
                  <a:lnTo>
                    <a:pt x="686336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5938" b="-355937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6863359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7"/>
                </a:lnSpc>
              </a:pPr>
              <a:r>
                <a:rPr lang="en-US" sz="1606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Open My Claims and show status timeline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Live demo — Admin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686" y="1304039"/>
            <a:ext cx="10706843" cy="452980"/>
            <a:chOff x="0" y="0"/>
            <a:chExt cx="14275791" cy="603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75794" cy="603976"/>
            </a:xfrm>
            <a:custGeom>
              <a:avLst/>
              <a:gdLst/>
              <a:ahLst/>
              <a:cxnLst/>
              <a:rect l="l" t="t" r="r" b="b"/>
              <a:pathLst>
                <a:path w="14275794" h="603976">
                  <a:moveTo>
                    <a:pt x="0" y="0"/>
                  </a:moveTo>
                  <a:lnTo>
                    <a:pt x="14275794" y="0"/>
                  </a:lnTo>
                  <a:lnTo>
                    <a:pt x="14275794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555" b="-4105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275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Show role-based control and backend security.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85064" y="3553692"/>
            <a:ext cx="1471813" cy="30509"/>
            <a:chOff x="0" y="0"/>
            <a:chExt cx="1962417" cy="40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603084" y="3553692"/>
            <a:ext cx="1471813" cy="30509"/>
            <a:chOff x="0" y="0"/>
            <a:chExt cx="1962417" cy="406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721094" y="3553692"/>
            <a:ext cx="1471813" cy="30509"/>
            <a:chOff x="0" y="0"/>
            <a:chExt cx="1962417" cy="406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404" cy="40640"/>
            </a:xfrm>
            <a:custGeom>
              <a:avLst/>
              <a:gdLst/>
              <a:ahLst/>
              <a:cxnLst/>
              <a:rect l="l" t="t" r="r" b="b"/>
              <a:pathLst>
                <a:path w="1962404" h="40640">
                  <a:moveTo>
                    <a:pt x="0" y="0"/>
                  </a:moveTo>
                  <a:lnTo>
                    <a:pt x="1962404" y="406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90842" b="-890936"/>
              </a:stretch>
            </a:blipFill>
            <a:ln w="30504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96410" y="2737723"/>
            <a:ext cx="3241034" cy="1662455"/>
            <a:chOff x="0" y="0"/>
            <a:chExt cx="4321378" cy="22166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500407" y="3120161"/>
            <a:ext cx="760305" cy="760305"/>
            <a:chOff x="0" y="0"/>
            <a:chExt cx="1013739" cy="10137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509941" y="3212049"/>
            <a:ext cx="741245" cy="494167"/>
            <a:chOff x="0" y="0"/>
            <a:chExt cx="988327" cy="658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470814" y="3074784"/>
            <a:ext cx="1715843" cy="315716"/>
            <a:chOff x="0" y="0"/>
            <a:chExt cx="2287791" cy="4209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7"/>
                </a:lnSpc>
              </a:pPr>
              <a:r>
                <a:rPr lang="en-US" sz="1831" b="1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Claimed item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470814" y="3541490"/>
            <a:ext cx="1757020" cy="521618"/>
            <a:chOff x="0" y="0"/>
            <a:chExt cx="2342693" cy="6954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342693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User submitted claim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14429" y="2737723"/>
            <a:ext cx="3241034" cy="1662455"/>
            <a:chOff x="0" y="0"/>
            <a:chExt cx="4321378" cy="22166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618426" y="3120161"/>
            <a:ext cx="760305" cy="760305"/>
            <a:chOff x="0" y="0"/>
            <a:chExt cx="1013739" cy="101373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627961" y="3212049"/>
            <a:ext cx="741245" cy="494167"/>
            <a:chOff x="0" y="0"/>
            <a:chExt cx="988327" cy="6588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88824" y="3074784"/>
            <a:ext cx="1715843" cy="315716"/>
            <a:chOff x="0" y="0"/>
            <a:chExt cx="2287791" cy="42095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7"/>
                </a:lnSpc>
              </a:pPr>
              <a:r>
                <a:rPr lang="en-US" sz="1831" b="1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Queue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588824" y="3541490"/>
            <a:ext cx="1757020" cy="521618"/>
            <a:chOff x="0" y="0"/>
            <a:chExt cx="2342693" cy="6954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342693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Admin reviews details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32449" y="2737723"/>
            <a:ext cx="3241034" cy="1662455"/>
            <a:chOff x="0" y="0"/>
            <a:chExt cx="4321378" cy="221660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736445" y="3120161"/>
            <a:ext cx="760305" cy="760305"/>
            <a:chOff x="0" y="0"/>
            <a:chExt cx="1013739" cy="101373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16A34A">
                <a:alpha val="1176"/>
              </a:srgbClr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745970" y="3212049"/>
            <a:ext cx="741245" cy="494167"/>
            <a:chOff x="0" y="0"/>
            <a:chExt cx="988327" cy="65888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706843" y="3074784"/>
            <a:ext cx="1715843" cy="315716"/>
            <a:chOff x="0" y="0"/>
            <a:chExt cx="2287791" cy="42095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7"/>
                </a:lnSpc>
              </a:pPr>
              <a:r>
                <a:rPr lang="en-US" sz="1831" b="1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 returned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706843" y="3541490"/>
            <a:ext cx="1757020" cy="521618"/>
            <a:chOff x="0" y="0"/>
            <a:chExt cx="2342693" cy="69549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2342693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Admin confirms action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50468" y="2737723"/>
            <a:ext cx="3241034" cy="1662455"/>
            <a:chOff x="0" y="0"/>
            <a:chExt cx="4321378" cy="221660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321429" cy="2216658"/>
            </a:xfrm>
            <a:custGeom>
              <a:avLst/>
              <a:gdLst/>
              <a:ahLst/>
              <a:cxnLst/>
              <a:rect l="l" t="t" r="r" b="b"/>
              <a:pathLst>
                <a:path w="4321429" h="221665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73601" y="0"/>
                  </a:lnTo>
                  <a:cubicBezTo>
                    <a:pt x="4255262" y="0"/>
                    <a:pt x="4321429" y="66167"/>
                    <a:pt x="4321429" y="147828"/>
                  </a:cubicBezTo>
                  <a:lnTo>
                    <a:pt x="4321429" y="2068830"/>
                  </a:lnTo>
                  <a:cubicBezTo>
                    <a:pt x="4321429" y="2150491"/>
                    <a:pt x="4255262" y="2216658"/>
                    <a:pt x="4173601" y="2216658"/>
                  </a:cubicBezTo>
                  <a:lnTo>
                    <a:pt x="147828" y="2216658"/>
                  </a:lnTo>
                  <a:cubicBezTo>
                    <a:pt x="66167" y="2216658"/>
                    <a:pt x="0" y="2150491"/>
                    <a:pt x="0" y="206883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3854455" y="3120161"/>
            <a:ext cx="760305" cy="760305"/>
            <a:chOff x="0" y="0"/>
            <a:chExt cx="1013739" cy="101373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13714" cy="1013714"/>
            </a:xfrm>
            <a:custGeom>
              <a:avLst/>
              <a:gdLst/>
              <a:ahLst/>
              <a:cxnLst/>
              <a:rect l="l" t="t" r="r" b="b"/>
              <a:pathLst>
                <a:path w="1013714" h="1013714">
                  <a:moveTo>
                    <a:pt x="0" y="506857"/>
                  </a:moveTo>
                  <a:cubicBezTo>
                    <a:pt x="0" y="226949"/>
                    <a:pt x="226949" y="0"/>
                    <a:pt x="506857" y="0"/>
                  </a:cubicBezTo>
                  <a:cubicBezTo>
                    <a:pt x="786765" y="0"/>
                    <a:pt x="1013714" y="226949"/>
                    <a:pt x="1013714" y="506857"/>
                  </a:cubicBezTo>
                  <a:cubicBezTo>
                    <a:pt x="1013714" y="786765"/>
                    <a:pt x="786765" y="1013714"/>
                    <a:pt x="506857" y="1013714"/>
                  </a:cubicBezTo>
                  <a:cubicBezTo>
                    <a:pt x="226949" y="1013714"/>
                    <a:pt x="0" y="786765"/>
                    <a:pt x="0" y="506857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3863990" y="3212049"/>
            <a:ext cx="741245" cy="494167"/>
            <a:chOff x="0" y="0"/>
            <a:chExt cx="988327" cy="65888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88324" cy="658883"/>
            </a:xfrm>
            <a:custGeom>
              <a:avLst/>
              <a:gdLst/>
              <a:ahLst/>
              <a:cxnLst/>
              <a:rect l="l" t="t" r="r" b="b"/>
              <a:pathLst>
                <a:path w="988324" h="658883">
                  <a:moveTo>
                    <a:pt x="0" y="0"/>
                  </a:moveTo>
                  <a:lnTo>
                    <a:pt x="988324" y="0"/>
                  </a:lnTo>
                  <a:lnTo>
                    <a:pt x="98832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6" r="-3553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988327" cy="658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824862" y="3074784"/>
            <a:ext cx="1715843" cy="315716"/>
            <a:chOff x="0" y="0"/>
            <a:chExt cx="2287791" cy="42095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87787" cy="420953"/>
            </a:xfrm>
            <a:custGeom>
              <a:avLst/>
              <a:gdLst/>
              <a:ahLst/>
              <a:cxnLst/>
              <a:rect l="l" t="t" r="r" b="b"/>
              <a:pathLst>
                <a:path w="2287787" h="420953">
                  <a:moveTo>
                    <a:pt x="0" y="0"/>
                  </a:moveTo>
                  <a:lnTo>
                    <a:pt x="2287787" y="0"/>
                  </a:lnTo>
                  <a:lnTo>
                    <a:pt x="2287787" y="420953"/>
                  </a:lnTo>
                  <a:lnTo>
                    <a:pt x="0" y="420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896" b="-55897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9525"/>
              <a:ext cx="2287791" cy="4114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7"/>
                </a:lnSpc>
              </a:pPr>
              <a:r>
                <a:rPr lang="en-US" sz="1831" b="1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Timeline updated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824862" y="3541490"/>
            <a:ext cx="1757020" cy="521618"/>
            <a:chOff x="0" y="0"/>
            <a:chExt cx="2342693" cy="69549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342694" cy="695487"/>
            </a:xfrm>
            <a:custGeom>
              <a:avLst/>
              <a:gdLst/>
              <a:ahLst/>
              <a:cxnLst/>
              <a:rect l="l" t="t" r="r" b="b"/>
              <a:pathLst>
                <a:path w="2342694" h="695487">
                  <a:moveTo>
                    <a:pt x="0" y="0"/>
                  </a:moveTo>
                  <a:lnTo>
                    <a:pt x="2342694" y="0"/>
                  </a:lnTo>
                  <a:lnTo>
                    <a:pt x="234269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3" b="-1563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2342693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9"/>
                </a:lnSpc>
              </a:pPr>
              <a:r>
                <a:rPr lang="en-US" sz="1291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ReturnedAt is stored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708214" y="5551694"/>
            <a:ext cx="6192279" cy="2417426"/>
            <a:chOff x="0" y="0"/>
            <a:chExt cx="8256372" cy="32232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256397" cy="3223260"/>
            </a:xfrm>
            <a:custGeom>
              <a:avLst/>
              <a:gdLst/>
              <a:ahLst/>
              <a:cxnLst/>
              <a:rect l="l" t="t" r="r" b="b"/>
              <a:pathLst>
                <a:path w="8256397" h="32232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8109077" y="0"/>
                  </a:lnTo>
                  <a:cubicBezTo>
                    <a:pt x="8190484" y="0"/>
                    <a:pt x="8256397" y="65913"/>
                    <a:pt x="8256397" y="147320"/>
                  </a:cubicBezTo>
                  <a:lnTo>
                    <a:pt x="8256397" y="3075940"/>
                  </a:lnTo>
                  <a:cubicBezTo>
                    <a:pt x="8256397" y="3157347"/>
                    <a:pt x="8190484" y="3223260"/>
                    <a:pt x="8109077" y="3223260"/>
                  </a:cubicBezTo>
                  <a:lnTo>
                    <a:pt x="147320" y="3223260"/>
                  </a:lnTo>
                  <a:cubicBezTo>
                    <a:pt x="65913" y="3223260"/>
                    <a:pt x="0" y="3157220"/>
                    <a:pt x="0" y="307594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2049475" y="5892956"/>
            <a:ext cx="2283971" cy="403412"/>
            <a:chOff x="0" y="0"/>
            <a:chExt cx="3045295" cy="53788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045333" cy="537845"/>
            </a:xfrm>
            <a:custGeom>
              <a:avLst/>
              <a:gdLst/>
              <a:ahLst/>
              <a:cxnLst/>
              <a:rect l="l" t="t" r="r" b="b"/>
              <a:pathLst>
                <a:path w="3045333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910840" y="0"/>
                  </a:lnTo>
                  <a:cubicBezTo>
                    <a:pt x="2985135" y="0"/>
                    <a:pt x="3045333" y="60198"/>
                    <a:pt x="3045333" y="134493"/>
                  </a:cubicBezTo>
                  <a:lnTo>
                    <a:pt x="3045333" y="403352"/>
                  </a:lnTo>
                  <a:cubicBezTo>
                    <a:pt x="3045333" y="477647"/>
                    <a:pt x="2985135" y="537845"/>
                    <a:pt x="2910840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7C3AED">
                <a:alpha val="2353"/>
              </a:srgbClr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2168823" y="5977985"/>
            <a:ext cx="2045284" cy="219627"/>
            <a:chOff x="0" y="0"/>
            <a:chExt cx="2727046" cy="292837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727042" cy="292837"/>
            </a:xfrm>
            <a:custGeom>
              <a:avLst/>
              <a:gdLst/>
              <a:ahLst/>
              <a:cxnLst/>
              <a:rect l="l" t="t" r="r" b="b"/>
              <a:pathLst>
                <a:path w="2727042" h="292837">
                  <a:moveTo>
                    <a:pt x="0" y="0"/>
                  </a:moveTo>
                  <a:lnTo>
                    <a:pt x="2727042" y="0"/>
                  </a:lnTo>
                  <a:lnTo>
                    <a:pt x="2727042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454" b="-13145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2727046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credentials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059010" y="6630010"/>
            <a:ext cx="5353421" cy="988324"/>
            <a:chOff x="0" y="0"/>
            <a:chExt cx="7137895" cy="131776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137897" cy="1317765"/>
            </a:xfrm>
            <a:custGeom>
              <a:avLst/>
              <a:gdLst/>
              <a:ahLst/>
              <a:cxnLst/>
              <a:rect l="l" t="t" r="r" b="b"/>
              <a:pathLst>
                <a:path w="7137897" h="1317765">
                  <a:moveTo>
                    <a:pt x="0" y="0"/>
                  </a:moveTo>
                  <a:lnTo>
                    <a:pt x="7137897" y="0"/>
                  </a:lnTo>
                  <a:lnTo>
                    <a:pt x="7137897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543" b="-5554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7137895" cy="1317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Login using a user assigned to the Cognito Admin group. Confirm that Admin Queue and Delete/Return actions appear only for Admin.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571576" y="5551694"/>
            <a:ext cx="7702220" cy="2417426"/>
            <a:chOff x="0" y="0"/>
            <a:chExt cx="10269626" cy="322323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269601" cy="3223260"/>
            </a:xfrm>
            <a:custGeom>
              <a:avLst/>
              <a:gdLst/>
              <a:ahLst/>
              <a:cxnLst/>
              <a:rect l="l" t="t" r="r" b="b"/>
              <a:pathLst>
                <a:path w="10269601" h="32232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122281" y="0"/>
                  </a:lnTo>
                  <a:cubicBezTo>
                    <a:pt x="10203688" y="0"/>
                    <a:pt x="10269601" y="65913"/>
                    <a:pt x="10269601" y="147320"/>
                  </a:cubicBezTo>
                  <a:lnTo>
                    <a:pt x="10269601" y="3075940"/>
                  </a:lnTo>
                  <a:cubicBezTo>
                    <a:pt x="10269601" y="3157347"/>
                    <a:pt x="10203688" y="3223260"/>
                    <a:pt x="10122281" y="3223260"/>
                  </a:cubicBezTo>
                  <a:lnTo>
                    <a:pt x="147320" y="3223260"/>
                  </a:lnTo>
                  <a:cubicBezTo>
                    <a:pt x="65913" y="3223260"/>
                    <a:pt x="0" y="3157220"/>
                    <a:pt x="0" y="307594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8912838" y="5892956"/>
            <a:ext cx="1940804" cy="403412"/>
            <a:chOff x="0" y="0"/>
            <a:chExt cx="2587739" cy="53788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587752" cy="537845"/>
            </a:xfrm>
            <a:custGeom>
              <a:avLst/>
              <a:gdLst/>
              <a:ahLst/>
              <a:cxnLst/>
              <a:rect l="l" t="t" r="r" b="b"/>
              <a:pathLst>
                <a:path w="2587752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453259" y="0"/>
                  </a:lnTo>
                  <a:cubicBezTo>
                    <a:pt x="2527554" y="0"/>
                    <a:pt x="2587752" y="60198"/>
                    <a:pt x="2587752" y="134493"/>
                  </a:cubicBezTo>
                  <a:lnTo>
                    <a:pt x="2587752" y="403352"/>
                  </a:lnTo>
                  <a:cubicBezTo>
                    <a:pt x="2587752" y="477647"/>
                    <a:pt x="2527554" y="537845"/>
                    <a:pt x="2453259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DC2626">
                <a:alpha val="2353"/>
              </a:srgbClr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9032186" y="5977985"/>
            <a:ext cx="1702117" cy="219627"/>
            <a:chOff x="0" y="0"/>
            <a:chExt cx="2269490" cy="29283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269485" cy="292837"/>
            </a:xfrm>
            <a:custGeom>
              <a:avLst/>
              <a:gdLst/>
              <a:ahLst/>
              <a:cxnLst/>
              <a:rect l="l" t="t" r="r" b="b"/>
              <a:pathLst>
                <a:path w="2269485" h="292837">
                  <a:moveTo>
                    <a:pt x="0" y="0"/>
                  </a:moveTo>
                  <a:lnTo>
                    <a:pt x="2269485" y="0"/>
                  </a:lnTo>
                  <a:lnTo>
                    <a:pt x="226948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009" b="-101009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2269490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3000" b="1" dirty="0">
                  <a:solidFill>
                    <a:srgbClr val="DC262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proof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922372" y="6630010"/>
            <a:ext cx="6794725" cy="988324"/>
            <a:chOff x="0" y="0"/>
            <a:chExt cx="9059634" cy="131776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059638" cy="1317765"/>
            </a:xfrm>
            <a:custGeom>
              <a:avLst/>
              <a:gdLst/>
              <a:ahLst/>
              <a:cxnLst/>
              <a:rect l="l" t="t" r="r" b="b"/>
              <a:pathLst>
                <a:path w="9059638" h="1317765">
                  <a:moveTo>
                    <a:pt x="0" y="0"/>
                  </a:moveTo>
                  <a:lnTo>
                    <a:pt x="9059638" y="0"/>
                  </a:lnTo>
                  <a:lnTo>
                    <a:pt x="9059638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9059634" cy="1317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111827"/>
                  </a:solidFill>
                  <a:latin typeface="Aptos"/>
                  <a:ea typeface="Aptos"/>
                  <a:cs typeface="Aptos"/>
                  <a:sym typeface="Aptos"/>
                </a:rPr>
                <a:t>Backend Lambda checks cognito:groups. If a normal user calls the admin endpoint manually, Lambda returns 403 Forbidden.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2235" y="576520"/>
            <a:ext cx="12079519" cy="686333"/>
            <a:chOff x="0" y="0"/>
            <a:chExt cx="16106026" cy="915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06023" cy="915115"/>
            </a:xfrm>
            <a:custGeom>
              <a:avLst/>
              <a:gdLst/>
              <a:ahLst/>
              <a:cxnLst/>
              <a:rect l="l" t="t" r="r" b="b"/>
              <a:pathLst>
                <a:path w="16106023" h="915115">
                  <a:moveTo>
                    <a:pt x="0" y="0"/>
                  </a:moveTo>
                  <a:lnTo>
                    <a:pt x="16106023" y="0"/>
                  </a:lnTo>
                  <a:lnTo>
                    <a:pt x="1610602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06026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endParaRPr lang="en-US" sz="4203" b="1" dirty="0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0508" y="2120017"/>
            <a:ext cx="4888240" cy="4545073"/>
            <a:chOff x="0" y="0"/>
            <a:chExt cx="6517653" cy="60600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31769" y="2488730"/>
            <a:ext cx="2215344" cy="403412"/>
            <a:chOff x="0" y="0"/>
            <a:chExt cx="2953791" cy="53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3766" cy="537845"/>
            </a:xfrm>
            <a:custGeom>
              <a:avLst/>
              <a:gdLst/>
              <a:ahLst/>
              <a:cxnLst/>
              <a:rect l="l" t="t" r="r" b="b"/>
              <a:pathLst>
                <a:path w="295376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819273" y="0"/>
                  </a:lnTo>
                  <a:cubicBezTo>
                    <a:pt x="2893568" y="0"/>
                    <a:pt x="2953766" y="60198"/>
                    <a:pt x="2953766" y="134493"/>
                  </a:cubicBezTo>
                  <a:lnTo>
                    <a:pt x="2953766" y="403352"/>
                  </a:lnTo>
                  <a:cubicBezTo>
                    <a:pt x="2953766" y="477647"/>
                    <a:pt x="2893568" y="537845"/>
                    <a:pt x="281927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16A34A">
                <a:alpha val="2353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51118" y="2573760"/>
            <a:ext cx="2086460" cy="219627"/>
            <a:chOff x="0" y="0"/>
            <a:chExt cx="2781946" cy="2928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781946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3010" b="1" dirty="0">
                  <a:solidFill>
                    <a:srgbClr val="16A3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Application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37392" y="3363049"/>
            <a:ext cx="3980755" cy="2127647"/>
            <a:chOff x="0" y="0"/>
            <a:chExt cx="5307673" cy="28368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307673" cy="28463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Landing, Auth, Dashboard, Claim Modal, Admin Queue, Timeline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7105" y="2120017"/>
            <a:ext cx="4888240" cy="4545073"/>
            <a:chOff x="0" y="0"/>
            <a:chExt cx="6517653" cy="60600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128367" y="2488730"/>
            <a:ext cx="2215344" cy="403412"/>
            <a:chOff x="0" y="0"/>
            <a:chExt cx="2953791" cy="5378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53766" cy="537845"/>
            </a:xfrm>
            <a:custGeom>
              <a:avLst/>
              <a:gdLst/>
              <a:ahLst/>
              <a:cxnLst/>
              <a:rect l="l" t="t" r="r" b="b"/>
              <a:pathLst>
                <a:path w="295376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819273" y="0"/>
                  </a:lnTo>
                  <a:cubicBezTo>
                    <a:pt x="2893568" y="0"/>
                    <a:pt x="2953766" y="60198"/>
                    <a:pt x="2953766" y="134493"/>
                  </a:cubicBezTo>
                  <a:lnTo>
                    <a:pt x="2953766" y="403352"/>
                  </a:lnTo>
                  <a:cubicBezTo>
                    <a:pt x="2953766" y="477647"/>
                    <a:pt x="2893568" y="537845"/>
                    <a:pt x="281927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2563EB">
                <a:alpha val="2353"/>
              </a:srgbClr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247706" y="2573760"/>
            <a:ext cx="2437247" cy="219627"/>
            <a:chOff x="0" y="0"/>
            <a:chExt cx="3249662" cy="2928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249662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3000" b="1" dirty="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Console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33980" y="3363049"/>
            <a:ext cx="3980755" cy="2127647"/>
            <a:chOff x="0" y="0"/>
            <a:chExt cx="5307673" cy="28368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307673" cy="28463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DynamoDB, S3, Lambda, API Gateway, IAM, Cognito, SNS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83694" y="2120017"/>
            <a:ext cx="4888240" cy="4545073"/>
            <a:chOff x="0" y="0"/>
            <a:chExt cx="6517653" cy="606009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17640" cy="6060186"/>
            </a:xfrm>
            <a:custGeom>
              <a:avLst/>
              <a:gdLst/>
              <a:ahLst/>
              <a:cxnLst/>
              <a:rect l="l" t="t" r="r" b="b"/>
              <a:pathLst>
                <a:path w="6517640" h="6060186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65786"/>
                    <a:pt x="6517640" y="146939"/>
                  </a:cubicBezTo>
                  <a:lnTo>
                    <a:pt x="6517640" y="5913247"/>
                  </a:lnTo>
                  <a:cubicBezTo>
                    <a:pt x="6517640" y="5994400"/>
                    <a:pt x="6451854" y="6060186"/>
                    <a:pt x="6370701" y="6060186"/>
                  </a:cubicBezTo>
                  <a:lnTo>
                    <a:pt x="146939" y="6060186"/>
                  </a:lnTo>
                  <a:cubicBezTo>
                    <a:pt x="65786" y="6060059"/>
                    <a:pt x="0" y="5994273"/>
                    <a:pt x="0" y="59132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2824955" y="2488730"/>
            <a:ext cx="2215344" cy="403412"/>
            <a:chOff x="0" y="0"/>
            <a:chExt cx="2953791" cy="5378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53766" cy="537845"/>
            </a:xfrm>
            <a:custGeom>
              <a:avLst/>
              <a:gdLst/>
              <a:ahLst/>
              <a:cxnLst/>
              <a:rect l="l" t="t" r="r" b="b"/>
              <a:pathLst>
                <a:path w="2953766" h="537845">
                  <a:moveTo>
                    <a:pt x="0" y="134493"/>
                  </a:moveTo>
                  <a:cubicBezTo>
                    <a:pt x="0" y="60198"/>
                    <a:pt x="60198" y="0"/>
                    <a:pt x="134493" y="0"/>
                  </a:cubicBezTo>
                  <a:lnTo>
                    <a:pt x="2819273" y="0"/>
                  </a:lnTo>
                  <a:cubicBezTo>
                    <a:pt x="2893568" y="0"/>
                    <a:pt x="2953766" y="60198"/>
                    <a:pt x="2953766" y="134493"/>
                  </a:cubicBezTo>
                  <a:lnTo>
                    <a:pt x="2953766" y="403352"/>
                  </a:lnTo>
                  <a:cubicBezTo>
                    <a:pt x="2953766" y="477647"/>
                    <a:pt x="2893568" y="537845"/>
                    <a:pt x="2819273" y="537845"/>
                  </a:cubicBezTo>
                  <a:lnTo>
                    <a:pt x="134493" y="537845"/>
                  </a:lnTo>
                  <a:cubicBezTo>
                    <a:pt x="60198" y="537845"/>
                    <a:pt x="0" y="477647"/>
                    <a:pt x="0" y="403352"/>
                  </a:cubicBezTo>
                  <a:close/>
                </a:path>
              </a:pathLst>
            </a:custGeom>
            <a:solidFill>
              <a:srgbClr val="F59E0B">
                <a:alpha val="2353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944304" y="2573760"/>
            <a:ext cx="3133896" cy="219627"/>
            <a:chOff x="0" y="0"/>
            <a:chExt cx="4178527" cy="29283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35531" cy="292837"/>
            </a:xfrm>
            <a:custGeom>
              <a:avLst/>
              <a:gdLst/>
              <a:ahLst/>
              <a:cxnLst/>
              <a:rect l="l" t="t" r="r" b="b"/>
              <a:pathLst>
                <a:path w="2635531" h="292837">
                  <a:moveTo>
                    <a:pt x="0" y="0"/>
                  </a:moveTo>
                  <a:lnTo>
                    <a:pt x="2635531" y="0"/>
                  </a:lnTo>
                  <a:lnTo>
                    <a:pt x="2635531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178527" cy="292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33"/>
                </a:lnSpc>
              </a:pPr>
              <a:r>
                <a:rPr lang="en-US" sz="3000" b="1" dirty="0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Bonus Evidence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930578" y="3363049"/>
            <a:ext cx="3980755" cy="2127647"/>
            <a:chOff x="0" y="0"/>
            <a:chExt cx="5307673" cy="28368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07667" cy="2836856"/>
            </a:xfrm>
            <a:custGeom>
              <a:avLst/>
              <a:gdLst/>
              <a:ahLst/>
              <a:cxnLst/>
              <a:rect l="l" t="t" r="r" b="b"/>
              <a:pathLst>
                <a:path w="5307667" h="2836856">
                  <a:moveTo>
                    <a:pt x="0" y="0"/>
                  </a:moveTo>
                  <a:lnTo>
                    <a:pt x="5307667" y="0"/>
                  </a:lnTo>
                  <a:lnTo>
                    <a:pt x="5307667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6" r="-1857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5307673" cy="28463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11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CloudWatch Alarm/Logs, EventBridge Rule, S3 private/pre-signed URLs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284877" y="7471534"/>
            <a:ext cx="11755412" cy="952481"/>
            <a:chOff x="0" y="0"/>
            <a:chExt cx="15673883" cy="12699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73960" cy="1270000"/>
            </a:xfrm>
            <a:custGeom>
              <a:avLst/>
              <a:gdLst/>
              <a:ahLst/>
              <a:cxnLst/>
              <a:rect l="l" t="t" r="r" b="b"/>
              <a:pathLst>
                <a:path w="15673960" h="1270000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15449804" y="0"/>
                  </a:lnTo>
                  <a:cubicBezTo>
                    <a:pt x="15573629" y="0"/>
                    <a:pt x="15673960" y="100330"/>
                    <a:pt x="15673960" y="224155"/>
                  </a:cubicBezTo>
                  <a:lnTo>
                    <a:pt x="15673960" y="1045845"/>
                  </a:lnTo>
                  <a:cubicBezTo>
                    <a:pt x="15673960" y="1169670"/>
                    <a:pt x="15573629" y="1270000"/>
                    <a:pt x="15449804" y="1270000"/>
                  </a:cubicBezTo>
                  <a:lnTo>
                    <a:pt x="224155" y="1270000"/>
                  </a:lnTo>
                  <a:cubicBezTo>
                    <a:pt x="100330" y="1270000"/>
                    <a:pt x="0" y="1169670"/>
                    <a:pt x="0" y="1045845"/>
                  </a:cubicBezTo>
                  <a:close/>
                </a:path>
              </a:pathLst>
            </a:custGeom>
            <a:solidFill>
              <a:srgbClr val="0F172A"/>
            </a:solidFill>
            <a:ln w="19065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637578" y="7796774"/>
            <a:ext cx="11050010" cy="274539"/>
            <a:chOff x="0" y="0"/>
            <a:chExt cx="14733346" cy="3660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733350" cy="366046"/>
            </a:xfrm>
            <a:custGeom>
              <a:avLst/>
              <a:gdLst/>
              <a:ahLst/>
              <a:cxnLst/>
              <a:rect l="l" t="t" r="r" b="b"/>
              <a:pathLst>
                <a:path w="14733350" h="366046">
                  <a:moveTo>
                    <a:pt x="0" y="0"/>
                  </a:moveTo>
                  <a:lnTo>
                    <a:pt x="14733350" y="0"/>
                  </a:lnTo>
                  <a:lnTo>
                    <a:pt x="1473335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271" b="-73427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4733346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 — 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1073</Words>
  <Application>Microsoft Office PowerPoint</Application>
  <PresentationFormat>مخصص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7" baseType="lpstr">
      <vt:lpstr>Calibri</vt:lpstr>
      <vt:lpstr>Aptos Bold</vt:lpstr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Smart_Lost_and_Found_Presentation.pptx</dc:title>
  <dc:creator>home</dc:creator>
  <cp:lastModifiedBy>home</cp:lastModifiedBy>
  <cp:revision>3</cp:revision>
  <dcterms:created xsi:type="dcterms:W3CDTF">2006-08-16T00:00:00Z</dcterms:created>
  <dcterms:modified xsi:type="dcterms:W3CDTF">2026-06-25T23:10:58Z</dcterms:modified>
  <dc:identifier>DAHNnpc_74M</dc:identifier>
</cp:coreProperties>
</file>