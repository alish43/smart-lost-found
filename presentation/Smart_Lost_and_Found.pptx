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ptos Bold" panose="020B0004020202020204" charset="0"/>
      <p:regular r:id="rId15"/>
      <p:bold r:id="rId16"/>
    </p:embeddedFont>
    <p:embeddedFont>
      <p:font typeface="David" panose="020E0502060401010101" pitchFamily="34" charset="-79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907A-31FE-64F7-C922-C8B91E4A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AFF849-AA24-D535-DE4A-C07D58B35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6BDF8-53AB-C972-53D7-4EA098FFE1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25C960-2A1B-E568-BE23-1A0D06D14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4DA78D-A7F3-EA26-C999-F81B9E045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CB0AD-772B-37DE-221B-4611479410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1403-37EF-9AEF-B59C-F6A2A4D4C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12594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35402" y="1096031"/>
            <a:ext cx="16739635" cy="1745404"/>
            <a:chOff x="0" y="-826416"/>
            <a:chExt cx="22319513" cy="23272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79517" cy="1500789"/>
            </a:xfrm>
            <a:custGeom>
              <a:avLst/>
              <a:gdLst/>
              <a:ahLst/>
              <a:cxnLst/>
              <a:rect l="l" t="t" r="r" b="b"/>
              <a:pathLst>
                <a:path w="12079517" h="1500789">
                  <a:moveTo>
                    <a:pt x="0" y="0"/>
                  </a:moveTo>
                  <a:lnTo>
                    <a:pt x="12079517" y="0"/>
                  </a:lnTo>
                  <a:lnTo>
                    <a:pt x="12079517" y="1500789"/>
                  </a:lnTo>
                  <a:lnTo>
                    <a:pt x="0" y="15007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30" b="-106830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39997" y="-826416"/>
              <a:ext cx="12079516" cy="15007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5200"/>
                </a:lnSpc>
              </a:pPr>
              <a:r>
                <a:rPr lang="en-US" sz="4600" b="1" dirty="0" err="1">
                  <a:solidFill>
                    <a:srgbClr val="FFFFFF"/>
                  </a:solidFill>
                  <a:latin typeface="David" panose="020E0502060401010101" pitchFamily="34" charset="-79"/>
                  <a:ea typeface="Aptos Bold"/>
                  <a:cs typeface="David" panose="020E0502060401010101" pitchFamily="34" charset="-79"/>
                  <a:sym typeface="Aptos Bold"/>
                </a:rPr>
                <a:t>מערכת</a:t>
              </a:r>
              <a:r>
                <a:rPr lang="en-US" sz="4600" b="1" dirty="0">
                  <a:solidFill>
                    <a:srgbClr val="FFFFFF"/>
                  </a:solidFill>
                  <a:latin typeface="David" panose="020E0502060401010101" pitchFamily="34" charset="-79"/>
                  <a:ea typeface="Aptos Bold"/>
                  <a:cs typeface="David" panose="020E0502060401010101" pitchFamily="34" charset="-79"/>
                  <a:sym typeface="Aptos Bold"/>
                </a:rPr>
                <a:t> אבידות ומציאות </a:t>
              </a:r>
              <a:r>
                <a:rPr lang="en-US" sz="4600" b="1" dirty="0" err="1">
                  <a:solidFill>
                    <a:srgbClr val="FFFFFF"/>
                  </a:solidFill>
                  <a:latin typeface="David" panose="020E0502060401010101" pitchFamily="34" charset="-79"/>
                  <a:ea typeface="Aptos Bold"/>
                  <a:cs typeface="David" panose="020E0502060401010101" pitchFamily="34" charset="-79"/>
                  <a:sym typeface="Aptos Bold"/>
                </a:rPr>
                <a:t>חכמה</a:t>
              </a:r>
              <a:endParaRPr lang="en-US" sz="4600" b="1" dirty="0">
                <a:solidFill>
                  <a:srgbClr val="FFFFFF"/>
                </a:solidFill>
                <a:latin typeface="David" panose="020E0502060401010101" pitchFamily="34" charset="-79"/>
                <a:ea typeface="Aptos Bold"/>
                <a:cs typeface="David" panose="020E0502060401010101" pitchFamily="34" charset="-79"/>
                <a:sym typeface="Apto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96143" y="2323602"/>
            <a:ext cx="8510568" cy="576520"/>
            <a:chOff x="0" y="0"/>
            <a:chExt cx="11347425" cy="7686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47425" cy="768697"/>
            </a:xfrm>
            <a:custGeom>
              <a:avLst/>
              <a:gdLst/>
              <a:ahLst/>
              <a:cxnLst/>
              <a:rect l="l" t="t" r="r" b="b"/>
              <a:pathLst>
                <a:path w="11347425" h="768697">
                  <a:moveTo>
                    <a:pt x="0" y="0"/>
                  </a:moveTo>
                  <a:lnTo>
                    <a:pt x="11347425" y="0"/>
                  </a:lnTo>
                  <a:lnTo>
                    <a:pt x="1134742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36" b="-2376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1347425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3152"/>
                </a:lnSpc>
              </a:pPr>
              <a:r>
                <a:rPr lang="en-US" sz="2800" dirty="0" err="1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פלטפורמת</a:t>
              </a:r>
              <a:r>
                <a:rPr lang="en-US" sz="2800" dirty="0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אבידות ומציאות </a:t>
              </a:r>
              <a:r>
                <a:rPr lang="en-US" sz="2800" dirty="0" err="1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לקמפוס</a:t>
              </a:r>
              <a:r>
                <a:rPr lang="en-US" sz="2800" dirty="0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</a:t>
              </a:r>
              <a:r>
                <a:rPr lang="en-US" sz="2800" dirty="0" err="1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מבוססת</a:t>
              </a:r>
              <a:r>
                <a:rPr lang="en-US" sz="2800" dirty="0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AI </a:t>
              </a:r>
              <a:r>
                <a:rPr lang="en-US" sz="2800" dirty="0" err="1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על</a:t>
              </a:r>
              <a:r>
                <a:rPr lang="en-US" sz="2800" dirty="0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</a:t>
              </a:r>
              <a:r>
                <a:rPr lang="en-US" sz="2800" dirty="0" err="1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גבי</a:t>
              </a:r>
              <a:r>
                <a:rPr lang="en-US" sz="2800" dirty="0">
                  <a:solidFill>
                    <a:srgbClr val="DBEAFE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AWS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C2D21BF-FDA3-0597-23A2-862373B0E1D0}"/>
              </a:ext>
            </a:extLst>
          </p:cNvPr>
          <p:cNvGrpSpPr/>
          <p:nvPr/>
        </p:nvGrpSpPr>
        <p:grpSpPr>
          <a:xfrm>
            <a:off x="11822796" y="3285437"/>
            <a:ext cx="3244844" cy="595589"/>
            <a:chOff x="1253328" y="3916309"/>
            <a:chExt cx="3244844" cy="595589"/>
          </a:xfrm>
        </p:grpSpPr>
        <p:grpSp>
          <p:nvGrpSpPr>
            <p:cNvPr id="10" name="Group 10"/>
            <p:cNvGrpSpPr/>
            <p:nvPr/>
          </p:nvGrpSpPr>
          <p:grpSpPr>
            <a:xfrm>
              <a:off x="1253328" y="3916309"/>
              <a:ext cx="3244844" cy="595589"/>
              <a:chOff x="0" y="0"/>
              <a:chExt cx="4326458" cy="79411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326509" cy="794131"/>
              </a:xfrm>
              <a:custGeom>
                <a:avLst/>
                <a:gdLst/>
                <a:ahLst/>
                <a:cxnLst/>
                <a:rect l="l" t="t" r="r" b="b"/>
                <a:pathLst>
                  <a:path w="4326509" h="794131">
                    <a:moveTo>
                      <a:pt x="0" y="151257"/>
                    </a:moveTo>
                    <a:cubicBezTo>
                      <a:pt x="0" y="67691"/>
                      <a:pt x="67691" y="0"/>
                      <a:pt x="151257" y="0"/>
                    </a:cubicBezTo>
                    <a:lnTo>
                      <a:pt x="4175252" y="0"/>
                    </a:lnTo>
                    <a:cubicBezTo>
                      <a:pt x="4258818" y="0"/>
                      <a:pt x="4326509" y="67691"/>
                      <a:pt x="4326509" y="151257"/>
                    </a:cubicBezTo>
                    <a:lnTo>
                      <a:pt x="4326509" y="642874"/>
                    </a:lnTo>
                    <a:cubicBezTo>
                      <a:pt x="4326509" y="726440"/>
                      <a:pt x="4258818" y="794131"/>
                      <a:pt x="4175252" y="794131"/>
                    </a:cubicBezTo>
                    <a:lnTo>
                      <a:pt x="151257" y="794131"/>
                    </a:lnTo>
                    <a:cubicBezTo>
                      <a:pt x="67691" y="794131"/>
                      <a:pt x="0" y="726440"/>
                      <a:pt x="0" y="642874"/>
                    </a:cubicBezTo>
                    <a:close/>
                  </a:path>
                </a:pathLst>
              </a:custGeom>
              <a:solidFill>
                <a:srgbClr val="F59E0B"/>
              </a:solidFill>
              <a:ln w="19065" cap="sq">
                <a:solidFill>
                  <a:srgbClr val="F59E0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L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468753" y="4063108"/>
              <a:ext cx="2813980" cy="366729"/>
              <a:chOff x="-3" y="0"/>
              <a:chExt cx="3751974" cy="48897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751971" cy="329441"/>
              </a:xfrm>
              <a:custGeom>
                <a:avLst/>
                <a:gdLst/>
                <a:ahLst/>
                <a:cxnLst/>
                <a:rect l="l" t="t" r="r" b="b"/>
                <a:pathLst>
                  <a:path w="3751971" h="329441">
                    <a:moveTo>
                      <a:pt x="0" y="0"/>
                    </a:moveTo>
                    <a:lnTo>
                      <a:pt x="3751971" y="0"/>
                    </a:lnTo>
                    <a:lnTo>
                      <a:pt x="3751971" y="329441"/>
                    </a:lnTo>
                    <a:lnTo>
                      <a:pt x="0" y="32944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1913" b="-171912"/>
                </a:stretch>
              </a:blipFill>
            </p:spPr>
            <p:txBody>
              <a:bodyPr/>
              <a:lstStyle/>
              <a:p>
                <a:endParaRPr lang="en-IL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-3" y="159533"/>
                <a:ext cx="3751974" cy="32943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 rtl="1">
                  <a:lnSpc>
                    <a:spcPts val="1585"/>
                  </a:lnSpc>
                </a:pPr>
                <a:r>
                  <a:rPr lang="en-US" sz="2800" b="1" dirty="0">
                    <a:solidFill>
                      <a:srgbClr val="0F172A"/>
                    </a:solidFill>
                    <a:latin typeface="David" panose="020E0502060401010101" pitchFamily="34" charset="-79"/>
                    <a:ea typeface="Aptos Bold"/>
                    <a:cs typeface="David" panose="020E0502060401010101" pitchFamily="34" charset="-79"/>
                    <a:sym typeface="Aptos Bold"/>
                  </a:rPr>
                  <a:t>ניהול ענן AWS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290314" y="4879595"/>
            <a:ext cx="14769950" cy="3589795"/>
            <a:chOff x="0" y="-3779766"/>
            <a:chExt cx="19693264" cy="47863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03943" cy="1006625"/>
            </a:xfrm>
            <a:custGeom>
              <a:avLst/>
              <a:gdLst/>
              <a:ahLst/>
              <a:cxnLst/>
              <a:rect l="l" t="t" r="r" b="b"/>
              <a:pathLst>
                <a:path w="7503943" h="1006625">
                  <a:moveTo>
                    <a:pt x="0" y="0"/>
                  </a:moveTo>
                  <a:lnTo>
                    <a:pt x="7503943" y="0"/>
                  </a:lnTo>
                  <a:lnTo>
                    <a:pt x="7503943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89317" y="-3779766"/>
              <a:ext cx="7503947" cy="20108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197"/>
                </a:lnSpc>
              </a:pPr>
              <a:r>
                <a:rPr lang="en-US" sz="2800" dirty="0" err="1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חברי</a:t>
              </a:r>
              <a:r>
                <a:rPr lang="en-US" sz="2800" dirty="0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 </a:t>
              </a:r>
              <a:r>
                <a:rPr lang="en-US" sz="2800" dirty="0" err="1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הקבוצה</a:t>
              </a:r>
              <a:r>
                <a:rPr lang="he-IL" sz="2800" dirty="0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:</a:t>
              </a:r>
            </a:p>
            <a:p>
              <a:pPr algn="ctr" rtl="1">
                <a:lnSpc>
                  <a:spcPts val="2197"/>
                </a:lnSpc>
              </a:pPr>
              <a:endParaRPr lang="en-US" sz="2800" dirty="0">
                <a:solidFill>
                  <a:srgbClr val="E5E7EB"/>
                </a:solidFill>
                <a:latin typeface="David" panose="020E0502060401010101" pitchFamily="34" charset="-79"/>
                <a:ea typeface="Aptos"/>
                <a:cs typeface="David" panose="020E0502060401010101" pitchFamily="34" charset="-79"/>
                <a:sym typeface="Aptos"/>
              </a:endParaRPr>
            </a:p>
            <a:p>
              <a:pPr algn="ctr" rtl="1">
                <a:lnSpc>
                  <a:spcPts val="2197"/>
                </a:lnSpc>
              </a:pPr>
              <a:r>
                <a:rPr lang="he-IL" sz="2800" dirty="0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חסן מסלח:213935158</a:t>
              </a:r>
            </a:p>
            <a:p>
              <a:pPr algn="ctr" rtl="1">
                <a:lnSpc>
                  <a:spcPts val="2197"/>
                </a:lnSpc>
              </a:pPr>
              <a:r>
                <a:rPr lang="he-IL" sz="2800" dirty="0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עלי שוויכי:213942014</a:t>
              </a:r>
            </a:p>
            <a:p>
              <a:pPr algn="ctr" rtl="1">
                <a:lnSpc>
                  <a:spcPts val="2197"/>
                </a:lnSpc>
              </a:pPr>
              <a:r>
                <a:rPr lang="he-IL" sz="2800" dirty="0">
                  <a:solidFill>
                    <a:srgbClr val="E5E7EB"/>
                  </a:solidFill>
                  <a:latin typeface="David" panose="020E0502060401010101" pitchFamily="34" charset="-79"/>
                  <a:ea typeface="Aptos"/>
                  <a:cs typeface="David" panose="020E0502060401010101" pitchFamily="34" charset="-79"/>
                  <a:sym typeface="Aptos"/>
                </a:rPr>
                <a:t>מואיד תמימי:324109826</a:t>
              </a:r>
              <a:endParaRPr lang="en-US" sz="2800" dirty="0">
                <a:solidFill>
                  <a:srgbClr val="E5E7EB"/>
                </a:solidFill>
                <a:latin typeface="David" panose="020E0502060401010101" pitchFamily="34" charset="-79"/>
                <a:ea typeface="Aptos"/>
                <a:cs typeface="David" panose="020E0502060401010101" pitchFamily="34" charset="-79"/>
                <a:sym typeface="Aptos"/>
              </a:endParaRPr>
            </a:p>
          </p:txBody>
        </p:sp>
      </p:grpSp>
      <p:sp>
        <p:nvSpPr>
          <p:cNvPr id="36" name="Freeform 36"/>
          <p:cNvSpPr/>
          <p:nvPr/>
        </p:nvSpPr>
        <p:spPr>
          <a:xfrm>
            <a:off x="12354049" y="3925843"/>
            <a:ext cx="741243" cy="494162"/>
          </a:xfrm>
          <a:custGeom>
            <a:avLst/>
            <a:gdLst/>
            <a:ahLst/>
            <a:cxnLst/>
            <a:rect l="l" t="t" r="r" b="b"/>
            <a:pathLst>
              <a:path w="988324" h="658883">
                <a:moveTo>
                  <a:pt x="0" y="0"/>
                </a:moveTo>
                <a:lnTo>
                  <a:pt x="988324" y="0"/>
                </a:lnTo>
                <a:lnTo>
                  <a:pt x="988324" y="658883"/>
                </a:lnTo>
                <a:lnTo>
                  <a:pt x="0" y="658883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35536" r="-35536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9" name="Freeform 39"/>
          <p:cNvSpPr/>
          <p:nvPr/>
        </p:nvSpPr>
        <p:spPr>
          <a:xfrm>
            <a:off x="13246284" y="3980755"/>
            <a:ext cx="2745344" cy="343168"/>
          </a:xfrm>
          <a:custGeom>
            <a:avLst/>
            <a:gdLst/>
            <a:ahLst/>
            <a:cxnLst/>
            <a:rect l="l" t="t" r="r" b="b"/>
            <a:pathLst>
              <a:path w="3660460" h="457557">
                <a:moveTo>
                  <a:pt x="0" y="0"/>
                </a:moveTo>
                <a:lnTo>
                  <a:pt x="3660460" y="0"/>
                </a:lnTo>
                <a:lnTo>
                  <a:pt x="3660460" y="457557"/>
                </a:lnTo>
                <a:lnTo>
                  <a:pt x="0" y="457557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05880" b="-105879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49" name="Freeform 49"/>
          <p:cNvSpPr/>
          <p:nvPr/>
        </p:nvSpPr>
        <p:spPr>
          <a:xfrm>
            <a:off x="13246284" y="4941618"/>
            <a:ext cx="2745344" cy="343168"/>
          </a:xfrm>
          <a:custGeom>
            <a:avLst/>
            <a:gdLst/>
            <a:ahLst/>
            <a:cxnLst/>
            <a:rect l="l" t="t" r="r" b="b"/>
            <a:pathLst>
              <a:path w="3660460" h="457557">
                <a:moveTo>
                  <a:pt x="0" y="0"/>
                </a:moveTo>
                <a:lnTo>
                  <a:pt x="3660460" y="0"/>
                </a:lnTo>
                <a:lnTo>
                  <a:pt x="3660460" y="457557"/>
                </a:lnTo>
                <a:lnTo>
                  <a:pt x="0" y="457557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05880" b="-105879"/>
            </a:stretch>
          </a:blipFill>
        </p:spPr>
        <p:txBody>
          <a:bodyPr/>
          <a:lstStyle/>
          <a:p>
            <a:endParaRPr lang="en-IL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DA9E23B4-F206-AEBF-08A3-13602529A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43" y="1096030"/>
            <a:ext cx="8510568" cy="8162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19755" y="495300"/>
            <a:ext cx="3343961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5043"/>
                </a:lnSpc>
              </a:pPr>
              <a:r>
                <a:rPr lang="en-US" sz="32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הבעיה העסקית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81157" y="1259633"/>
            <a:ext cx="13983443" cy="495107"/>
            <a:chOff x="-5538191" y="0"/>
            <a:chExt cx="19813985" cy="660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538191" y="56169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071"/>
                </a:lnSpc>
              </a:pP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תהליכי אבידות ומציאות ידניים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הם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איטיים, מפוצלים וקשים לאימות.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2120017"/>
            <a:ext cx="5574573" cy="6329543"/>
            <a:chOff x="0" y="0"/>
            <a:chExt cx="7432764" cy="84393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32802" cy="8439404"/>
            </a:xfrm>
            <a:custGeom>
              <a:avLst/>
              <a:gdLst/>
              <a:ahLst/>
              <a:cxnLst/>
              <a:rect l="l" t="t" r="r" b="b"/>
              <a:pathLst>
                <a:path w="7432802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85990" y="0"/>
                  </a:lnTo>
                  <a:cubicBezTo>
                    <a:pt x="7367016" y="0"/>
                    <a:pt x="7432802" y="65786"/>
                    <a:pt x="7432802" y="146812"/>
                  </a:cubicBezTo>
                  <a:lnTo>
                    <a:pt x="7432802" y="8292592"/>
                  </a:lnTo>
                  <a:cubicBezTo>
                    <a:pt x="7432802" y="8373618"/>
                    <a:pt x="7367016" y="8439404"/>
                    <a:pt x="7285990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1769" y="2598544"/>
            <a:ext cx="760305" cy="760305"/>
            <a:chOff x="0" y="0"/>
            <a:chExt cx="1013739" cy="10137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DC2626">
                <a:alpha val="1176"/>
              </a:srgbClr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1304" y="2690441"/>
            <a:ext cx="5184078" cy="539158"/>
            <a:chOff x="0" y="0"/>
            <a:chExt cx="6912106" cy="7188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23779" y="59988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32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⏳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02176" y="2690441"/>
            <a:ext cx="4834590" cy="436694"/>
            <a:chOff x="0" y="0"/>
            <a:chExt cx="6446119" cy="5822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53570" y="33187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3242"/>
                </a:lnSpc>
              </a:pP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שחזור</a:t>
              </a:r>
              <a:r>
                <a:rPr lang="en-US" sz="32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איטי</a:t>
              </a:r>
              <a:endParaRPr lang="en-US" sz="32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79203" y="3858217"/>
            <a:ext cx="142608" cy="142608"/>
            <a:chOff x="0" y="0"/>
            <a:chExt cx="190144" cy="1901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8386" y="3908674"/>
            <a:ext cx="4461186" cy="439255"/>
            <a:chOff x="0" y="0"/>
            <a:chExt cx="5948248" cy="5856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948248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הסטודנטים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אינם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יודעים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היכן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לחפש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08451" y="4657656"/>
            <a:ext cx="142608" cy="142608"/>
            <a:chOff x="0" y="0"/>
            <a:chExt cx="190144" cy="1901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31169" y="4495783"/>
            <a:ext cx="4461186" cy="891671"/>
            <a:chOff x="-1" y="-277949"/>
            <a:chExt cx="5948248" cy="11888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" y="-277949"/>
              <a:ext cx="5948248" cy="1188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הדיווחים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נעשים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לרוב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על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נייר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או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באופן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לא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פורמלי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93083" y="5569599"/>
            <a:ext cx="142608" cy="142608"/>
            <a:chOff x="0" y="0"/>
            <a:chExt cx="190144" cy="1901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59807" y="5568725"/>
            <a:ext cx="4461186" cy="439255"/>
            <a:chOff x="0" y="0"/>
            <a:chExt cx="5948248" cy="58567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5948248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אין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מעקב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עקבי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אחר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מחזור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החיים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של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הפריט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87105" y="2120017"/>
            <a:ext cx="5094141" cy="6329543"/>
            <a:chOff x="0" y="0"/>
            <a:chExt cx="6792189" cy="843939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92214" cy="8439404"/>
            </a:xfrm>
            <a:custGeom>
              <a:avLst/>
              <a:gdLst/>
              <a:ahLst/>
              <a:cxnLst/>
              <a:rect l="l" t="t" r="r" b="b"/>
              <a:pathLst>
                <a:path w="6792214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645402" y="0"/>
                  </a:lnTo>
                  <a:cubicBezTo>
                    <a:pt x="6726555" y="0"/>
                    <a:pt x="6792214" y="65786"/>
                    <a:pt x="6792214" y="146812"/>
                  </a:cubicBezTo>
                  <a:lnTo>
                    <a:pt x="6792214" y="8292592"/>
                  </a:lnTo>
                  <a:cubicBezTo>
                    <a:pt x="6792214" y="8373745"/>
                    <a:pt x="6726428" y="8439404"/>
                    <a:pt x="6645402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96995" y="2598544"/>
            <a:ext cx="760305" cy="760305"/>
            <a:chOff x="0" y="0"/>
            <a:chExt cx="1013739" cy="10137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206529" y="2663349"/>
            <a:ext cx="4706868" cy="521255"/>
            <a:chOff x="0" y="-36123"/>
            <a:chExt cx="6275826" cy="6950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7499" y="-36123"/>
              <a:ext cx="988327" cy="658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32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🔍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67402" y="2652182"/>
            <a:ext cx="4545548" cy="450061"/>
            <a:chOff x="0" y="-51012"/>
            <a:chExt cx="6060730" cy="60008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09529" cy="549069"/>
            </a:xfrm>
            <a:custGeom>
              <a:avLst/>
              <a:gdLst/>
              <a:ahLst/>
              <a:cxnLst/>
              <a:rect l="l" t="t" r="r" b="b"/>
              <a:pathLst>
                <a:path w="4209529" h="54906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51201" y="-51012"/>
              <a:ext cx="420952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3242"/>
                </a:lnSpc>
              </a:pP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זיהוי</a:t>
              </a:r>
              <a:r>
                <a:rPr lang="en-US" sz="32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לקוי</a:t>
              </a:r>
              <a:endParaRPr lang="en-US" sz="32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434358" y="3822935"/>
            <a:ext cx="142608" cy="142608"/>
            <a:chOff x="0" y="0"/>
            <a:chExt cx="190144" cy="1901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L" sz="3200" dirty="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900510" y="3694257"/>
            <a:ext cx="3980755" cy="43925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 rtl="1">
              <a:lnSpc>
                <a:spcPts val="2431"/>
              </a:lnSpc>
            </a:pPr>
            <a:r>
              <a:rPr lang="en-US" sz="3200" dirty="0" err="1">
                <a:solidFill>
                  <a:srgbClr val="111827"/>
                </a:solidFill>
                <a:ea typeface="Aptos"/>
                <a:cs typeface="Aptos"/>
                <a:sym typeface="Aptos"/>
              </a:rPr>
              <a:t>התיאורים</a:t>
            </a:r>
            <a:r>
              <a: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rPr>
              <a:t> </a:t>
            </a:r>
            <a:r>
              <a:rPr lang="en-US" sz="3200" dirty="0" err="1">
                <a:solidFill>
                  <a:srgbClr val="111827"/>
                </a:solidFill>
                <a:ea typeface="Aptos"/>
                <a:cs typeface="Aptos"/>
                <a:sym typeface="Aptos"/>
              </a:rPr>
              <a:t>אינם</a:t>
            </a:r>
            <a:r>
              <a: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rPr>
              <a:t> </a:t>
            </a:r>
            <a:r>
              <a:rPr lang="en-US" sz="3200" dirty="0" err="1">
                <a:solidFill>
                  <a:srgbClr val="111827"/>
                </a:solidFill>
                <a:ea typeface="Aptos"/>
                <a:cs typeface="Aptos"/>
                <a:sym typeface="Aptos"/>
              </a:rPr>
              <a:t>מלאים</a:t>
            </a:r>
            <a:endParaRPr lang="en-US" sz="3200" dirty="0">
              <a:solidFill>
                <a:srgbClr val="111827"/>
              </a:solidFill>
              <a:ea typeface="Aptos"/>
              <a:cs typeface="Aptos"/>
              <a:sym typeface="Apto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11434435" y="4721990"/>
            <a:ext cx="142608" cy="142608"/>
            <a:chOff x="0" y="0"/>
            <a:chExt cx="190144" cy="19014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324049" y="4502363"/>
            <a:ext cx="4110310" cy="500485"/>
            <a:chOff x="-172745" y="0"/>
            <a:chExt cx="5480412" cy="6673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-172745" y="81640"/>
              <a:ext cx="530767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לא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ניתן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לחפש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בתמונות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434435" y="5544155"/>
            <a:ext cx="142608" cy="142608"/>
            <a:chOff x="0" y="0"/>
            <a:chExt cx="190144" cy="1901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271111" y="5415559"/>
            <a:ext cx="4163247" cy="494518"/>
            <a:chOff x="-243328" y="0"/>
            <a:chExt cx="5550995" cy="65935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-243328" y="73684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קשה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לאמת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טענות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בעלות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40527" y="2120017"/>
            <a:ext cx="5094141" cy="6329543"/>
            <a:chOff x="0" y="0"/>
            <a:chExt cx="6792189" cy="843939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792214" cy="8439404"/>
            </a:xfrm>
            <a:custGeom>
              <a:avLst/>
              <a:gdLst/>
              <a:ahLst/>
              <a:cxnLst/>
              <a:rect l="l" t="t" r="r" b="b"/>
              <a:pathLst>
                <a:path w="6792214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645402" y="0"/>
                  </a:lnTo>
                  <a:cubicBezTo>
                    <a:pt x="6726555" y="0"/>
                    <a:pt x="6792214" y="65786"/>
                    <a:pt x="6792214" y="146812"/>
                  </a:cubicBezTo>
                  <a:lnTo>
                    <a:pt x="6792214" y="8292592"/>
                  </a:lnTo>
                  <a:cubicBezTo>
                    <a:pt x="6792214" y="8373745"/>
                    <a:pt x="6726428" y="8439404"/>
                    <a:pt x="6645402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550416" y="2598544"/>
            <a:ext cx="760305" cy="760305"/>
            <a:chOff x="0" y="0"/>
            <a:chExt cx="1013739" cy="101373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559951" y="2674150"/>
            <a:ext cx="4779796" cy="510453"/>
            <a:chOff x="0" y="-21721"/>
            <a:chExt cx="6373063" cy="68060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88324" cy="658882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84736" y="-21721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32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🛡️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20823" y="2663349"/>
            <a:ext cx="4099940" cy="438893"/>
            <a:chOff x="0" y="-36122"/>
            <a:chExt cx="5466588" cy="58519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440078" y="-36122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3242"/>
                </a:lnSpc>
              </a:pP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בקרה</a:t>
              </a:r>
              <a:r>
                <a:rPr lang="en-US" sz="32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חלשה</a:t>
              </a:r>
              <a:endParaRPr lang="en-US" sz="32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6945613" y="3822974"/>
            <a:ext cx="142608" cy="142608"/>
            <a:chOff x="0" y="0"/>
            <a:chExt cx="190144" cy="1901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662916" y="3894277"/>
            <a:ext cx="4049382" cy="439255"/>
            <a:chOff x="0" y="0"/>
            <a:chExt cx="5399176" cy="58567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539917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אין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תהליך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ניהול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מבוסס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תפקידים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6973065" y="4711879"/>
            <a:ext cx="142608" cy="142608"/>
            <a:chOff x="0" y="0"/>
            <a:chExt cx="190144" cy="19014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691491" y="4729766"/>
            <a:ext cx="4049384" cy="486907"/>
            <a:chOff x="0" y="0"/>
            <a:chExt cx="5399178" cy="64920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63536"/>
              <a:ext cx="5399175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אין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התראות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על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פריטים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חדשים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6955050" y="5712207"/>
            <a:ext cx="142608" cy="142608"/>
            <a:chOff x="0" y="0"/>
            <a:chExt cx="190144" cy="19014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 sz="3200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749842" y="5325970"/>
            <a:ext cx="4106571" cy="709202"/>
            <a:chOff x="-76249" y="0"/>
            <a:chExt cx="5475427" cy="945601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-76249" y="359928"/>
              <a:ext cx="5399175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ביקורת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וניטור</a:t>
              </a:r>
              <a:r>
                <a:rPr lang="en-US" sz="32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32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מוגבלים</a:t>
              </a:r>
              <a:endParaRPr lang="en-US" sz="32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2676" y="8853735"/>
            <a:ext cx="15236666" cy="480431"/>
            <a:chOff x="0" y="0"/>
            <a:chExt cx="20315555" cy="6405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315552" cy="640580"/>
            </a:xfrm>
            <a:custGeom>
              <a:avLst/>
              <a:gdLst/>
              <a:ahLst/>
              <a:cxnLst/>
              <a:rect l="l" t="t" r="r" b="b"/>
              <a:pathLst>
                <a:path w="20315552" h="640580">
                  <a:moveTo>
                    <a:pt x="0" y="0"/>
                  </a:moveTo>
                  <a:lnTo>
                    <a:pt x="20315552" y="0"/>
                  </a:lnTo>
                  <a:lnTo>
                    <a:pt x="20315552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954" b="-567953"/>
              </a:stretch>
            </a:blipFill>
          </p:spPr>
          <p:txBody>
            <a:bodyPr/>
            <a:lstStyle/>
            <a:p>
              <a:endParaRPr lang="en-IL" sz="320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20315555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702"/>
                </a:lnSpc>
              </a:pP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קהל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היעד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: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סטודנטים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סגל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משרד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הקבלה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/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הביטחון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ומנהלי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אבידות ומציאות </a:t>
              </a:r>
              <a:r>
                <a:rPr lang="en-US" sz="32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באוניברסיטה</a:t>
              </a:r>
              <a:r>
                <a:rPr lang="en-US" sz="32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40278" y="500116"/>
            <a:ext cx="3374965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5043"/>
                </a:lnSpc>
              </a:pPr>
              <a:r>
                <a:rPr lang="en-US" sz="44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הפתרון המוצע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4731" y="1170212"/>
            <a:ext cx="11049204" cy="541948"/>
            <a:chOff x="-7749273" y="-81029"/>
            <a:chExt cx="22517283" cy="7225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7749273" y="-81029"/>
              <a:ext cx="22517283" cy="722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071"/>
                </a:lnSpc>
              </a:pP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פלטפורמה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חסרת-שרת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בסגנון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ar-SA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 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SaaS</a:t>
              </a:r>
              <a:r>
                <a:rPr lang="ar-SA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he-IL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ל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דיווח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תביעה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והחזרה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של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פריטים </a:t>
              </a:r>
              <a:r>
                <a:rPr lang="en-US" sz="28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אבודים</a:t>
              </a:r>
              <a:r>
                <a:rPr lang="en-US" sz="28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4410" y="2023929"/>
            <a:ext cx="7221856" cy="6466808"/>
            <a:chOff x="-209960" y="54901"/>
            <a:chExt cx="9629141" cy="8622411"/>
          </a:xfrm>
        </p:grpSpPr>
        <p:sp>
          <p:nvSpPr>
            <p:cNvPr id="9" name="Freeform 9"/>
            <p:cNvSpPr/>
            <p:nvPr/>
          </p:nvSpPr>
          <p:spPr>
            <a:xfrm>
              <a:off x="-209960" y="54901"/>
              <a:ext cx="9629141" cy="8622411"/>
            </a:xfrm>
            <a:custGeom>
              <a:avLst/>
              <a:gdLst/>
              <a:ahLst/>
              <a:cxnLst/>
              <a:rect l="l" t="t" r="r" b="b"/>
              <a:pathLst>
                <a:path w="9629140" h="862241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9482328" y="0"/>
                  </a:lnTo>
                  <a:cubicBezTo>
                    <a:pt x="9563354" y="0"/>
                    <a:pt x="9629140" y="65659"/>
                    <a:pt x="9629140" y="146812"/>
                  </a:cubicBezTo>
                  <a:lnTo>
                    <a:pt x="9629140" y="8475599"/>
                  </a:lnTo>
                  <a:cubicBezTo>
                    <a:pt x="9629140" y="8556625"/>
                    <a:pt x="9563481" y="8622411"/>
                    <a:pt x="9482328" y="8622411"/>
                  </a:cubicBezTo>
                  <a:lnTo>
                    <a:pt x="146812" y="8622411"/>
                  </a:lnTo>
                  <a:cubicBezTo>
                    <a:pt x="65659" y="8622411"/>
                    <a:pt x="0" y="8556752"/>
                    <a:pt x="0" y="847559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28677" y="2347242"/>
            <a:ext cx="1529001" cy="403412"/>
            <a:chOff x="0" y="0"/>
            <a:chExt cx="2038668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8731" cy="537845"/>
            </a:xfrm>
            <a:custGeom>
              <a:avLst/>
              <a:gdLst/>
              <a:ahLst/>
              <a:cxnLst/>
              <a:rect l="l" t="t" r="r" b="b"/>
              <a:pathLst>
                <a:path w="2038731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904238" y="0"/>
                  </a:lnTo>
                  <a:cubicBezTo>
                    <a:pt x="1978533" y="0"/>
                    <a:pt x="2038731" y="60198"/>
                    <a:pt x="2038731" y="134493"/>
                  </a:cubicBezTo>
                  <a:lnTo>
                    <a:pt x="2038731" y="403352"/>
                  </a:lnTo>
                  <a:cubicBezTo>
                    <a:pt x="2038731" y="477647"/>
                    <a:pt x="1978533" y="537845"/>
                    <a:pt x="1904238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  <p:txBody>
            <a:bodyPr/>
            <a:lstStyle/>
            <a:p>
              <a:endParaRPr lang="en-IL" sz="200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76600" y="2207088"/>
            <a:ext cx="5114995" cy="802035"/>
            <a:chOff x="-2181886" y="-214632"/>
            <a:chExt cx="5264555" cy="638809"/>
          </a:xfrm>
        </p:grpSpPr>
        <p:sp>
          <p:nvSpPr>
            <p:cNvPr id="13" name="Freeform 13"/>
            <p:cNvSpPr/>
            <p:nvPr/>
          </p:nvSpPr>
          <p:spPr>
            <a:xfrm>
              <a:off x="-2181886" y="-214632"/>
              <a:ext cx="3902303" cy="638809"/>
            </a:xfrm>
            <a:custGeom>
              <a:avLst/>
              <a:gdLst/>
              <a:ahLst/>
              <a:cxnLst/>
              <a:rect l="l" t="t" r="r" b="b"/>
              <a:pathLst>
                <a:path w="1720416" h="292837">
                  <a:moveTo>
                    <a:pt x="0" y="0"/>
                  </a:moveTo>
                  <a:lnTo>
                    <a:pt x="1720416" y="0"/>
                  </a:lnTo>
                  <a:lnTo>
                    <a:pt x="1720416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74" b="-64474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943839" y="-102889"/>
              <a:ext cx="4026508" cy="3211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8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ea typeface="Aptos Bold"/>
                  <a:cs typeface="Aptos Bold"/>
                  <a:sym typeface="Aptos Bold"/>
                </a:rPr>
                <a:t>תהליך</a:t>
              </a:r>
              <a:r>
                <a:rPr lang="en-US" sz="2800" b="1" dirty="0">
                  <a:solidFill>
                    <a:schemeClr val="tx2">
                      <a:lumMod val="60000"/>
                      <a:lumOff val="40000"/>
                    </a:schemeClr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ea typeface="Aptos Bold"/>
                  <a:cs typeface="Aptos Bold"/>
                  <a:sym typeface="Aptos Bold"/>
                </a:rPr>
                <a:t>המשתמש</a:t>
              </a:r>
              <a:endPara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3142" y="3078985"/>
            <a:ext cx="760305" cy="760305"/>
            <a:chOff x="0" y="0"/>
            <a:chExt cx="1013739" cy="101373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93236" y="3168985"/>
            <a:ext cx="741248" cy="640941"/>
            <a:chOff x="7627344" y="36611"/>
            <a:chExt cx="988331" cy="677613"/>
          </a:xfrm>
        </p:grpSpPr>
        <p:sp>
          <p:nvSpPr>
            <p:cNvPr id="18" name="Freeform 18"/>
            <p:cNvSpPr/>
            <p:nvPr/>
          </p:nvSpPr>
          <p:spPr>
            <a:xfrm>
              <a:off x="7627344" y="36611"/>
              <a:ext cx="988324" cy="658882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7348" y="55335"/>
              <a:ext cx="988327" cy="65888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1</a:t>
              </a:r>
              <a:endParaRPr lang="en-US" sz="2400" dirty="0">
                <a:solidFill>
                  <a:srgbClr val="000000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1000" y="3115970"/>
            <a:ext cx="4588036" cy="387361"/>
            <a:chOff x="0" y="0"/>
            <a:chExt cx="6117382" cy="5164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0872" y="77227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05"/>
                </a:lnSpc>
              </a:pP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הרשמה</a:t>
              </a:r>
              <a:r>
                <a:rPr lang="en-US" sz="20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/ </a:t>
              </a: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התחברות</a:t>
              </a:r>
              <a:endParaRPr lang="en-US" sz="20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46500" y="3400940"/>
            <a:ext cx="3539971" cy="469981"/>
            <a:chOff x="-2320850" y="0"/>
            <a:chExt cx="8909677" cy="4264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2320850" y="122446"/>
              <a:ext cx="8909675" cy="304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693"/>
                </a:lnSpc>
              </a:pP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Cognito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מאמת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את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המשתמשים</a:t>
              </a:r>
              <a:endPara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63142" y="4149662"/>
            <a:ext cx="760305" cy="760305"/>
            <a:chOff x="0" y="0"/>
            <a:chExt cx="1013739" cy="101373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967632" y="4398377"/>
            <a:ext cx="3019882" cy="329441"/>
            <a:chOff x="0" y="0"/>
            <a:chExt cx="4026510" cy="4392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05"/>
                </a:lnSpc>
              </a:pP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דיווח</a:t>
              </a:r>
              <a:r>
                <a:rPr lang="en-US" sz="20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על</a:t>
              </a:r>
              <a:r>
                <a:rPr lang="en-US" sz="20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פריט</a:t>
              </a:r>
              <a:endParaRPr lang="en-US" sz="20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608738" y="4626271"/>
            <a:ext cx="4432709" cy="565299"/>
            <a:chOff x="-2021037" y="-1"/>
            <a:chExt cx="9671360" cy="3972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-2021037" y="-1"/>
              <a:ext cx="9671360" cy="3972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693"/>
                </a:lnSpc>
              </a:pP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הזנת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כותרת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פרטים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עדיפות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מיקום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ותמונה</a:t>
              </a:r>
              <a:endPara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63142" y="5220348"/>
            <a:ext cx="760305" cy="760305"/>
            <a:chOff x="0" y="0"/>
            <a:chExt cx="1013739" cy="10137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361000" y="5257333"/>
            <a:ext cx="6926392" cy="631269"/>
            <a:chOff x="0" y="0"/>
            <a:chExt cx="9235191" cy="84169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08681" y="402438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305"/>
                </a:lnSpc>
              </a:pP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תיוג</a:t>
              </a:r>
              <a:r>
                <a:rPr lang="en-US" sz="20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AI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214432" y="5440690"/>
            <a:ext cx="4902149" cy="893499"/>
            <a:chOff x="0" y="0"/>
            <a:chExt cx="9211554" cy="73118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5546" y="348210"/>
              <a:ext cx="8116008" cy="3829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693"/>
                </a:lnSpc>
              </a:pP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Rekognition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מחלץ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תוויות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הניתנות</a:t>
              </a:r>
              <a:r>
                <a:rPr lang="en-US" sz="20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לחיפוש</a:t>
              </a:r>
              <a:endPara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63142" y="6291034"/>
            <a:ext cx="760305" cy="760305"/>
            <a:chOff x="0" y="0"/>
            <a:chExt cx="1013739" cy="101373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361000" y="6328019"/>
            <a:ext cx="6391751" cy="803062"/>
            <a:chOff x="0" y="0"/>
            <a:chExt cx="8522336" cy="107075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95826" y="631495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305"/>
                </a:lnSpc>
              </a:pP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תביעת</a:t>
              </a:r>
              <a:r>
                <a:rPr lang="en-US" sz="20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פריט</a:t>
              </a:r>
              <a:endParaRPr lang="en-US" sz="20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2921364" y="6896374"/>
            <a:ext cx="4171837" cy="7202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 rtl="1">
              <a:lnSpc>
                <a:spcPts val="1693"/>
              </a:lnSpc>
            </a:pPr>
            <a:r>
              <a:rPr lang="en-US" sz="2000" dirty="0" err="1">
                <a:solidFill>
                  <a:srgbClr val="64748B"/>
                </a:solidFill>
                <a:ea typeface="Aptos"/>
                <a:cs typeface="Aptos"/>
                <a:sym typeface="Aptos"/>
              </a:rPr>
              <a:t>המשתמש</a:t>
            </a:r>
            <a:r>
              <a: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rPr>
              <a:t> </a:t>
            </a:r>
            <a:r>
              <a:rPr lang="en-US" sz="2000" dirty="0" err="1">
                <a:solidFill>
                  <a:srgbClr val="64748B"/>
                </a:solidFill>
                <a:ea typeface="Aptos"/>
                <a:cs typeface="Aptos"/>
                <a:sym typeface="Aptos"/>
              </a:rPr>
              <a:t>מספק</a:t>
            </a:r>
            <a:r>
              <a: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rPr>
              <a:t> פרטי </a:t>
            </a:r>
            <a:r>
              <a:rPr lang="en-US" sz="2000" dirty="0" err="1">
                <a:solidFill>
                  <a:srgbClr val="64748B"/>
                </a:solidFill>
                <a:ea typeface="Aptos"/>
                <a:cs typeface="Aptos"/>
                <a:sym typeface="Aptos"/>
              </a:rPr>
              <a:t>קשר</a:t>
            </a:r>
            <a:r>
              <a: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rPr>
              <a:t> </a:t>
            </a:r>
            <a:r>
              <a:rPr lang="en-US" sz="2000" dirty="0" err="1">
                <a:solidFill>
                  <a:srgbClr val="64748B"/>
                </a:solidFill>
                <a:ea typeface="Aptos"/>
                <a:cs typeface="Aptos"/>
                <a:sym typeface="Aptos"/>
              </a:rPr>
              <a:t>וסיבת</a:t>
            </a:r>
            <a:r>
              <a:rPr lang="en-US" sz="2000" dirty="0">
                <a:solidFill>
                  <a:srgbClr val="64748B"/>
                </a:solidFill>
                <a:ea typeface="Aptos"/>
                <a:cs typeface="Aptos"/>
                <a:sym typeface="Aptos"/>
              </a:rPr>
              <a:t> </a:t>
            </a:r>
            <a:r>
              <a:rPr lang="en-US" sz="2000" dirty="0" err="1">
                <a:solidFill>
                  <a:srgbClr val="64748B"/>
                </a:solidFill>
                <a:ea typeface="Aptos"/>
                <a:cs typeface="Aptos"/>
                <a:sym typeface="Aptos"/>
              </a:rPr>
              <a:t>תביעה</a:t>
            </a:r>
            <a:endParaRPr lang="en-US" sz="2000" dirty="0">
              <a:solidFill>
                <a:srgbClr val="64748B"/>
              </a:solidFill>
              <a:ea typeface="Aptos"/>
              <a:cs typeface="Aptos"/>
              <a:sym typeface="Aptos"/>
            </a:endParaRPr>
          </a:p>
        </p:txBody>
      </p:sp>
      <p:grpSp>
        <p:nvGrpSpPr>
          <p:cNvPr id="65" name="Group 65"/>
          <p:cNvGrpSpPr/>
          <p:nvPr/>
        </p:nvGrpSpPr>
        <p:grpSpPr>
          <a:xfrm>
            <a:off x="8571576" y="1982753"/>
            <a:ext cx="8594455" cy="6466808"/>
            <a:chOff x="0" y="0"/>
            <a:chExt cx="11459274" cy="862241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459337" cy="8622411"/>
            </a:xfrm>
            <a:custGeom>
              <a:avLst/>
              <a:gdLst/>
              <a:ahLst/>
              <a:cxnLst/>
              <a:rect l="l" t="t" r="r" b="b"/>
              <a:pathLst>
                <a:path w="11459337" h="862241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1312525" y="0"/>
                  </a:lnTo>
                  <a:cubicBezTo>
                    <a:pt x="11393551" y="0"/>
                    <a:pt x="11459337" y="65659"/>
                    <a:pt x="11459337" y="146812"/>
                  </a:cubicBezTo>
                  <a:lnTo>
                    <a:pt x="11459337" y="8475599"/>
                  </a:lnTo>
                  <a:cubicBezTo>
                    <a:pt x="11459337" y="8556625"/>
                    <a:pt x="11393678" y="8622411"/>
                    <a:pt x="11312525" y="8622411"/>
                  </a:cubicBezTo>
                  <a:lnTo>
                    <a:pt x="146812" y="8622411"/>
                  </a:lnTo>
                  <a:cubicBezTo>
                    <a:pt x="65659" y="8622411"/>
                    <a:pt x="0" y="8556752"/>
                    <a:pt x="0" y="8475599"/>
                  </a:cubicBezTo>
                  <a:close/>
                </a:path>
              </a:pathLst>
            </a:custGeom>
            <a:solidFill>
              <a:srgbClr val="EFF6FF"/>
            </a:solidFill>
            <a:ln w="15252" cap="sq">
              <a:solidFill>
                <a:srgbClr val="BFDBFE"/>
              </a:solidFill>
              <a:prstDash val="solid"/>
              <a:miter/>
            </a:ln>
          </p:spPr>
          <p:txBody>
            <a:bodyPr/>
            <a:lstStyle/>
            <a:p>
              <a:endParaRPr lang="en-IL" sz="200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980282" y="2452648"/>
            <a:ext cx="2009442" cy="403412"/>
            <a:chOff x="0" y="0"/>
            <a:chExt cx="2679256" cy="53788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679319" cy="537845"/>
            </a:xfrm>
            <a:custGeom>
              <a:avLst/>
              <a:gdLst/>
              <a:ahLst/>
              <a:cxnLst/>
              <a:rect l="l" t="t" r="r" b="b"/>
              <a:pathLst>
                <a:path w="2679319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44826" y="0"/>
                  </a:lnTo>
                  <a:cubicBezTo>
                    <a:pt x="2619121" y="0"/>
                    <a:pt x="2679319" y="60198"/>
                    <a:pt x="2679319" y="134493"/>
                  </a:cubicBezTo>
                  <a:lnTo>
                    <a:pt x="2679319" y="403352"/>
                  </a:lnTo>
                  <a:cubicBezTo>
                    <a:pt x="2679319" y="477647"/>
                    <a:pt x="2619121" y="537845"/>
                    <a:pt x="2544826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  <p:txBody>
            <a:bodyPr/>
            <a:lstStyle/>
            <a:p>
              <a:endParaRPr lang="en-IL" sz="2000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803976" y="2303366"/>
            <a:ext cx="2182121" cy="465209"/>
            <a:chOff x="-548499" y="-327444"/>
            <a:chExt cx="2909496" cy="62028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360997" cy="292837"/>
            </a:xfrm>
            <a:custGeom>
              <a:avLst/>
              <a:gdLst/>
              <a:ahLst/>
              <a:cxnLst/>
              <a:rect l="l" t="t" r="r" b="b"/>
              <a:pathLst>
                <a:path w="2360997" h="292837">
                  <a:moveTo>
                    <a:pt x="0" y="0"/>
                  </a:moveTo>
                  <a:lnTo>
                    <a:pt x="2360997" y="0"/>
                  </a:lnTo>
                  <a:lnTo>
                    <a:pt x="2360997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097" b="-107097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-548499" y="-327444"/>
              <a:ext cx="2909495" cy="620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תהליך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המנהל</a:t>
              </a:r>
              <a:endParaRPr lang="en-US" sz="28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4876804" y="2869800"/>
            <a:ext cx="1936518" cy="836740"/>
            <a:chOff x="0" y="-44652"/>
            <a:chExt cx="11571881" cy="74013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843483" cy="695487"/>
            </a:xfrm>
            <a:custGeom>
              <a:avLst/>
              <a:gdLst/>
              <a:ahLst/>
              <a:cxnLst/>
              <a:rect l="l" t="t" r="r" b="b"/>
              <a:pathLst>
                <a:path w="3843483" h="695487">
                  <a:moveTo>
                    <a:pt x="0" y="0"/>
                  </a:moveTo>
                  <a:lnTo>
                    <a:pt x="3843483" y="0"/>
                  </a:lnTo>
                  <a:lnTo>
                    <a:pt x="3843483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859718" y="-44652"/>
              <a:ext cx="9712163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3602"/>
                </a:lnSpc>
              </a:pP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תור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הניהול</a:t>
              </a:r>
              <a:endParaRPr lang="en-US" sz="28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584998" y="3489456"/>
            <a:ext cx="8272325" cy="1036644"/>
            <a:chOff x="-740641" y="-9520"/>
            <a:chExt cx="11029767" cy="1382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059638" cy="1372672"/>
            </a:xfrm>
            <a:custGeom>
              <a:avLst/>
              <a:gdLst/>
              <a:ahLst/>
              <a:cxnLst/>
              <a:rect l="l" t="t" r="r" b="b"/>
              <a:pathLst>
                <a:path w="9059638" h="1372672">
                  <a:moveTo>
                    <a:pt x="0" y="0"/>
                  </a:moveTo>
                  <a:lnTo>
                    <a:pt x="9059638" y="0"/>
                  </a:lnTo>
                  <a:lnTo>
                    <a:pt x="905963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0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-740641" y="-9520"/>
              <a:ext cx="11029767" cy="1382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521"/>
                </a:lnSpc>
              </a:pPr>
              <a:r>
                <a:rPr lang="en-US" sz="28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פריטים שנתבעו נאספים לתור בדיקה. המנהלים מאמתים את פרטי התביעה ומסמנים את הפריט כהוחזר.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784435" y="5269490"/>
            <a:ext cx="2970314" cy="403412"/>
            <a:chOff x="0" y="0"/>
            <a:chExt cx="3960419" cy="53788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719889" y="5387779"/>
            <a:ext cx="2864021" cy="219627"/>
            <a:chOff x="-176536" y="0"/>
            <a:chExt cx="3818694" cy="29283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-176536" y="0"/>
              <a:ext cx="3818693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הדיווחים </a:t>
              </a:r>
              <a:r>
                <a:rPr lang="en-US" sz="2400" b="1" dirty="0" err="1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שלי</a:t>
              </a:r>
              <a:endParaRPr lang="en-US" sz="2400" b="1" dirty="0">
                <a:solidFill>
                  <a:srgbClr val="7C3AED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980471" y="5268982"/>
            <a:ext cx="2970314" cy="403412"/>
            <a:chOff x="0" y="0"/>
            <a:chExt cx="3960419" cy="53788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0891B2">
                <a:alpha val="2353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154677" y="5389440"/>
            <a:ext cx="2731618" cy="219627"/>
            <a:chOff x="0" y="0"/>
            <a:chExt cx="3642157" cy="29283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0891B2"/>
                  </a:solidFill>
                  <a:ea typeface="Aptos Bold"/>
                  <a:cs typeface="Aptos Bold"/>
                  <a:sym typeface="Aptos Bold"/>
                </a:rPr>
                <a:t>התביעות שלי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834148" y="6181197"/>
            <a:ext cx="2970314" cy="403412"/>
            <a:chOff x="0" y="0"/>
            <a:chExt cx="3960419" cy="53788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1049000" y="6124435"/>
            <a:ext cx="1952682" cy="487620"/>
            <a:chOff x="-347458" y="-9328"/>
            <a:chExt cx="4451936" cy="30216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-347458" y="-9328"/>
              <a:ext cx="4451936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ציר זמן סטטוס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3980471" y="6181225"/>
            <a:ext cx="2970314" cy="403412"/>
            <a:chOff x="0" y="0"/>
            <a:chExt cx="3960419" cy="537883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420656" y="6124436"/>
            <a:ext cx="4400381" cy="449905"/>
            <a:chOff x="0" y="0"/>
            <a:chExt cx="5702065" cy="33149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059908" y="38659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 err="1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התראות</a:t>
              </a:r>
              <a:r>
                <a:rPr lang="en-US" sz="2400" b="1" dirty="0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מוקפצות</a:t>
              </a:r>
              <a:endParaRPr lang="en-US" sz="2400" b="1" dirty="0">
                <a:solidFill>
                  <a:srgbClr val="16A34A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335000" y="7047152"/>
            <a:ext cx="3522266" cy="431912"/>
            <a:chOff x="0" y="0"/>
            <a:chExt cx="3960419" cy="537883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13578197" y="7081627"/>
            <a:ext cx="3253268" cy="397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 rtl="1">
              <a:lnSpc>
                <a:spcPts val="1333"/>
              </a:lnSpc>
            </a:pPr>
            <a:r>
              <a:rPr lang="en-US" sz="2400" b="1" dirty="0" err="1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תצוגה</a:t>
            </a:r>
            <a:r>
              <a: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 </a:t>
            </a:r>
            <a:r>
              <a:rPr lang="en-US" sz="2400" b="1" dirty="0" err="1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מקדימה</a:t>
            </a:r>
            <a:r>
              <a: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 </a:t>
            </a:r>
            <a:r>
              <a:rPr lang="en-US" sz="2400" b="1" dirty="0" err="1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של</a:t>
            </a:r>
            <a:r>
              <a: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 </a:t>
            </a:r>
            <a:r>
              <a:rPr lang="en-US" sz="2400" b="1" dirty="0" err="1">
                <a:solidFill>
                  <a:srgbClr val="2563EB"/>
                </a:solidFill>
                <a:ea typeface="Aptos Bold"/>
                <a:cs typeface="Aptos Bold"/>
                <a:sym typeface="Aptos Bold"/>
              </a:rPr>
              <a:t>תמונה</a:t>
            </a:r>
            <a:endParaRPr lang="en-US" sz="2400" b="1" dirty="0">
              <a:solidFill>
                <a:srgbClr val="2563EB"/>
              </a:solidFill>
              <a:ea typeface="Aptos Bold"/>
              <a:cs typeface="Aptos Bold"/>
              <a:sym typeface="Aptos Bold"/>
            </a:endParaRPr>
          </a:p>
        </p:txBody>
      </p:sp>
      <p:grpSp>
        <p:nvGrpSpPr>
          <p:cNvPr id="103" name="Group 103"/>
          <p:cNvGrpSpPr/>
          <p:nvPr/>
        </p:nvGrpSpPr>
        <p:grpSpPr>
          <a:xfrm>
            <a:off x="1304039" y="8922372"/>
            <a:ext cx="15785735" cy="411804"/>
            <a:chOff x="0" y="0"/>
            <a:chExt cx="21047646" cy="549072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1047644" cy="549069"/>
            </a:xfrm>
            <a:custGeom>
              <a:avLst/>
              <a:gdLst/>
              <a:ahLst/>
              <a:cxnLst/>
              <a:rect l="l" t="t" r="r" b="b"/>
              <a:pathLst>
                <a:path w="21047644" h="549069">
                  <a:moveTo>
                    <a:pt x="0" y="0"/>
                  </a:moveTo>
                  <a:lnTo>
                    <a:pt x="21047644" y="0"/>
                  </a:lnTo>
                  <a:lnTo>
                    <a:pt x="2104764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26" b="-696926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210476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702"/>
                </a:lnSpc>
              </a:pPr>
              <a:r>
                <a:rPr lang="en-US" sz="28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הערך: שחזור מהיר יותר, אימות חזק יותר, תוויות AI הניתנות לחיפוש ומעקב ברור אחר מחזור החיים.</a:t>
              </a:r>
            </a:p>
          </p:txBody>
        </p:sp>
      </p:grpSp>
      <p:sp>
        <p:nvSpPr>
          <p:cNvPr id="39" name="TextBox 19">
            <a:extLst>
              <a:ext uri="{FF2B5EF4-FFF2-40B4-BE49-F238E27FC236}">
                <a16:creationId xmlns:a16="http://schemas.microsoft.com/office/drawing/2014/main" id="{7761CDA1-9CDC-DED8-32C6-ED22E729982A}"/>
              </a:ext>
            </a:extLst>
          </p:cNvPr>
          <p:cNvSpPr txBox="1"/>
          <p:nvPr/>
        </p:nvSpPr>
        <p:spPr>
          <a:xfrm>
            <a:off x="7193234" y="4429912"/>
            <a:ext cx="741245" cy="623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0" rIns="0" bIns="0" rtlCol="0" anchor="ctr"/>
          <a:lstStyle/>
          <a:p>
            <a:pPr algn="ctr">
              <a:lnSpc>
                <a:spcPts val="2702"/>
              </a:lnSpc>
            </a:pPr>
            <a:r>
              <a:rPr lang="en-US" sz="2800" dirty="0">
                <a:solidFill>
                  <a:srgbClr val="000000"/>
                </a:solidFill>
                <a:ea typeface="Aptos"/>
                <a:cs typeface="Aptos"/>
                <a:sym typeface="Aptos"/>
              </a:rPr>
              <a:t>2</a:t>
            </a:r>
            <a:endParaRPr lang="en-US" sz="2400" dirty="0">
              <a:solidFill>
                <a:srgbClr val="000000"/>
              </a:solidFill>
              <a:ea typeface="Aptos"/>
              <a:cs typeface="Aptos"/>
              <a:sym typeface="Aptos"/>
            </a:endParaRPr>
          </a:p>
        </p:txBody>
      </p:sp>
      <p:sp>
        <p:nvSpPr>
          <p:cNvPr id="52" name="TextBox 19">
            <a:extLst>
              <a:ext uri="{FF2B5EF4-FFF2-40B4-BE49-F238E27FC236}">
                <a16:creationId xmlns:a16="http://schemas.microsoft.com/office/drawing/2014/main" id="{2CAEFACC-4320-DA10-747C-04B8FD22FA20}"/>
              </a:ext>
            </a:extLst>
          </p:cNvPr>
          <p:cNvSpPr txBox="1"/>
          <p:nvPr/>
        </p:nvSpPr>
        <p:spPr>
          <a:xfrm>
            <a:off x="7192313" y="5625003"/>
            <a:ext cx="741245" cy="623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0" rIns="0" bIns="0" rtlCol="0" anchor="ctr"/>
          <a:lstStyle/>
          <a:p>
            <a:pPr algn="ctr">
              <a:lnSpc>
                <a:spcPts val="2702"/>
              </a:lnSpc>
            </a:pPr>
            <a:r>
              <a:rPr lang="en-US" sz="2800" dirty="0">
                <a:solidFill>
                  <a:srgbClr val="000000"/>
                </a:solidFill>
                <a:ea typeface="Aptos"/>
                <a:cs typeface="Aptos"/>
                <a:sym typeface="Aptos"/>
              </a:rPr>
              <a:t>3</a:t>
            </a:r>
            <a:endParaRPr lang="en-US" sz="2400" dirty="0">
              <a:solidFill>
                <a:srgbClr val="000000"/>
              </a:solidFill>
              <a:ea typeface="Aptos"/>
              <a:cs typeface="Aptos"/>
              <a:sym typeface="Aptos"/>
            </a:endParaRPr>
          </a:p>
        </p:txBody>
      </p:sp>
      <p:sp>
        <p:nvSpPr>
          <p:cNvPr id="100" name="TextBox 19">
            <a:extLst>
              <a:ext uri="{FF2B5EF4-FFF2-40B4-BE49-F238E27FC236}">
                <a16:creationId xmlns:a16="http://schemas.microsoft.com/office/drawing/2014/main" id="{07F36920-260A-671C-D688-A94BBFE592FE}"/>
              </a:ext>
            </a:extLst>
          </p:cNvPr>
          <p:cNvSpPr txBox="1"/>
          <p:nvPr/>
        </p:nvSpPr>
        <p:spPr>
          <a:xfrm>
            <a:off x="7192312" y="6820094"/>
            <a:ext cx="741245" cy="623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0" rIns="0" bIns="0" rtlCol="0" anchor="ctr"/>
          <a:lstStyle/>
          <a:p>
            <a:pPr algn="ctr">
              <a:lnSpc>
                <a:spcPts val="2702"/>
              </a:lnSpc>
            </a:pPr>
            <a:r>
              <a:rPr lang="en-US" sz="2800" dirty="0">
                <a:solidFill>
                  <a:srgbClr val="000000"/>
                </a:solidFill>
                <a:ea typeface="Aptos"/>
                <a:cs typeface="Aptos"/>
                <a:sym typeface="Aptos"/>
              </a:rPr>
              <a:t>4</a:t>
            </a:r>
            <a:endParaRPr lang="en-US" sz="2400" dirty="0">
              <a:solidFill>
                <a:srgbClr val="000000"/>
              </a:solidFill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445432"/>
            <a:ext cx="16794688" cy="849392"/>
            <a:chOff x="0" y="0"/>
            <a:chExt cx="47782610" cy="9509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76584" y="35792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תרחישי</a:t>
              </a:r>
              <a:r>
                <a:rPr lang="en-US" sz="4203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שימוש</a:t>
              </a:r>
              <a:r>
                <a:rPr lang="en-US" sz="4203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ותפקידים</a:t>
              </a:r>
              <a:endParaRPr lang="en-US" sz="4203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0" y="1208259"/>
            <a:ext cx="9759490" cy="624226"/>
            <a:chOff x="-6055484" y="0"/>
            <a:chExt cx="20331278" cy="619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6055484" y="15953"/>
              <a:ext cx="19701794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האפליקציה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מפרידה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בין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משתמשים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רגילים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למנהלים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באמצעות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קבוצות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.Cognito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9145" y="1886664"/>
            <a:ext cx="15869622" cy="6809984"/>
            <a:chOff x="0" y="0"/>
            <a:chExt cx="21159495" cy="90799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59471" cy="9079865"/>
            </a:xfrm>
            <a:custGeom>
              <a:avLst/>
              <a:gdLst/>
              <a:ahLst/>
              <a:cxnLst/>
              <a:rect l="l" t="t" r="r" b="b"/>
              <a:pathLst>
                <a:path w="21159471" h="9079865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21012786" y="0"/>
                  </a:lnTo>
                  <a:cubicBezTo>
                    <a:pt x="21093812" y="0"/>
                    <a:pt x="21159471" y="65659"/>
                    <a:pt x="21159471" y="146685"/>
                  </a:cubicBezTo>
                  <a:lnTo>
                    <a:pt x="21159471" y="8933180"/>
                  </a:lnTo>
                  <a:cubicBezTo>
                    <a:pt x="21159471" y="9014206"/>
                    <a:pt x="21093812" y="9079865"/>
                    <a:pt x="21012786" y="9079865"/>
                  </a:cubicBezTo>
                  <a:lnTo>
                    <a:pt x="146685" y="9079865"/>
                  </a:lnTo>
                  <a:cubicBezTo>
                    <a:pt x="65659" y="9079992"/>
                    <a:pt x="0" y="9014333"/>
                    <a:pt x="0" y="893318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57240" y="1884759"/>
            <a:ext cx="15873432" cy="774030"/>
            <a:chOff x="0" y="0"/>
            <a:chExt cx="21164575" cy="1032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64550" cy="1032002"/>
            </a:xfrm>
            <a:custGeom>
              <a:avLst/>
              <a:gdLst/>
              <a:ahLst/>
              <a:cxnLst/>
              <a:rect l="l" t="t" r="r" b="b"/>
              <a:pathLst>
                <a:path w="21164550" h="1032002">
                  <a:moveTo>
                    <a:pt x="0" y="0"/>
                  </a:moveTo>
                  <a:lnTo>
                    <a:pt x="21164550" y="0"/>
                  </a:lnTo>
                  <a:lnTo>
                    <a:pt x="21164550" y="1032002"/>
                  </a:lnTo>
                  <a:lnTo>
                    <a:pt x="0" y="1032002"/>
                  </a:ln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1304" y="2127647"/>
            <a:ext cx="16570201" cy="317769"/>
            <a:chOff x="0" y="0"/>
            <a:chExt cx="22093604" cy="4236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2322" cy="366046"/>
            </a:xfrm>
            <a:custGeom>
              <a:avLst/>
              <a:gdLst/>
              <a:ahLst/>
              <a:cxnLst/>
              <a:rect l="l" t="t" r="r" b="b"/>
              <a:pathLst>
                <a:path w="2562322" h="366046">
                  <a:moveTo>
                    <a:pt x="0" y="0"/>
                  </a:moveTo>
                  <a:lnTo>
                    <a:pt x="2562322" y="0"/>
                  </a:lnTo>
                  <a:lnTo>
                    <a:pt x="256232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4" b="-8639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531277" y="57641"/>
              <a:ext cx="2562327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981"/>
                </a:lnSpc>
              </a:pPr>
              <a:r>
                <a:rPr lang="en-US" sz="2800" b="1" dirty="0" err="1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גורם</a:t>
              </a:r>
              <a:endParaRPr lang="en-US" sz="2000" b="1" dirty="0">
                <a:solidFill>
                  <a:srgbClr val="FFFFFF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74623" y="2127161"/>
            <a:ext cx="13987411" cy="346668"/>
            <a:chOff x="0" y="0"/>
            <a:chExt cx="18649882" cy="462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43700" cy="366046"/>
            </a:xfrm>
            <a:custGeom>
              <a:avLst/>
              <a:gdLst/>
              <a:ahLst/>
              <a:cxnLst/>
              <a:rect l="l" t="t" r="r" b="b"/>
              <a:pathLst>
                <a:path w="13543700" h="366046">
                  <a:moveTo>
                    <a:pt x="0" y="0"/>
                  </a:moveTo>
                  <a:lnTo>
                    <a:pt x="13543700" y="0"/>
                  </a:lnTo>
                  <a:lnTo>
                    <a:pt x="1354370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945" b="-670947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06183" y="96173"/>
              <a:ext cx="1354369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981"/>
                </a:lnSpc>
              </a:pPr>
              <a:r>
                <a:rPr lang="en-US" sz="2800" b="1" dirty="0" err="1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פעולה</a:t>
              </a:r>
              <a:r>
                <a:rPr lang="en-US" sz="2800" b="1" dirty="0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 / </a:t>
              </a:r>
              <a:r>
                <a:rPr lang="en-US" sz="2800" b="1" dirty="0" err="1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תרחיש</a:t>
              </a:r>
              <a:r>
                <a:rPr lang="en-US" sz="2800" b="1" dirty="0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ea typeface="Aptos Bold"/>
                  <a:cs typeface="Aptos Bold"/>
                  <a:sym typeface="Aptos Bold"/>
                </a:rPr>
                <a:t>שימוש</a:t>
              </a:r>
              <a:endParaRPr lang="en-US" sz="2800" b="1" dirty="0">
                <a:solidFill>
                  <a:srgbClr val="FFFFFF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76556" y="2799756"/>
            <a:ext cx="14596063" cy="472832"/>
            <a:chOff x="0" y="0"/>
            <a:chExt cx="22023742" cy="3660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735951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משתמש</a:t>
              </a:r>
              <a:endPara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18965" y="2798929"/>
            <a:ext cx="9860770" cy="597242"/>
            <a:chOff x="0" y="-93472"/>
            <a:chExt cx="15373931" cy="7963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88733" y="-93472"/>
              <a:ext cx="5053980" cy="796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הרשמה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ואישור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חשבון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5877" y="3408426"/>
            <a:ext cx="15736167" cy="609314"/>
            <a:chOff x="0" y="0"/>
            <a:chExt cx="20981556" cy="8124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8749" y="3543439"/>
            <a:ext cx="16478724" cy="351596"/>
            <a:chOff x="0" y="0"/>
            <a:chExt cx="21971635" cy="4687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83844" y="102743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משתמש</a:t>
              </a:r>
              <a:endPara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66670" y="3418107"/>
            <a:ext cx="10191109" cy="589912"/>
            <a:chOff x="-25457471" y="0"/>
            <a:chExt cx="40831402" cy="4274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-25457471" y="61362"/>
              <a:ext cx="21729922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התחברות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ודיווח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על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פריט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אבוד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או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שנמצא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8749" y="4199411"/>
            <a:ext cx="16478723" cy="383223"/>
            <a:chOff x="0" y="0"/>
            <a:chExt cx="21971634" cy="5109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683843" y="144912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משתמש</a:t>
              </a:r>
              <a:endPara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43600" y="4115930"/>
            <a:ext cx="5546641" cy="510403"/>
            <a:chOff x="-23704261" y="0"/>
            <a:chExt cx="39078195" cy="3660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-23704261" y="0"/>
              <a:ext cx="39078195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העלאת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תמונה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ותצוגה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מקדימה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לפני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שליחה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5877" y="4753642"/>
            <a:ext cx="15736167" cy="609314"/>
            <a:chOff x="0" y="0"/>
            <a:chExt cx="20981556" cy="8124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41304" y="4872990"/>
            <a:ext cx="16199583" cy="390782"/>
            <a:chOff x="0" y="0"/>
            <a:chExt cx="21599447" cy="5210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311656" y="154991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מערכת</a:t>
              </a:r>
              <a:endParaRPr lang="en-US" sz="2400" b="1" dirty="0">
                <a:solidFill>
                  <a:srgbClr val="7C3AED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69282" y="4894259"/>
            <a:ext cx="12641239" cy="452189"/>
            <a:chOff x="-56176966" y="-40134"/>
            <a:chExt cx="71550897" cy="44106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-56176966" y="-40134"/>
              <a:ext cx="54165190" cy="4410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ניתוח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התמונה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ושמירת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תוויות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AI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41304" y="5545598"/>
            <a:ext cx="16106167" cy="394049"/>
            <a:chOff x="0" y="0"/>
            <a:chExt cx="21474893" cy="52539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187102" y="159347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משתמש</a:t>
              </a:r>
              <a:endParaRPr lang="en-US" sz="24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07230" y="5500091"/>
            <a:ext cx="10972637" cy="588758"/>
            <a:chOff x="-41027117" y="0"/>
            <a:chExt cx="56401048" cy="37501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 b="1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-41027117" y="8966"/>
              <a:ext cx="3249332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תביעת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פריט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עם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פרטי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קשר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וסיבה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5877" y="6098858"/>
            <a:ext cx="15736167" cy="609314"/>
            <a:chOff x="0" y="0"/>
            <a:chExt cx="20981556" cy="81241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41304" y="6218206"/>
            <a:ext cx="16412009" cy="358633"/>
            <a:chOff x="0" y="0"/>
            <a:chExt cx="21882682" cy="47817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594891" y="112125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מנהל</a:t>
              </a:r>
              <a:endParaRPr lang="en-US" sz="2800" b="1" dirty="0">
                <a:solidFill>
                  <a:srgbClr val="F59E0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738436" y="6221261"/>
            <a:ext cx="11672085" cy="436618"/>
            <a:chOff x="-44604865" y="0"/>
            <a:chExt cx="59978796" cy="36604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-44604865" y="11721"/>
              <a:ext cx="38750573" cy="3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בדיקת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פריטים שנתבעו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בתור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הניהול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41304" y="6890814"/>
            <a:ext cx="16445366" cy="379587"/>
            <a:chOff x="0" y="0"/>
            <a:chExt cx="21927159" cy="50611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9639368" y="140063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מנהל</a:t>
              </a:r>
              <a:endParaRPr lang="en-US" sz="2400" b="1" dirty="0">
                <a:solidFill>
                  <a:srgbClr val="F59E0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37578" y="6919306"/>
            <a:ext cx="12681960" cy="457174"/>
            <a:chOff x="-36565564" y="0"/>
            <a:chExt cx="51939495" cy="36604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-36565564" y="0"/>
              <a:ext cx="41259891" cy="332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סימון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פריט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כהוחזר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או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מחיקת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דיווחים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לא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תקינים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83746" y="7585608"/>
            <a:ext cx="15736167" cy="609314"/>
            <a:chOff x="0" y="0"/>
            <a:chExt cx="20981556" cy="81241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  <p:txBody>
            <a:bodyPr/>
            <a:lstStyle/>
            <a:p>
              <a:endParaRPr lang="en-IL" sz="2400" dirty="0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69954" y="7590242"/>
            <a:ext cx="16570933" cy="352323"/>
            <a:chOff x="0" y="0"/>
            <a:chExt cx="22094580" cy="4697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9806789" y="103712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מערכת</a:t>
              </a:r>
              <a:endParaRPr lang="en-US" b="1" dirty="0">
                <a:solidFill>
                  <a:srgbClr val="7C3AED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970185" y="7610632"/>
            <a:ext cx="10965015" cy="478885"/>
            <a:chOff x="-45858058" y="0"/>
            <a:chExt cx="61231989" cy="71364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-45858058" y="43820"/>
              <a:ext cx="50537475" cy="6698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837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שליחת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התראות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וסיכומים</a:t>
              </a:r>
              <a:r>
                <a:rPr lang="en-US" sz="2400" b="1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מתוזמנים</a:t>
              </a:r>
              <a:endParaRPr lang="en-US" sz="2400" b="1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B2875-3F2C-4BBC-2899-C5C0555E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BD3593-9FB6-4459-D964-2E667CDFDFE2}"/>
              </a:ext>
            </a:extLst>
          </p:cNvPr>
          <p:cNvGrpSpPr/>
          <p:nvPr/>
        </p:nvGrpSpPr>
        <p:grpSpPr>
          <a:xfrm>
            <a:off x="6858000" y="190500"/>
            <a:ext cx="8556564" cy="828116"/>
            <a:chOff x="-12024867" y="-273408"/>
            <a:chExt cx="28130890" cy="11885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A5BCA8-7198-1C76-A1BE-E7483296BD70}"/>
                </a:ext>
              </a:extLst>
            </p:cNvPr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45C071-4D12-4C93-8010-365C305BED38}"/>
                </a:ext>
              </a:extLst>
            </p:cNvPr>
            <p:cNvSpPr txBox="1"/>
            <p:nvPr/>
          </p:nvSpPr>
          <p:spPr>
            <a:xfrm>
              <a:off x="-12024867" y="-273408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ארכיטקטורת</a:t>
              </a:r>
              <a:r>
                <a:rPr lang="en-US" sz="4203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AWS</a:t>
              </a:r>
            </a:p>
          </p:txBody>
        </p:sp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49E87020-5878-8F98-A95E-00E8D6189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209116"/>
            <a:ext cx="13716000" cy="788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72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419100"/>
            <a:ext cx="16789919" cy="919953"/>
            <a:chOff x="0" y="0"/>
            <a:chExt cx="56286220" cy="997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542876" y="82644"/>
              <a:ext cx="16743344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5043"/>
                </a:lnSpc>
              </a:pPr>
              <a:r>
                <a:rPr lang="en-US" sz="48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הדגמת</a:t>
              </a:r>
              <a:r>
                <a:rPr lang="en-US" sz="48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8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שירותי</a:t>
              </a:r>
              <a:r>
                <a:rPr lang="en-US" sz="48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06000" y="1174710"/>
            <a:ext cx="7787155" cy="588699"/>
            <a:chOff x="-49646811" y="0"/>
            <a:chExt cx="95728077" cy="6106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49646811" y="6628"/>
              <a:ext cx="95728077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לכל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שירות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תפקיד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נראה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לעין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בהדגמת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האפליקציה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וביישומה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1941566"/>
            <a:ext cx="5094141" cy="1772269"/>
            <a:chOff x="0" y="0"/>
            <a:chExt cx="6792189" cy="23630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7054" y="2186740"/>
            <a:ext cx="760305" cy="760305"/>
            <a:chOff x="0" y="0"/>
            <a:chExt cx="1013739" cy="10137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6588" y="2172395"/>
            <a:ext cx="741245" cy="494167"/>
            <a:chOff x="0" y="0"/>
            <a:chExt cx="988327" cy="6588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96274" y="2264912"/>
            <a:ext cx="3294412" cy="301990"/>
            <a:chOff x="0" y="0"/>
            <a:chExt cx="4392549" cy="4026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Cognito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4506" y="2717892"/>
            <a:ext cx="4706783" cy="760286"/>
            <a:chOff x="-975690" y="0"/>
            <a:chExt cx="6275710" cy="10137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975690" y="190107"/>
              <a:ext cx="6275710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הרשמה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אישור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התחברות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קבוצות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משתמש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/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מנהל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32194" y="1941566"/>
            <a:ext cx="5094141" cy="1772269"/>
            <a:chOff x="0" y="0"/>
            <a:chExt cx="6792189" cy="23630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77367" y="2186740"/>
            <a:ext cx="760305" cy="760305"/>
            <a:chOff x="0" y="0"/>
            <a:chExt cx="1013739" cy="10137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986902" y="2163313"/>
            <a:ext cx="782826" cy="609486"/>
            <a:chOff x="0" y="-153765"/>
            <a:chExt cx="1043768" cy="8126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441" y="-153765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906598" y="2264912"/>
            <a:ext cx="3294412" cy="301990"/>
            <a:chOff x="0" y="0"/>
            <a:chExt cx="4392549" cy="4026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API Gateway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42407" y="2717892"/>
            <a:ext cx="4924654" cy="697349"/>
            <a:chOff x="-1704533" y="0"/>
            <a:chExt cx="7887901" cy="9297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-1704533" y="106191"/>
              <a:ext cx="7887901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נתיבים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GET/POST/PUT/DELETE /items 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42517" y="1941566"/>
            <a:ext cx="5094141" cy="1772269"/>
            <a:chOff x="0" y="0"/>
            <a:chExt cx="6792189" cy="23630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687691" y="2186740"/>
            <a:ext cx="760305" cy="760305"/>
            <a:chOff x="0" y="0"/>
            <a:chExt cx="1013739" cy="10137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97216" y="2147221"/>
            <a:ext cx="760286" cy="625578"/>
            <a:chOff x="0" y="-175221"/>
            <a:chExt cx="1013715" cy="8341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388" y="-175221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616911" y="2264912"/>
            <a:ext cx="3294412" cy="301990"/>
            <a:chOff x="0" y="0"/>
            <a:chExt cx="4392549" cy="40265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3200" b="1" dirty="0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Lambda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837928" y="2717892"/>
            <a:ext cx="4535919" cy="845293"/>
            <a:chOff x="-1038644" y="0"/>
            <a:chExt cx="6047892" cy="112705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-1038644" y="38100"/>
              <a:ext cx="6047892" cy="1088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יצירה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שליפה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תביעה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החזרה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מחיקה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סיכום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יומי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21880" y="4302566"/>
            <a:ext cx="5094141" cy="1772269"/>
            <a:chOff x="0" y="0"/>
            <a:chExt cx="6792189" cy="236302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67054" y="4547740"/>
            <a:ext cx="760305" cy="760305"/>
            <a:chOff x="0" y="0"/>
            <a:chExt cx="1013739" cy="101373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76588" y="4529812"/>
            <a:ext cx="741245" cy="603987"/>
            <a:chOff x="0" y="-146433"/>
            <a:chExt cx="988327" cy="80531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46433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196274" y="4625902"/>
            <a:ext cx="3294412" cy="301990"/>
            <a:chOff x="0" y="0"/>
            <a:chExt cx="4392549" cy="40265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7C3AED"/>
                  </a:solidFill>
                  <a:ea typeface="Aptos Bold"/>
                  <a:cs typeface="Aptos Bold"/>
                  <a:sym typeface="Aptos Bold"/>
                </a:rPr>
                <a:t>DynamoDB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77129" y="5078892"/>
            <a:ext cx="5094160" cy="675637"/>
            <a:chOff x="-1492192" y="0"/>
            <a:chExt cx="6792212" cy="90084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-1492192" y="77241"/>
              <a:ext cx="6792212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רשומות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פריטים,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סטטוסים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דיווחים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תביעות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32194" y="4302566"/>
            <a:ext cx="5094141" cy="1772269"/>
            <a:chOff x="0" y="0"/>
            <a:chExt cx="6792189" cy="236302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977367" y="4547740"/>
            <a:ext cx="760305" cy="760305"/>
            <a:chOff x="0" y="0"/>
            <a:chExt cx="1013739" cy="101373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86902" y="4509224"/>
            <a:ext cx="782826" cy="624576"/>
            <a:chOff x="0" y="-173884"/>
            <a:chExt cx="1043768" cy="8327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441" y="-173884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906598" y="4625902"/>
            <a:ext cx="3294412" cy="301990"/>
            <a:chOff x="0" y="0"/>
            <a:chExt cx="4392549" cy="40265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S3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977367" y="5078892"/>
            <a:ext cx="4843652" cy="746094"/>
            <a:chOff x="-1238974" y="0"/>
            <a:chExt cx="6458202" cy="9947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-1238974" y="171184"/>
              <a:ext cx="6458202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אחסון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פרטי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תמונות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פריטים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וכתובות</a:t>
              </a:r>
              <a:r>
                <a:rPr lang="he-IL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he-IL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 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URL </a:t>
              </a:r>
              <a:r>
                <a:rPr lang="he-IL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חתומות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מראש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442517" y="4302566"/>
            <a:ext cx="5094141" cy="1772269"/>
            <a:chOff x="0" y="0"/>
            <a:chExt cx="6792189" cy="236302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0891B2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687691" y="4547740"/>
            <a:ext cx="760305" cy="760305"/>
            <a:chOff x="0" y="0"/>
            <a:chExt cx="1013739" cy="101373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0891B2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697216" y="4537821"/>
            <a:ext cx="760285" cy="595979"/>
            <a:chOff x="0" y="-135755"/>
            <a:chExt cx="1013714" cy="79463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5387" y="-135755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6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616911" y="4625902"/>
            <a:ext cx="3294412" cy="301990"/>
            <a:chOff x="0" y="0"/>
            <a:chExt cx="4392549" cy="40265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0891B2"/>
                  </a:solidFill>
                  <a:ea typeface="Aptos Bold"/>
                  <a:cs typeface="Aptos Bold"/>
                  <a:sym typeface="Aptos Bold"/>
                </a:rPr>
                <a:t>Rekognition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335000" y="5064376"/>
            <a:ext cx="3782226" cy="774791"/>
            <a:chOff x="-375881" y="-19354"/>
            <a:chExt cx="5042967" cy="103305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-375881" y="-19354"/>
              <a:ext cx="4892206" cy="103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זיהוי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תוויות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מתמונות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שהועלו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21880" y="6663566"/>
            <a:ext cx="5094141" cy="1772269"/>
            <a:chOff x="0" y="0"/>
            <a:chExt cx="6792189" cy="236302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C2626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67054" y="6908740"/>
            <a:ext cx="760305" cy="760305"/>
            <a:chOff x="0" y="0"/>
            <a:chExt cx="1013739" cy="101373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DC2626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76588" y="6890811"/>
            <a:ext cx="801868" cy="603978"/>
            <a:chOff x="0" y="-146421"/>
            <a:chExt cx="1069158" cy="80530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0831" y="-146421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2196274" y="6986902"/>
            <a:ext cx="3294412" cy="301990"/>
            <a:chOff x="0" y="0"/>
            <a:chExt cx="4392549" cy="40265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DC2626"/>
                  </a:solidFill>
                  <a:ea typeface="Aptos Bold"/>
                  <a:cs typeface="Aptos Bold"/>
                  <a:sym typeface="Aptos Bold"/>
                </a:rPr>
                <a:t>SNS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241097" y="7439882"/>
            <a:ext cx="4766224" cy="643591"/>
            <a:chOff x="-1273569" y="0"/>
            <a:chExt cx="6354965" cy="858121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-1273569" y="34513"/>
              <a:ext cx="635496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התראות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במייל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על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פריט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חדש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ועל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סיכומים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732194" y="6663566"/>
            <a:ext cx="5094141" cy="1772269"/>
            <a:chOff x="0" y="0"/>
            <a:chExt cx="6792189" cy="236302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977367" y="6908740"/>
            <a:ext cx="760305" cy="760305"/>
            <a:chOff x="0" y="0"/>
            <a:chExt cx="1013739" cy="1013739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6986902" y="6890812"/>
            <a:ext cx="782826" cy="603978"/>
            <a:chOff x="0" y="-146420"/>
            <a:chExt cx="1043768" cy="805303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5441" y="-14642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8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906598" y="6986902"/>
            <a:ext cx="3294412" cy="301990"/>
            <a:chOff x="0" y="0"/>
            <a:chExt cx="4392549" cy="40265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CloudWatch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834986" y="7439882"/>
            <a:ext cx="5160302" cy="705242"/>
            <a:chOff x="-1428816" y="0"/>
            <a:chExt cx="6880402" cy="94032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-1428816" y="116715"/>
              <a:ext cx="6880402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יומנים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מדדים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והתראה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על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שגיאות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Lambda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442517" y="6663566"/>
            <a:ext cx="5094141" cy="1772269"/>
            <a:chOff x="0" y="0"/>
            <a:chExt cx="6792189" cy="236302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2687691" y="6908740"/>
            <a:ext cx="760305" cy="760305"/>
            <a:chOff x="0" y="0"/>
            <a:chExt cx="1013739" cy="1013739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 sz="2400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697216" y="6908740"/>
            <a:ext cx="741245" cy="586050"/>
            <a:chOff x="0" y="-122516"/>
            <a:chExt cx="988327" cy="781399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122516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800" dirty="0">
                  <a:solidFill>
                    <a:srgbClr val="000000"/>
                  </a:solidFill>
                  <a:ea typeface="Aptos"/>
                  <a:cs typeface="Aptos"/>
                  <a:sym typeface="Aptos"/>
                </a:rPr>
                <a:t>9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616911" y="6986902"/>
            <a:ext cx="3294412" cy="301990"/>
            <a:chOff x="0" y="0"/>
            <a:chExt cx="4392549" cy="40265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800" b="1" dirty="0" err="1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EventBridge</a:t>
              </a:r>
              <a:endParaRPr lang="en-US" sz="2800" b="1" dirty="0">
                <a:solidFill>
                  <a:srgbClr val="16A34A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647323" y="7439882"/>
            <a:ext cx="5710313" cy="660378"/>
            <a:chOff x="-2626117" y="0"/>
            <a:chExt cx="7613750" cy="88050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-2626117" y="56896"/>
              <a:ext cx="7613750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729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טריגר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מתוזמן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עבור</a:t>
              </a:r>
              <a:r>
                <a:rPr lang="he-IL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Lambda</a:t>
              </a:r>
              <a:r>
                <a:rPr lang="he-IL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של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הסיכום</a:t>
              </a:r>
              <a:endParaRPr lang="en-US" sz="2400" dirty="0">
                <a:solidFill>
                  <a:srgbClr val="64748B"/>
                </a:solidFill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134626"/>
            <a:ext cx="16128901" cy="1128230"/>
            <a:chOff x="0" y="-589192"/>
            <a:chExt cx="21505202" cy="15043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9176" y="-589192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אבטחה</a:t>
              </a:r>
              <a:r>
                <a:rPr lang="en-US" sz="4203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ויכולות</a:t>
              </a:r>
              <a:r>
                <a:rPr lang="en-US" sz="4203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בונוס</a:t>
              </a:r>
              <a:endParaRPr lang="en-US" sz="4203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917069"/>
            <a:ext cx="16096687" cy="839951"/>
            <a:chOff x="0" y="-515960"/>
            <a:chExt cx="21462250" cy="11199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65011" y="-515960"/>
              <a:ext cx="15197239" cy="6151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הפרויקט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חורג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מעבר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ל-CRUD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עם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אכיפת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תפקידים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ניטור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אוטומציה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ואבטחת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נתונים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מתקדמת</a:t>
              </a:r>
              <a:r>
                <a:rPr lang="en-US" sz="2400" dirty="0">
                  <a:solidFill>
                    <a:srgbClr val="64748B"/>
                  </a:solidFill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3057" y="1845478"/>
            <a:ext cx="5231406" cy="6672710"/>
            <a:chOff x="0" y="0"/>
            <a:chExt cx="6975208" cy="88969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5221" cy="8896985"/>
            </a:xfrm>
            <a:custGeom>
              <a:avLst/>
              <a:gdLst/>
              <a:ahLst/>
              <a:cxnLst/>
              <a:rect l="l" t="t" r="r" b="b"/>
              <a:pathLst>
                <a:path w="6975221" h="8896985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828409" y="0"/>
                  </a:lnTo>
                  <a:cubicBezTo>
                    <a:pt x="6909562" y="0"/>
                    <a:pt x="6975221" y="65786"/>
                    <a:pt x="6975221" y="146812"/>
                  </a:cubicBezTo>
                  <a:lnTo>
                    <a:pt x="6975221" y="8750173"/>
                  </a:lnTo>
                  <a:cubicBezTo>
                    <a:pt x="6975221" y="8831326"/>
                    <a:pt x="6909435" y="8896985"/>
                    <a:pt x="6828409" y="8896985"/>
                  </a:cubicBezTo>
                  <a:lnTo>
                    <a:pt x="146812" y="8896985"/>
                  </a:lnTo>
                  <a:cubicBezTo>
                    <a:pt x="65786" y="8896985"/>
                    <a:pt x="0" y="8831199"/>
                    <a:pt x="0" y="87501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1769" y="2255377"/>
            <a:ext cx="3176216" cy="403412"/>
            <a:chOff x="0" y="0"/>
            <a:chExt cx="4234955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34942" cy="537845"/>
            </a:xfrm>
            <a:custGeom>
              <a:avLst/>
              <a:gdLst/>
              <a:ahLst/>
              <a:cxnLst/>
              <a:rect l="l" t="t" r="r" b="b"/>
              <a:pathLst>
                <a:path w="4234942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4100449" y="0"/>
                  </a:lnTo>
                  <a:cubicBezTo>
                    <a:pt x="4174744" y="0"/>
                    <a:pt x="4234942" y="60198"/>
                    <a:pt x="4234942" y="134493"/>
                  </a:cubicBezTo>
                  <a:lnTo>
                    <a:pt x="4234942" y="403352"/>
                  </a:lnTo>
                  <a:cubicBezTo>
                    <a:pt x="4234942" y="477647"/>
                    <a:pt x="4174744" y="537845"/>
                    <a:pt x="4100449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DC2626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51118" y="2143351"/>
            <a:ext cx="3586288" cy="714558"/>
            <a:chOff x="0" y="-262742"/>
            <a:chExt cx="4781717" cy="952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16692" cy="292837"/>
            </a:xfrm>
            <a:custGeom>
              <a:avLst/>
              <a:gdLst/>
              <a:ahLst/>
              <a:cxnLst/>
              <a:rect l="l" t="t" r="r" b="b"/>
              <a:pathLst>
                <a:path w="3916692" h="292837">
                  <a:moveTo>
                    <a:pt x="0" y="0"/>
                  </a:moveTo>
                  <a:lnTo>
                    <a:pt x="3916692" y="0"/>
                  </a:lnTo>
                  <a:lnTo>
                    <a:pt x="391669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5024" y="-262742"/>
              <a:ext cx="3916693" cy="952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/>
              <a:r>
                <a:rPr lang="en-US" sz="3000" b="1" dirty="0">
                  <a:solidFill>
                    <a:srgbClr val="DC2626"/>
                  </a:solidFill>
                  <a:ea typeface="Aptos Bold"/>
                  <a:cs typeface="Aptos Bold"/>
                  <a:sym typeface="Aptos Bold"/>
                </a:rPr>
                <a:t>אבטחת נתונים מתקדמת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15858" y="3241605"/>
            <a:ext cx="4118019" cy="439255"/>
            <a:chOff x="0" y="0"/>
            <a:chExt cx="5490693" cy="5856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אימות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Cognito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15858" y="3969124"/>
            <a:ext cx="4118019" cy="439255"/>
            <a:chOff x="0" y="0"/>
            <a:chExt cx="5490693" cy="5856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JWT Authorizer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של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API Gateway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15858" y="4696644"/>
            <a:ext cx="4118019" cy="439255"/>
            <a:chOff x="0" y="0"/>
            <a:chExt cx="5490693" cy="5856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קבוצות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Cognito: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משתמש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/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מנהל</a:t>
              </a:r>
              <a:endParaRPr lang="en-US" sz="24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33840" y="5528596"/>
            <a:ext cx="4118019" cy="439255"/>
            <a:chOff x="0" y="0"/>
            <a:chExt cx="5490693" cy="5856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Lambda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בצד-שרת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בודק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את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קבוצת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המנהל</a:t>
              </a:r>
              <a:endParaRPr lang="en-US" sz="24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815858" y="6292719"/>
            <a:ext cx="4118019" cy="439255"/>
            <a:chOff x="0" y="0"/>
            <a:chExt cx="5490693" cy="58567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S3 פרטי +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כתובות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URL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חתומות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מראש</a:t>
              </a:r>
              <a:endParaRPr lang="en-US" sz="2400" dirty="0">
                <a:solidFill>
                  <a:srgbClr val="111827"/>
                </a:solidFill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E48CEAD-107E-C5AB-D951-E52782020E1F}"/>
              </a:ext>
            </a:extLst>
          </p:cNvPr>
          <p:cNvGrpSpPr/>
          <p:nvPr/>
        </p:nvGrpSpPr>
        <p:grpSpPr>
          <a:xfrm>
            <a:off x="6032905" y="3355942"/>
            <a:ext cx="142608" cy="3780196"/>
            <a:chOff x="1472956" y="3161338"/>
            <a:chExt cx="142608" cy="3780196"/>
          </a:xfrm>
        </p:grpSpPr>
        <p:grpSp>
          <p:nvGrpSpPr>
            <p:cNvPr id="15" name="Group 15"/>
            <p:cNvGrpSpPr/>
            <p:nvPr/>
          </p:nvGrpSpPr>
          <p:grpSpPr>
            <a:xfrm>
              <a:off x="1472956" y="3161338"/>
              <a:ext cx="142608" cy="142608"/>
              <a:chOff x="0" y="0"/>
              <a:chExt cx="190144" cy="1901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72956" y="3888857"/>
              <a:ext cx="142608" cy="142608"/>
              <a:chOff x="0" y="0"/>
              <a:chExt cx="190144" cy="19014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472956" y="4616377"/>
              <a:ext cx="142608" cy="142608"/>
              <a:chOff x="0" y="0"/>
              <a:chExt cx="190144" cy="19014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472956" y="5343887"/>
              <a:ext cx="142608" cy="142608"/>
              <a:chOff x="0" y="0"/>
              <a:chExt cx="190144" cy="19014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472956" y="6071406"/>
              <a:ext cx="142608" cy="142608"/>
              <a:chOff x="0" y="0"/>
              <a:chExt cx="190144" cy="19014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472956" y="6798926"/>
              <a:ext cx="142608" cy="142608"/>
              <a:chOff x="0" y="0"/>
              <a:chExt cx="190144" cy="19014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90246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90246" h="190246">
                    <a:moveTo>
                      <a:pt x="0" y="95123"/>
                    </a:moveTo>
                    <a:cubicBezTo>
                      <a:pt x="0" y="42545"/>
                      <a:pt x="42545" y="0"/>
                      <a:pt x="95123" y="0"/>
                    </a:cubicBezTo>
                    <a:cubicBezTo>
                      <a:pt x="147701" y="0"/>
                      <a:pt x="190246" y="42545"/>
                      <a:pt x="190246" y="95123"/>
                    </a:cubicBezTo>
                    <a:cubicBezTo>
                      <a:pt x="190246" y="147701"/>
                      <a:pt x="147701" y="190246"/>
                      <a:pt x="95123" y="190246"/>
                    </a:cubicBezTo>
                    <a:cubicBezTo>
                      <a:pt x="42545" y="190246"/>
                      <a:pt x="0" y="147574"/>
                      <a:pt x="0" y="95123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  <p:txBody>
              <a:bodyPr/>
              <a:lstStyle/>
              <a:p>
                <a:endParaRPr lang="en-IL" sz="2400"/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1815858" y="6879193"/>
            <a:ext cx="4118019" cy="439255"/>
            <a:chOff x="0" y="0"/>
            <a:chExt cx="5490693" cy="5856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תפקידי IAM בהרשאות מינימום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49831" y="1845478"/>
            <a:ext cx="4888240" cy="6672710"/>
            <a:chOff x="0" y="0"/>
            <a:chExt cx="6517653" cy="889694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17640" cy="8896985"/>
            </a:xfrm>
            <a:custGeom>
              <a:avLst/>
              <a:gdLst/>
              <a:ahLst/>
              <a:cxnLst/>
              <a:rect l="l" t="t" r="r" b="b"/>
              <a:pathLst>
                <a:path w="6517640" h="8896985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8750046"/>
                  </a:lnTo>
                  <a:cubicBezTo>
                    <a:pt x="6517640" y="8831199"/>
                    <a:pt x="6451854" y="8896985"/>
                    <a:pt x="6370701" y="8896985"/>
                  </a:cubicBezTo>
                  <a:lnTo>
                    <a:pt x="146939" y="8896985"/>
                  </a:lnTo>
                  <a:cubicBezTo>
                    <a:pt x="65786" y="8896985"/>
                    <a:pt x="0" y="8831199"/>
                    <a:pt x="0" y="87500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51686" y="2210214"/>
            <a:ext cx="2901677" cy="654429"/>
            <a:chOff x="0" y="0"/>
            <a:chExt cx="3868903" cy="53788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68928" cy="537845"/>
            </a:xfrm>
            <a:custGeom>
              <a:avLst/>
              <a:gdLst/>
              <a:ahLst/>
              <a:cxnLst/>
              <a:rect l="l" t="t" r="r" b="b"/>
              <a:pathLst>
                <a:path w="3868928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734435" y="0"/>
                  </a:lnTo>
                  <a:cubicBezTo>
                    <a:pt x="3808730" y="0"/>
                    <a:pt x="3868928" y="60198"/>
                    <a:pt x="3868928" y="134493"/>
                  </a:cubicBezTo>
                  <a:lnTo>
                    <a:pt x="3868928" y="403352"/>
                  </a:lnTo>
                  <a:cubicBezTo>
                    <a:pt x="3868928" y="477647"/>
                    <a:pt x="3808730" y="537845"/>
                    <a:pt x="3734435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10441" y="1975276"/>
            <a:ext cx="3443930" cy="896465"/>
            <a:chOff x="0" y="-486843"/>
            <a:chExt cx="4591907" cy="11952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550646" cy="292837"/>
            </a:xfrm>
            <a:custGeom>
              <a:avLst/>
              <a:gdLst/>
              <a:ahLst/>
              <a:cxnLst/>
              <a:rect l="l" t="t" r="r" b="b"/>
              <a:pathLst>
                <a:path w="3550646" h="292837">
                  <a:moveTo>
                    <a:pt x="0" y="0"/>
                  </a:moveTo>
                  <a:lnTo>
                    <a:pt x="3550646" y="0"/>
                  </a:lnTo>
                  <a:lnTo>
                    <a:pt x="3550646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255" b="-1862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266" y="-486843"/>
              <a:ext cx="3550641" cy="1195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/>
              <a:r>
                <a:rPr lang="en-US" sz="3000" b="1" dirty="0">
                  <a:solidFill>
                    <a:srgbClr val="F59E0B"/>
                  </a:solidFill>
                  <a:ea typeface="Aptos Bold"/>
                  <a:cs typeface="Aptos Bold"/>
                  <a:sym typeface="Aptos Bold"/>
                </a:rPr>
                <a:t>ניטור CloudWatch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29334" y="3444204"/>
            <a:ext cx="4394351" cy="754971"/>
            <a:chOff x="0" y="0"/>
            <a:chExt cx="5859134" cy="100662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07667" cy="1006626"/>
            </a:xfrm>
            <a:custGeom>
              <a:avLst/>
              <a:gdLst/>
              <a:ahLst/>
              <a:cxnLst/>
              <a:rect l="l" t="t" r="r" b="b"/>
              <a:pathLst>
                <a:path w="5307667" h="1006626">
                  <a:moveTo>
                    <a:pt x="0" y="0"/>
                  </a:moveTo>
                  <a:lnTo>
                    <a:pt x="5307667" y="0"/>
                  </a:lnTo>
                  <a:lnTo>
                    <a:pt x="530766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5859134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395"/>
                </a:lnSpc>
              </a:pP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מנטר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יומני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Lambda,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שגיאות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והתראות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לצורך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נראות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תפעולית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 rot="1200000">
            <a:off x="7334269" y="4108485"/>
            <a:ext cx="3244844" cy="3244844"/>
            <a:chOff x="0" y="0"/>
            <a:chExt cx="4326458" cy="4326458"/>
          </a:xfrm>
        </p:grpSpPr>
        <p:sp>
          <p:nvSpPr>
            <p:cNvPr id="56" name="Freeform 56"/>
            <p:cNvSpPr/>
            <p:nvPr/>
          </p:nvSpPr>
          <p:spPr>
            <a:xfrm>
              <a:off x="2163191" y="0"/>
              <a:ext cx="2163191" cy="2163191"/>
            </a:xfrm>
            <a:custGeom>
              <a:avLst/>
              <a:gdLst/>
              <a:ahLst/>
              <a:cxnLst/>
              <a:rect l="l" t="t" r="r" b="b"/>
              <a:pathLst>
                <a:path w="2163191" h="2163191">
                  <a:moveTo>
                    <a:pt x="0" y="0"/>
                  </a:moveTo>
                  <a:cubicBezTo>
                    <a:pt x="1194689" y="0"/>
                    <a:pt x="2163191" y="968502"/>
                    <a:pt x="2163191" y="2163191"/>
                  </a:cubicBezTo>
                  <a:lnTo>
                    <a:pt x="0" y="2163191"/>
                  </a:lnTo>
                  <a:close/>
                </a:path>
              </a:pathLst>
            </a:custGeom>
            <a:solidFill>
              <a:srgbClr val="F59E0B">
                <a:alpha val="5882"/>
              </a:srgbClr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2163191" y="0"/>
              <a:ext cx="2163191" cy="2163191"/>
            </a:xfrm>
            <a:custGeom>
              <a:avLst/>
              <a:gdLst/>
              <a:ahLst/>
              <a:cxnLst/>
              <a:rect l="l" t="t" r="r" b="b"/>
              <a:pathLst>
                <a:path w="2163191" h="2163191">
                  <a:moveTo>
                    <a:pt x="0" y="0"/>
                  </a:moveTo>
                  <a:cubicBezTo>
                    <a:pt x="1194689" y="0"/>
                    <a:pt x="2163191" y="968502"/>
                    <a:pt x="2163191" y="2163191"/>
                  </a:cubicBezTo>
                </a:path>
              </a:pathLst>
            </a:custGeom>
            <a:solidFill>
              <a:srgbClr val="F59E0B">
                <a:alpha val="5882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9" name="Freeform 59"/>
          <p:cNvSpPr/>
          <p:nvPr/>
        </p:nvSpPr>
        <p:spPr>
          <a:xfrm>
            <a:off x="7851686" y="5037706"/>
            <a:ext cx="2264910" cy="617702"/>
          </a:xfrm>
          <a:custGeom>
            <a:avLst/>
            <a:gdLst/>
            <a:ahLst/>
            <a:cxnLst/>
            <a:rect l="l" t="t" r="r" b="b"/>
            <a:pathLst>
              <a:path w="3019879" h="823603">
                <a:moveTo>
                  <a:pt x="0" y="0"/>
                </a:moveTo>
                <a:lnTo>
                  <a:pt x="3019879" y="0"/>
                </a:lnTo>
                <a:lnTo>
                  <a:pt x="3019879" y="823603"/>
                </a:lnTo>
                <a:lnTo>
                  <a:pt x="0" y="823603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1444" b="-21445"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1" name="Group 61"/>
          <p:cNvGrpSpPr/>
          <p:nvPr/>
        </p:nvGrpSpPr>
        <p:grpSpPr>
          <a:xfrm>
            <a:off x="11865988" y="1845478"/>
            <a:ext cx="4956877" cy="6672710"/>
            <a:chOff x="0" y="0"/>
            <a:chExt cx="6609169" cy="889694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609080" cy="8896858"/>
            </a:xfrm>
            <a:custGeom>
              <a:avLst/>
              <a:gdLst/>
              <a:ahLst/>
              <a:cxnLst/>
              <a:rect l="l" t="t" r="r" b="b"/>
              <a:pathLst>
                <a:path w="6609080" h="889685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462268" y="0"/>
                  </a:lnTo>
                  <a:cubicBezTo>
                    <a:pt x="6543421" y="0"/>
                    <a:pt x="6609080" y="65786"/>
                    <a:pt x="6609080" y="146812"/>
                  </a:cubicBezTo>
                  <a:lnTo>
                    <a:pt x="6609080" y="8750046"/>
                  </a:lnTo>
                  <a:cubicBezTo>
                    <a:pt x="6609080" y="8831199"/>
                    <a:pt x="6543294" y="8896858"/>
                    <a:pt x="6462268" y="8896858"/>
                  </a:cubicBezTo>
                  <a:lnTo>
                    <a:pt x="146812" y="8896858"/>
                  </a:lnTo>
                  <a:cubicBezTo>
                    <a:pt x="65786" y="8896985"/>
                    <a:pt x="0" y="8831199"/>
                    <a:pt x="0" y="87500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207250" y="2192094"/>
            <a:ext cx="4328150" cy="466695"/>
            <a:chOff x="0" y="0"/>
            <a:chExt cx="4234955" cy="53788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234942" cy="537845"/>
            </a:xfrm>
            <a:custGeom>
              <a:avLst/>
              <a:gdLst/>
              <a:ahLst/>
              <a:cxnLst/>
              <a:rect l="l" t="t" r="r" b="b"/>
              <a:pathLst>
                <a:path w="4234942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4100449" y="0"/>
                  </a:lnTo>
                  <a:cubicBezTo>
                    <a:pt x="4174744" y="0"/>
                    <a:pt x="4234942" y="60198"/>
                    <a:pt x="4234942" y="134493"/>
                  </a:cubicBezTo>
                  <a:lnTo>
                    <a:pt x="4234942" y="403352"/>
                  </a:lnTo>
                  <a:cubicBezTo>
                    <a:pt x="4234942" y="477647"/>
                    <a:pt x="4174744" y="537845"/>
                    <a:pt x="4100449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390847" y="2221931"/>
            <a:ext cx="3975169" cy="338103"/>
            <a:chOff x="0" y="0"/>
            <a:chExt cx="3930761" cy="33722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916692" cy="292837"/>
            </a:xfrm>
            <a:custGeom>
              <a:avLst/>
              <a:gdLst/>
              <a:ahLst/>
              <a:cxnLst/>
              <a:rect l="l" t="t" r="r" b="b"/>
              <a:pathLst>
                <a:path w="3916692" h="292837">
                  <a:moveTo>
                    <a:pt x="0" y="0"/>
                  </a:moveTo>
                  <a:lnTo>
                    <a:pt x="3916692" y="0"/>
                  </a:lnTo>
                  <a:lnTo>
                    <a:pt x="391669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4068" y="44390"/>
              <a:ext cx="3916693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/>
              <a:r>
                <a:rPr lang="en-US" sz="3000" b="1" dirty="0" err="1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EventBridge</a:t>
              </a:r>
              <a:r>
                <a:rPr lang="en-US" sz="3000" b="1" dirty="0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he-IL" sz="3000" b="1" dirty="0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3000" b="1" dirty="0" err="1">
                  <a:solidFill>
                    <a:srgbClr val="16A34A"/>
                  </a:solidFill>
                  <a:ea typeface="Aptos Bold"/>
                  <a:cs typeface="Aptos Bold"/>
                  <a:sym typeface="Aptos Bold"/>
                </a:rPr>
                <a:t>אוטומציה</a:t>
              </a:r>
              <a:endParaRPr lang="en-US" sz="3000" b="1" dirty="0">
                <a:solidFill>
                  <a:srgbClr val="16A34A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052215" y="3488639"/>
            <a:ext cx="4728090" cy="768701"/>
            <a:chOff x="-589739" y="-18307"/>
            <a:chExt cx="6304120" cy="102493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124644" cy="1006626"/>
            </a:xfrm>
            <a:custGeom>
              <a:avLst/>
              <a:gdLst/>
              <a:ahLst/>
              <a:cxnLst/>
              <a:rect l="l" t="t" r="r" b="b"/>
              <a:pathLst>
                <a:path w="5124644" h="1006626">
                  <a:moveTo>
                    <a:pt x="0" y="0"/>
                  </a:moveTo>
                  <a:lnTo>
                    <a:pt x="5124644" y="0"/>
                  </a:lnTo>
                  <a:lnTo>
                    <a:pt x="5124644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96" b="-4919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-589739" y="-18307"/>
              <a:ext cx="6304120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395"/>
                </a:lnSpc>
              </a:pP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חוק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מתוזמן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מפעיל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את Lambda </a:t>
              </a:r>
              <a:r>
                <a:rPr lang="he-IL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בשם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sendDailySummary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באופן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אוטומטי</a:t>
              </a:r>
              <a:r>
                <a:rPr lang="en-US" sz="2400" dirty="0">
                  <a:solidFill>
                    <a:srgbClr val="111827"/>
                  </a:solidFill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789036" y="5506497"/>
            <a:ext cx="1403175" cy="30509"/>
            <a:chOff x="0" y="0"/>
            <a:chExt cx="1870900" cy="4067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70964" cy="40640"/>
            </a:xfrm>
            <a:custGeom>
              <a:avLst/>
              <a:gdLst/>
              <a:ahLst/>
              <a:cxnLst/>
              <a:rect l="l" t="t" r="r" b="b"/>
              <a:pathLst>
                <a:path w="1870964" h="40640">
                  <a:moveTo>
                    <a:pt x="0" y="0"/>
                  </a:moveTo>
                  <a:lnTo>
                    <a:pt x="187096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46965" r="3" b="-847058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298977" y="5506497"/>
            <a:ext cx="1128646" cy="30509"/>
            <a:chOff x="0" y="0"/>
            <a:chExt cx="1504861" cy="4067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504823" cy="40640"/>
            </a:xfrm>
            <a:custGeom>
              <a:avLst/>
              <a:gdLst/>
              <a:ahLst/>
              <a:cxnLst/>
              <a:rect l="l" t="t" r="r" b="b"/>
              <a:pathLst>
                <a:path w="1504823" h="40640">
                  <a:moveTo>
                    <a:pt x="0" y="0"/>
                  </a:moveTo>
                  <a:lnTo>
                    <a:pt x="1504823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671465" r="-2" b="-671559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316225" y="5143500"/>
            <a:ext cx="1195749" cy="770220"/>
            <a:chOff x="0" y="0"/>
            <a:chExt cx="1594333" cy="102696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406215" y="5398208"/>
            <a:ext cx="1029506" cy="221131"/>
            <a:chOff x="-3" y="0"/>
            <a:chExt cx="1372675" cy="29484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-3" y="75208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441"/>
                </a:lnSpc>
              </a:pPr>
              <a:r>
                <a:rPr lang="en-US" sz="2400" b="1" dirty="0" err="1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חוק</a:t>
              </a:r>
              <a:endParaRPr lang="en-US" sz="12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757538" y="5143500"/>
            <a:ext cx="1195749" cy="770220"/>
            <a:chOff x="0" y="0"/>
            <a:chExt cx="1594333" cy="10269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47521" y="5398208"/>
            <a:ext cx="1029504" cy="233362"/>
            <a:chOff x="0" y="0"/>
            <a:chExt cx="1372672" cy="31115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" y="91516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4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Lambda</a:t>
              </a:r>
              <a:endParaRPr lang="en-US" sz="20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198842" y="5143500"/>
            <a:ext cx="1195749" cy="770220"/>
            <a:chOff x="0" y="0"/>
            <a:chExt cx="1594333" cy="10269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288825" y="5398208"/>
            <a:ext cx="1075074" cy="247085"/>
            <a:chOff x="0" y="0"/>
            <a:chExt cx="1433432" cy="32944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765" y="109814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400" b="1" dirty="0">
                  <a:solidFill>
                    <a:srgbClr val="111827"/>
                  </a:solidFill>
                  <a:ea typeface="Aptos Bold"/>
                  <a:cs typeface="Aptos Bold"/>
                  <a:sym typeface="Aptos Bold"/>
                </a:rPr>
                <a:t>SNS</a:t>
              </a:r>
              <a:endParaRPr lang="en-US" sz="14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578569" y="8812559"/>
            <a:ext cx="15099392" cy="411804"/>
            <a:chOff x="0" y="0"/>
            <a:chExt cx="20132523" cy="54907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0132529" cy="549069"/>
            </a:xfrm>
            <a:custGeom>
              <a:avLst/>
              <a:gdLst/>
              <a:ahLst/>
              <a:cxnLst/>
              <a:rect l="l" t="t" r="r" b="b"/>
              <a:pathLst>
                <a:path w="20132529" h="549069">
                  <a:moveTo>
                    <a:pt x="0" y="0"/>
                  </a:moveTo>
                  <a:lnTo>
                    <a:pt x="20132529" y="0"/>
                  </a:lnTo>
                  <a:lnTo>
                    <a:pt x="20132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4450" b="-664451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2013252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449"/>
                </a:lnSpc>
              </a:pP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קטגוריות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הבונוס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הרשמיות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שכוסו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: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ניטור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CloudWatch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מתקדם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•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EventBridge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•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אבטחת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נתונים</a:t>
              </a:r>
              <a:r>
                <a:rPr lang="en-US" sz="2800" b="1" dirty="0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2563EB"/>
                  </a:solidFill>
                  <a:ea typeface="Aptos Bold"/>
                  <a:cs typeface="Aptos Bold"/>
                  <a:sym typeface="Aptos Bold"/>
                </a:rPr>
                <a:t>מתקדמת</a:t>
              </a:r>
              <a:endParaRPr lang="en-US" sz="2800" b="1" dirty="0">
                <a:solidFill>
                  <a:srgbClr val="2563EB"/>
                </a:solidFill>
                <a:ea typeface="Aptos Bold"/>
                <a:cs typeface="Aptos Bold"/>
                <a:sym typeface="Aptos Bold"/>
              </a:endParaRPr>
            </a:p>
          </p:txBody>
        </p:sp>
      </p:grpSp>
      <p:sp>
        <p:nvSpPr>
          <p:cNvPr id="93" name="TextBox 60">
            <a:extLst>
              <a:ext uri="{FF2B5EF4-FFF2-40B4-BE49-F238E27FC236}">
                <a16:creationId xmlns:a16="http://schemas.microsoft.com/office/drawing/2014/main" id="{EB8F6F17-852D-F3B1-6645-EA6344565984}"/>
              </a:ext>
            </a:extLst>
          </p:cNvPr>
          <p:cNvSpPr txBox="1"/>
          <p:nvPr/>
        </p:nvSpPr>
        <p:spPr>
          <a:xfrm>
            <a:off x="7746954" y="5053179"/>
            <a:ext cx="2901696" cy="10408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521"/>
              </a:lnSpc>
            </a:pPr>
            <a:r>
              <a:rPr lang="en-US" sz="28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rPr>
              <a:t>Errors ≥ threshold</a:t>
            </a:r>
          </a:p>
          <a:p>
            <a:pPr algn="ctr">
              <a:lnSpc>
                <a:spcPts val="2521"/>
              </a:lnSpc>
            </a:pPr>
            <a:r>
              <a:rPr lang="en-US" sz="2800" b="1" dirty="0">
                <a:solidFill>
                  <a:srgbClr val="111827"/>
                </a:solidFill>
                <a:ea typeface="Aptos Bold"/>
                <a:cs typeface="Aptos Bold"/>
                <a:sym typeface="Aptos Bold"/>
              </a:rPr>
              <a:t>→ SNS alert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253948"/>
            <a:ext cx="16150855" cy="1008908"/>
            <a:chOff x="0" y="-430096"/>
            <a:chExt cx="21534474" cy="13452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8448" y="-430096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אתגרי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הפרויקט</a:t>
              </a: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120301"/>
            <a:ext cx="16123404" cy="636719"/>
            <a:chOff x="0" y="-244984"/>
            <a:chExt cx="21497873" cy="848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22082" y="-244984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בעיות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טכניות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מרכזיות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שפתרנו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במהלך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היישום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782" y="1845478"/>
            <a:ext cx="15800984" cy="1044759"/>
            <a:chOff x="0" y="0"/>
            <a:chExt cx="21067979" cy="13930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02229" y="2084610"/>
            <a:ext cx="458324" cy="458324"/>
            <a:chOff x="0" y="0"/>
            <a:chExt cx="611099" cy="6110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02226" y="2334310"/>
            <a:ext cx="439255" cy="109814"/>
            <a:chOff x="0" y="0"/>
            <a:chExt cx="585673" cy="146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8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022380" y="1974613"/>
            <a:ext cx="9134915" cy="642198"/>
            <a:chOff x="-4193245" y="0"/>
            <a:chExt cx="9958469" cy="5917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4193245" y="79274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77"/>
                </a:lnSpc>
              </a:pP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CORS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ובקשות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preflight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של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הדפדפן</a:t>
              </a:r>
              <a:endParaRPr lang="en-US" sz="24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990600" y="2013326"/>
            <a:ext cx="12389739" cy="684772"/>
            <a:chOff x="-3962400" y="-152464"/>
            <a:chExt cx="16519652" cy="9130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  <p:txBody>
            <a:bodyPr/>
            <a:lstStyle/>
            <a:p>
              <a:endParaRPr lang="en-IL" sz="24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962400" y="-152464"/>
              <a:ext cx="16519652" cy="913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הגדרנו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CORS ב-API Gateway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עבור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GET, POST, PUT, DELETE, OPTIONS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וכותרת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ה-authorization.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7782" y="3190704"/>
            <a:ext cx="15800984" cy="1044759"/>
            <a:chOff x="0" y="0"/>
            <a:chExt cx="21067979" cy="13930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02229" y="3429826"/>
            <a:ext cx="458324" cy="458324"/>
            <a:chOff x="0" y="0"/>
            <a:chExt cx="611099" cy="6110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411763" y="3665076"/>
            <a:ext cx="439255" cy="109814"/>
            <a:chOff x="0" y="0"/>
            <a:chExt cx="585673" cy="1464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022380" y="3405368"/>
            <a:ext cx="5288450" cy="556165"/>
            <a:chOff x="0" y="0"/>
            <a:chExt cx="5765228" cy="5124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77"/>
                </a:lnSpc>
              </a:pPr>
              <a:r>
                <a:rPr lang="en-US" sz="2400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גישה לתמונת S3 נדחתה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8229" y="3490811"/>
            <a:ext cx="9874063" cy="458343"/>
            <a:chOff x="0" y="0"/>
            <a:chExt cx="12354052" cy="5124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354052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עברנו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מקישורי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S3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ישירים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לאובייקטים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פרטיים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כתובות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URL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חתומות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מראש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שנוצרות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ע"י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Lambda.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7782" y="4535919"/>
            <a:ext cx="15800984" cy="1044759"/>
            <a:chOff x="0" y="0"/>
            <a:chExt cx="21067979" cy="13930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02229" y="4775051"/>
            <a:ext cx="458324" cy="458324"/>
            <a:chOff x="0" y="0"/>
            <a:chExt cx="611099" cy="61109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411763" y="5010292"/>
            <a:ext cx="439255" cy="109814"/>
            <a:chOff x="0" y="0"/>
            <a:chExt cx="585673" cy="1464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03330" y="4738200"/>
            <a:ext cx="5288450" cy="556165"/>
            <a:chOff x="0" y="0"/>
            <a:chExt cx="5765228" cy="5124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77"/>
                </a:lnSpc>
              </a:pP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Cognito 401 Unauthorized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72981" y="4850677"/>
            <a:ext cx="9819311" cy="415279"/>
            <a:chOff x="-738363" y="0"/>
            <a:chExt cx="13092415" cy="55370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-738363" y="0"/>
              <a:ext cx="13092415" cy="553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התאמנו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את ה-issuer/audience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של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ה-JWT authorizer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ושלחנו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Authorization: Bearer &lt;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idToken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&gt;.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27782" y="5881135"/>
            <a:ext cx="15800984" cy="1044759"/>
            <a:chOff x="0" y="0"/>
            <a:chExt cx="21067979" cy="139301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402229" y="6120267"/>
            <a:ext cx="458324" cy="458324"/>
            <a:chOff x="0" y="0"/>
            <a:chExt cx="611099" cy="61109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411763" y="6355517"/>
            <a:ext cx="439255" cy="109814"/>
            <a:chOff x="0" y="0"/>
            <a:chExt cx="585673" cy="1464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888133" y="6010270"/>
            <a:ext cx="9269162" cy="642205"/>
            <a:chOff x="-4339595" y="0"/>
            <a:chExt cx="10104819" cy="5917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-4339595" y="7928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77"/>
                </a:lnSpc>
              </a:pP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פעולות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למנהל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בלבד</a:t>
              </a:r>
              <a:endParaRPr lang="en-US" sz="24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22490" y="6163331"/>
            <a:ext cx="9724248" cy="439269"/>
            <a:chOff x="-611613" y="0"/>
            <a:chExt cx="12965664" cy="58569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-611613" y="73221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071"/>
                </a:lnSpc>
              </a:pP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הוספנו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ממשק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מבוסס-תפקידים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בצד-לקוח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ואימות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קבוצה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בצד-שרת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ב-Lambda.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27782" y="7226360"/>
            <a:ext cx="15800984" cy="1044759"/>
            <a:chOff x="0" y="0"/>
            <a:chExt cx="21067979" cy="139301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402229" y="7465482"/>
            <a:ext cx="458324" cy="458324"/>
            <a:chOff x="0" y="0"/>
            <a:chExt cx="611099" cy="61109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402225" y="7748758"/>
            <a:ext cx="439255" cy="109814"/>
            <a:chOff x="0" y="0"/>
            <a:chExt cx="585673" cy="14641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996356" y="7413504"/>
            <a:ext cx="5288450" cy="556165"/>
            <a:chOff x="0" y="0"/>
            <a:chExt cx="5765228" cy="51247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  <p:txBody>
            <a:bodyPr/>
            <a:lstStyle/>
            <a:p>
              <a:pPr algn="r"/>
              <a:endParaRPr lang="en-IL" sz="240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377"/>
                </a:lnSpc>
              </a:pP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מורכבות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תהליך</a:t>
              </a:r>
              <a:r>
                <a:rPr lang="en-US" sz="24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הממשק</a:t>
              </a:r>
              <a:endParaRPr lang="en-US" sz="24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08601" y="7508547"/>
            <a:ext cx="9938138" cy="432384"/>
            <a:chOff x="-896799" y="0"/>
            <a:chExt cx="13250850" cy="57651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  <p:txBody>
            <a:bodyPr/>
            <a:lstStyle/>
            <a:p>
              <a:endParaRPr lang="en-IL" sz="20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-896799" y="64049"/>
              <a:ext cx="12760452" cy="5124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071"/>
                </a:lnSpc>
              </a:pP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פיצלנו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את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האפליקציה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לדפי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נחיתה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התחברות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ולוח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בקרה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חלונות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מודאליים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והתראות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0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מוקפצות</a:t>
              </a:r>
              <a:r>
                <a:rPr lang="en-US" sz="20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72981" y="8773857"/>
            <a:ext cx="15511196" cy="384353"/>
            <a:chOff x="0" y="0"/>
            <a:chExt cx="20681594" cy="51247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681598" cy="512464"/>
            </a:xfrm>
            <a:custGeom>
              <a:avLst/>
              <a:gdLst/>
              <a:ahLst/>
              <a:cxnLst/>
              <a:rect l="l" t="t" r="r" b="b"/>
              <a:pathLst>
                <a:path w="20681598" h="512464">
                  <a:moveTo>
                    <a:pt x="0" y="0"/>
                  </a:moveTo>
                  <a:lnTo>
                    <a:pt x="20681598" y="0"/>
                  </a:lnTo>
                  <a:lnTo>
                    <a:pt x="2068159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59" b="-736360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20681594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612"/>
                </a:lnSpc>
              </a:pP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הלקח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המרכזי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: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אפליקציות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ענן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ב-AWS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דורשות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שילוב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של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קוד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+ IAM +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הגדרת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API +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אבטחה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כדי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לעבוד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יחד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105582"/>
            <a:ext cx="15991622" cy="1157274"/>
            <a:chOff x="0" y="-627918"/>
            <a:chExt cx="21322164" cy="1543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6138" y="-627918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תוצאות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ולקחים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שנלמדו</a:t>
              </a: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77014" y="916645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המערכת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הסופית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היא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אפליקציית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AWS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חסרת-שרת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מקצה-לקצה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עם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תהליך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עבודה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אמיתי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782" y="1886664"/>
            <a:ext cx="2829230" cy="1456553"/>
            <a:chOff x="0" y="0"/>
            <a:chExt cx="3772306" cy="19420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1769" y="2090652"/>
            <a:ext cx="979932" cy="403412"/>
            <a:chOff x="0" y="0"/>
            <a:chExt cx="1306576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51108" y="2147472"/>
            <a:ext cx="2341197" cy="289775"/>
            <a:chOff x="0" y="-93531"/>
            <a:chExt cx="3121597" cy="3863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15034" y="-93531"/>
              <a:ext cx="1306563" cy="272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דוגמה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15965" y="2560383"/>
            <a:ext cx="823608" cy="480431"/>
            <a:chOff x="0" y="0"/>
            <a:chExt cx="1098144" cy="6405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79826" y="2637096"/>
            <a:ext cx="2387406" cy="401054"/>
            <a:chOff x="-1261467" y="0"/>
            <a:chExt cx="3183208" cy="5347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1261467" y="58883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11"/>
                </a:lnSpc>
              </a:pP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פריטי</a:t>
              </a:r>
              <a:r>
                <a:rPr lang="en-US" sz="20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דוגמה</a:t>
              </a:r>
              <a:endParaRPr lang="en-US" sz="20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47655" y="1886664"/>
            <a:ext cx="2829230" cy="1456553"/>
            <a:chOff x="0" y="0"/>
            <a:chExt cx="3772306" cy="19420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51652" y="2090652"/>
            <a:ext cx="979932" cy="403412"/>
            <a:chOff x="0" y="0"/>
            <a:chExt cx="1306576" cy="5378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21973" y="2161615"/>
            <a:ext cx="741245" cy="219627"/>
            <a:chOff x="0" y="0"/>
            <a:chExt cx="988327" cy="2928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4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  <a:endParaRPr lang="en-US" sz="2000" b="1" dirty="0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59479" y="2544019"/>
            <a:ext cx="823608" cy="480431"/>
            <a:chOff x="0" y="0"/>
            <a:chExt cx="1098144" cy="6405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5+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88661" y="2654182"/>
            <a:ext cx="1441304" cy="356892"/>
            <a:chOff x="0" y="0"/>
            <a:chExt cx="1921739" cy="4758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11"/>
                </a:lnSpc>
              </a:pP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שירותי</a:t>
              </a:r>
              <a:r>
                <a:rPr lang="en-US" sz="20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AWS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67537" y="1886664"/>
            <a:ext cx="2829230" cy="1456553"/>
            <a:chOff x="0" y="0"/>
            <a:chExt cx="3772306" cy="19420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71534" y="2090652"/>
            <a:ext cx="979932" cy="403412"/>
            <a:chOff x="0" y="0"/>
            <a:chExt cx="1306576" cy="5378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90882" y="2161614"/>
            <a:ext cx="2235175" cy="233694"/>
            <a:chOff x="0" y="-18756"/>
            <a:chExt cx="2980233" cy="31159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73669" y="-18756"/>
              <a:ext cx="1306564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תפקיד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38913" y="2513560"/>
            <a:ext cx="823608" cy="480431"/>
            <a:chOff x="0" y="0"/>
            <a:chExt cx="1098144" cy="64057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76866" y="2618137"/>
            <a:ext cx="2426574" cy="903539"/>
            <a:chOff x="0" y="-728859"/>
            <a:chExt cx="3235433" cy="12047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13694" y="-728859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11"/>
                </a:lnSpc>
              </a:pP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תפקידים</a:t>
              </a:r>
              <a:endParaRPr lang="en-US" sz="20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287419" y="1886664"/>
            <a:ext cx="2829230" cy="1456553"/>
            <a:chOff x="0" y="0"/>
            <a:chExt cx="3772306" cy="194207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491416" y="2090652"/>
            <a:ext cx="979932" cy="403412"/>
            <a:chOff x="0" y="0"/>
            <a:chExt cx="1306576" cy="5378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610755" y="2175681"/>
            <a:ext cx="2252729" cy="219627"/>
            <a:chOff x="0" y="0"/>
            <a:chExt cx="3003640" cy="29283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15313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4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בונוס</a:t>
              </a:r>
              <a:endParaRPr lang="en-US" sz="2000" b="1" dirty="0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50351" y="2529854"/>
            <a:ext cx="823608" cy="480431"/>
            <a:chOff x="0" y="0"/>
            <a:chExt cx="1098144" cy="6405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808957" y="2653394"/>
            <a:ext cx="1441304" cy="356892"/>
            <a:chOff x="0" y="0"/>
            <a:chExt cx="1921739" cy="475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11"/>
                </a:lnSpc>
              </a:pP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תחומי</a:t>
              </a:r>
              <a:r>
                <a:rPr lang="en-US" sz="20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בונוס</a:t>
              </a:r>
              <a:endParaRPr lang="en-US" sz="20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07292" y="1886664"/>
            <a:ext cx="2829230" cy="1456553"/>
            <a:chOff x="0" y="0"/>
            <a:chExt cx="3772306" cy="194207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11289" y="2090652"/>
            <a:ext cx="979932" cy="403412"/>
            <a:chOff x="0" y="0"/>
            <a:chExt cx="1306576" cy="53788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0891B2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222931" y="2249695"/>
            <a:ext cx="741245" cy="219627"/>
            <a:chOff x="0" y="0"/>
            <a:chExt cx="988327" cy="29283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400" b="1" dirty="0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251506" y="2565672"/>
            <a:ext cx="823608" cy="480431"/>
            <a:chOff x="0" y="0"/>
            <a:chExt cx="1098144" cy="64057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934324" y="2637099"/>
            <a:ext cx="1441304" cy="356892"/>
            <a:chOff x="0" y="0"/>
            <a:chExt cx="1921739" cy="47585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1711"/>
                </a:lnSpc>
              </a:pPr>
              <a:r>
                <a:rPr lang="en-US" sz="20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נתיבי</a:t>
              </a:r>
              <a:r>
                <a:rPr lang="en-US" sz="20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API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96410" y="4110390"/>
            <a:ext cx="7496318" cy="3858730"/>
            <a:chOff x="0" y="0"/>
            <a:chExt cx="9995090" cy="514497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995027" cy="5144897"/>
            </a:xfrm>
            <a:custGeom>
              <a:avLst/>
              <a:gdLst/>
              <a:ahLst/>
              <a:cxnLst/>
              <a:rect l="l" t="t" r="r" b="b"/>
              <a:pathLst>
                <a:path w="9995027" h="514489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848088" y="0"/>
                  </a:lnTo>
                  <a:cubicBezTo>
                    <a:pt x="9929241" y="0"/>
                    <a:pt x="9995027" y="65786"/>
                    <a:pt x="9995027" y="146939"/>
                  </a:cubicBezTo>
                  <a:lnTo>
                    <a:pt x="9995027" y="4997958"/>
                  </a:lnTo>
                  <a:cubicBezTo>
                    <a:pt x="9995027" y="5079111"/>
                    <a:pt x="9929241" y="5144897"/>
                    <a:pt x="9848088" y="5144897"/>
                  </a:cubicBezTo>
                  <a:lnTo>
                    <a:pt x="146939" y="5144897"/>
                  </a:lnTo>
                  <a:cubicBezTo>
                    <a:pt x="65786" y="5145024"/>
                    <a:pt x="0" y="5079111"/>
                    <a:pt x="0" y="49979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63410" y="4517621"/>
            <a:ext cx="2421998" cy="219627"/>
            <a:chOff x="0" y="0"/>
            <a:chExt cx="3229330" cy="29283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818554" cy="292837"/>
            </a:xfrm>
            <a:custGeom>
              <a:avLst/>
              <a:gdLst/>
              <a:ahLst/>
              <a:cxnLst/>
              <a:rect l="l" t="t" r="r" b="b"/>
              <a:pathLst>
                <a:path w="2818554" h="292837">
                  <a:moveTo>
                    <a:pt x="0" y="0"/>
                  </a:moveTo>
                  <a:lnTo>
                    <a:pt x="2818554" y="0"/>
                  </a:lnTo>
                  <a:lnTo>
                    <a:pt x="281855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543" b="-1375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1"/>
              <a:ext cx="3229330" cy="2095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8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יכולות שסופקו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375563" y="5345576"/>
            <a:ext cx="142608" cy="142608"/>
            <a:chOff x="0" y="0"/>
            <a:chExt cx="190144" cy="19014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2221880" y="5212168"/>
            <a:ext cx="6039755" cy="439255"/>
            <a:chOff x="0" y="0"/>
            <a:chExt cx="8053006" cy="58567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אימות, תפקידי משתמש/מנהל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75563" y="6031919"/>
            <a:ext cx="142608" cy="142608"/>
            <a:chOff x="0" y="0"/>
            <a:chExt cx="190144" cy="19014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2221880" y="5898511"/>
            <a:ext cx="6039755" cy="439255"/>
            <a:chOff x="0" y="0"/>
            <a:chExt cx="8053006" cy="58567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דיווח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על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פריטים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עם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העלאת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תמונה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375563" y="6718253"/>
            <a:ext cx="142608" cy="142608"/>
            <a:chOff x="0" y="0"/>
            <a:chExt cx="190144" cy="19014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2221880" y="6584845"/>
            <a:ext cx="6039755" cy="439255"/>
            <a:chOff x="0" y="0"/>
            <a:chExt cx="8053006" cy="585673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תוויות AI, חיפוש, מסננים, ציר זמן סטטוס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375563" y="7404586"/>
            <a:ext cx="142608" cy="142608"/>
            <a:chOff x="0" y="0"/>
            <a:chExt cx="190144" cy="19014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2221880" y="7271178"/>
            <a:ext cx="6039755" cy="439255"/>
            <a:chOff x="0" y="0"/>
            <a:chExt cx="8053006" cy="58567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הדיווחים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שלי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התביעות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שלי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תור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הניהול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257909" y="4110390"/>
            <a:ext cx="7496318" cy="3858730"/>
            <a:chOff x="0" y="0"/>
            <a:chExt cx="9995090" cy="514497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995027" cy="5144897"/>
            </a:xfrm>
            <a:custGeom>
              <a:avLst/>
              <a:gdLst/>
              <a:ahLst/>
              <a:cxnLst/>
              <a:rect l="l" t="t" r="r" b="b"/>
              <a:pathLst>
                <a:path w="9995027" h="514489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848088" y="0"/>
                  </a:lnTo>
                  <a:cubicBezTo>
                    <a:pt x="9929241" y="0"/>
                    <a:pt x="9995027" y="65786"/>
                    <a:pt x="9995027" y="146939"/>
                  </a:cubicBezTo>
                  <a:lnTo>
                    <a:pt x="9995027" y="4997958"/>
                  </a:lnTo>
                  <a:cubicBezTo>
                    <a:pt x="9995027" y="5079111"/>
                    <a:pt x="9929241" y="5144897"/>
                    <a:pt x="9848088" y="5144897"/>
                  </a:cubicBezTo>
                  <a:lnTo>
                    <a:pt x="146939" y="5144897"/>
                  </a:lnTo>
                  <a:cubicBezTo>
                    <a:pt x="65786" y="5145024"/>
                    <a:pt x="0" y="5079111"/>
                    <a:pt x="0" y="49979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952144" y="4461399"/>
            <a:ext cx="2352608" cy="403412"/>
            <a:chOff x="0" y="0"/>
            <a:chExt cx="3136811" cy="53788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136773" cy="537845"/>
            </a:xfrm>
            <a:custGeom>
              <a:avLst/>
              <a:gdLst/>
              <a:ahLst/>
              <a:cxnLst/>
              <a:rect l="l" t="t" r="r" b="b"/>
              <a:pathLst>
                <a:path w="3136773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002280" y="0"/>
                  </a:lnTo>
                  <a:cubicBezTo>
                    <a:pt x="3076575" y="0"/>
                    <a:pt x="3136773" y="60198"/>
                    <a:pt x="3136773" y="134493"/>
                  </a:cubicBezTo>
                  <a:lnTo>
                    <a:pt x="3136773" y="403352"/>
                  </a:lnTo>
                  <a:cubicBezTo>
                    <a:pt x="3136773" y="477647"/>
                    <a:pt x="3076575" y="537845"/>
                    <a:pt x="3002280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  <p:txBody>
            <a:bodyPr/>
            <a:lstStyle/>
            <a:p>
              <a:pPr algn="r"/>
              <a:endParaRPr lang="en-IL" sz="2000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4348431" y="4505445"/>
            <a:ext cx="2113912" cy="219627"/>
            <a:chOff x="0" y="0"/>
            <a:chExt cx="2818549" cy="292837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818554" cy="292837"/>
            </a:xfrm>
            <a:custGeom>
              <a:avLst/>
              <a:gdLst/>
              <a:ahLst/>
              <a:cxnLst/>
              <a:rect l="l" t="t" r="r" b="b"/>
              <a:pathLst>
                <a:path w="2818554" h="292837">
                  <a:moveTo>
                    <a:pt x="0" y="0"/>
                  </a:moveTo>
                  <a:lnTo>
                    <a:pt x="2818554" y="0"/>
                  </a:lnTo>
                  <a:lnTo>
                    <a:pt x="281855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543" b="-1375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2818549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28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לקחים שנלמדו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6354490" y="5432272"/>
            <a:ext cx="142608" cy="142608"/>
            <a:chOff x="0" y="0"/>
            <a:chExt cx="190144" cy="19014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703095" y="5294531"/>
            <a:ext cx="6545422" cy="456518"/>
            <a:chOff x="-674216" y="0"/>
            <a:chExt cx="8727228" cy="60869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-674216" y="0"/>
              <a:ext cx="8727223" cy="60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אינטגרציה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חסרת-שרת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היא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עוצמתית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אך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עתירת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תצורה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6354490" y="6118615"/>
            <a:ext cx="142608" cy="142608"/>
            <a:chOff x="0" y="0"/>
            <a:chExt cx="190144" cy="19014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9962517" y="5980874"/>
            <a:ext cx="6286000" cy="439256"/>
            <a:chOff x="-328320" y="0"/>
            <a:chExt cx="8381332" cy="58567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-328320" y="0"/>
              <a:ext cx="838132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תפקידי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IAM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בהרשאות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מינימום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מונעים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חשיפת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יתר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6354490" y="6804949"/>
            <a:ext cx="142608" cy="142608"/>
            <a:chOff x="0" y="0"/>
            <a:chExt cx="190144" cy="19014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826057" y="6667208"/>
            <a:ext cx="6422460" cy="456518"/>
            <a:chOff x="-510267" y="0"/>
            <a:chExt cx="8563279" cy="60869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-510267" y="0"/>
              <a:ext cx="8563273" cy="60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יש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לאכוף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קבוצות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Cognito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בצד-שרת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ולא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רק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בממשק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6354490" y="7491282"/>
            <a:ext cx="142608" cy="142608"/>
            <a:chOff x="0" y="0"/>
            <a:chExt cx="190144" cy="19014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0208757" y="7353541"/>
            <a:ext cx="6039755" cy="439255"/>
            <a:chOff x="0" y="0"/>
            <a:chExt cx="8053006" cy="585673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  <p:txBody>
            <a:bodyPr/>
            <a:lstStyle/>
            <a:p>
              <a:pPr algn="r"/>
              <a:endParaRPr lang="en-IL" sz="2000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3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ניטור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ואוטומציה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הופכים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את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האפליקציה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לדמוית-ייצור</a:t>
              </a:r>
              <a:endParaRPr lang="en-US" sz="2400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119320"/>
            <a:ext cx="16633765" cy="1143536"/>
            <a:chOff x="0" y="-609600"/>
            <a:chExt cx="22178354" cy="1524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56694" y="-609600"/>
              <a:ext cx="942166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הדגמה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חיה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—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תהליך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המשתמש</a:t>
              </a: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919294"/>
            <a:ext cx="16316906" cy="837727"/>
            <a:chOff x="0" y="-512994"/>
            <a:chExt cx="21755875" cy="11169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0084" y="-512994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הצגת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מסלול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המשתמש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הרגיל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: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התחברות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דיווח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על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פריט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עיון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ותביעה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1845478"/>
            <a:ext cx="8251288" cy="7153151"/>
            <a:chOff x="0" y="0"/>
            <a:chExt cx="11001718" cy="95375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01756" cy="9537573"/>
            </a:xfrm>
            <a:custGeom>
              <a:avLst/>
              <a:gdLst/>
              <a:ahLst/>
              <a:cxnLst/>
              <a:rect l="l" t="t" r="r" b="b"/>
              <a:pathLst>
                <a:path w="11001756" h="9537573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855071" y="0"/>
                  </a:lnTo>
                  <a:cubicBezTo>
                    <a:pt x="10936097" y="0"/>
                    <a:pt x="11001756" y="65659"/>
                    <a:pt x="11001756" y="146685"/>
                  </a:cubicBezTo>
                  <a:lnTo>
                    <a:pt x="11001756" y="9390888"/>
                  </a:lnTo>
                  <a:cubicBezTo>
                    <a:pt x="11001756" y="9471914"/>
                    <a:pt x="10936097" y="9537573"/>
                    <a:pt x="10855071" y="9537573"/>
                  </a:cubicBezTo>
                  <a:lnTo>
                    <a:pt x="146685" y="9537573"/>
                  </a:lnTo>
                  <a:cubicBezTo>
                    <a:pt x="65659" y="9537573"/>
                    <a:pt x="0" y="9471914"/>
                    <a:pt x="0" y="93908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70029" y="2127647"/>
            <a:ext cx="2559719" cy="6588824"/>
            <a:chOff x="0" y="0"/>
            <a:chExt cx="3139986" cy="8785098"/>
          </a:xfrm>
        </p:grpSpPr>
        <p:sp>
          <p:nvSpPr>
            <p:cNvPr id="11" name="Freeform 11" descr="/mnt/data/image(5).png"/>
            <p:cNvSpPr/>
            <p:nvPr/>
          </p:nvSpPr>
          <p:spPr>
            <a:xfrm>
              <a:off x="0" y="0"/>
              <a:ext cx="3139948" cy="8785098"/>
            </a:xfrm>
            <a:custGeom>
              <a:avLst/>
              <a:gdLst/>
              <a:ahLst/>
              <a:cxnLst/>
              <a:rect l="l" t="t" r="r" b="b"/>
              <a:pathLst>
                <a:path w="3139948" h="8785098">
                  <a:moveTo>
                    <a:pt x="0" y="0"/>
                  </a:moveTo>
                  <a:lnTo>
                    <a:pt x="3139948" y="0"/>
                  </a:lnTo>
                  <a:lnTo>
                    <a:pt x="3139948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69713" y="1845478"/>
            <a:ext cx="7496318" cy="7153151"/>
            <a:chOff x="0" y="0"/>
            <a:chExt cx="9995090" cy="95375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95027" cy="9537573"/>
            </a:xfrm>
            <a:custGeom>
              <a:avLst/>
              <a:gdLst/>
              <a:ahLst/>
              <a:cxnLst/>
              <a:rect l="l" t="t" r="r" b="b"/>
              <a:pathLst>
                <a:path w="9995027" h="9537573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848342" y="0"/>
                  </a:lnTo>
                  <a:cubicBezTo>
                    <a:pt x="9929368" y="0"/>
                    <a:pt x="9995027" y="65659"/>
                    <a:pt x="9995027" y="146685"/>
                  </a:cubicBezTo>
                  <a:lnTo>
                    <a:pt x="9995027" y="9390888"/>
                  </a:lnTo>
                  <a:cubicBezTo>
                    <a:pt x="9995027" y="9471914"/>
                    <a:pt x="9929368" y="9537573"/>
                    <a:pt x="9848342" y="9537573"/>
                  </a:cubicBezTo>
                  <a:lnTo>
                    <a:pt x="146685" y="9537573"/>
                  </a:lnTo>
                  <a:cubicBezTo>
                    <a:pt x="65659" y="9537573"/>
                    <a:pt x="0" y="9471914"/>
                    <a:pt x="0" y="93908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71300" y="2048685"/>
            <a:ext cx="2693096" cy="3091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 rtl="1"/>
            <a:r>
              <a:rPr lang="en-US" sz="3000" b="1" dirty="0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תהליך ההדגמה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405675" y="2883990"/>
            <a:ext cx="760305" cy="760305"/>
            <a:chOff x="0" y="0"/>
            <a:chExt cx="1013739" cy="10137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15210" y="2975887"/>
            <a:ext cx="741245" cy="494167"/>
            <a:chOff x="0" y="0"/>
            <a:chExt cx="988327" cy="6588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59755" y="3088510"/>
            <a:ext cx="5986730" cy="381529"/>
            <a:chOff x="0" y="0"/>
            <a:chExt cx="6863359" cy="3294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 dirty="0">
                  <a:solidFill>
                    <a:srgbClr val="111827"/>
                  </a:solidFill>
                  <a:latin typeface="Aptos" panose="020B0004020202020204" pitchFamily="34" charset="0"/>
                  <a:ea typeface="Aptos Bold"/>
                  <a:cs typeface="Aptos Bold"/>
                  <a:sym typeface="Aptos Bold"/>
                </a:rPr>
                <a:t>פתיחת דף הנחיתה ומעבר לדף ההתחברות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405675" y="3638960"/>
            <a:ext cx="760305" cy="760305"/>
            <a:chOff x="0" y="0"/>
            <a:chExt cx="1013739" cy="10137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415210" y="3730857"/>
            <a:ext cx="741245" cy="494167"/>
            <a:chOff x="0" y="0"/>
            <a:chExt cx="988327" cy="6588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59755" y="3843480"/>
            <a:ext cx="5986730" cy="381529"/>
            <a:chOff x="0" y="0"/>
            <a:chExt cx="6863359" cy="3294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התחברות כמשתמש רגיל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405675" y="4393931"/>
            <a:ext cx="760305" cy="760305"/>
            <a:chOff x="0" y="0"/>
            <a:chExt cx="1013739" cy="10137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15210" y="4485828"/>
            <a:ext cx="741245" cy="494167"/>
            <a:chOff x="0" y="0"/>
            <a:chExt cx="988327" cy="65888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59755" y="4598451"/>
            <a:ext cx="5986730" cy="381529"/>
            <a:chOff x="0" y="0"/>
            <a:chExt cx="6863359" cy="3294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הוספת פריט שנמצא עם תצוגה מקדימה של תמונה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405675" y="5148901"/>
            <a:ext cx="760305" cy="760305"/>
            <a:chOff x="0" y="0"/>
            <a:chExt cx="1013739" cy="101373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415210" y="5240798"/>
            <a:ext cx="741245" cy="494167"/>
            <a:chOff x="0" y="0"/>
            <a:chExt cx="988327" cy="65888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459755" y="5353421"/>
            <a:ext cx="5986730" cy="381529"/>
            <a:chOff x="0" y="0"/>
            <a:chExt cx="6863359" cy="3294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הצגת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תוויות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AI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וכרטיס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הפריט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405675" y="5903872"/>
            <a:ext cx="760305" cy="760305"/>
            <a:chOff x="0" y="0"/>
            <a:chExt cx="1013739" cy="101373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6415210" y="5995769"/>
            <a:ext cx="741245" cy="494167"/>
            <a:chOff x="0" y="0"/>
            <a:chExt cx="988327" cy="6588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459755" y="6108392"/>
            <a:ext cx="5986730" cy="381529"/>
            <a:chOff x="0" y="0"/>
            <a:chExt cx="6863359" cy="3294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שימוש בחיפוש ובמסננים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6405675" y="6658842"/>
            <a:ext cx="760305" cy="760305"/>
            <a:chOff x="0" y="0"/>
            <a:chExt cx="1013739" cy="101373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415210" y="6750730"/>
            <a:ext cx="741245" cy="494167"/>
            <a:chOff x="0" y="0"/>
            <a:chExt cx="988327" cy="6588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6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459755" y="6863363"/>
            <a:ext cx="5986730" cy="381529"/>
            <a:chOff x="0" y="0"/>
            <a:chExt cx="6863359" cy="32943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שליחת בקשת תביעה באמצעות חלון מודאלי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6405675" y="7413813"/>
            <a:ext cx="760305" cy="760305"/>
            <a:chOff x="0" y="0"/>
            <a:chExt cx="1013739" cy="101373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415210" y="7505700"/>
            <a:ext cx="741245" cy="494167"/>
            <a:chOff x="0" y="0"/>
            <a:chExt cx="988327" cy="65888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459755" y="7618333"/>
            <a:ext cx="5986730" cy="381529"/>
            <a:chOff x="0" y="0"/>
            <a:chExt cx="6863359" cy="32943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  <p:txBody>
            <a:bodyPr/>
            <a:lstStyle/>
            <a:p>
              <a:pPr algn="r"/>
              <a:endParaRPr lang="en-IL" sz="2800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927"/>
                </a:lnSpc>
              </a:pPr>
              <a:r>
                <a:rPr lang="en-US" sz="240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פתיחת "התביעות שלי" והצגת ציר זמן הסטטוס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111331"/>
            <a:ext cx="16503530" cy="1151525"/>
            <a:chOff x="0" y="-620252"/>
            <a:chExt cx="22004708" cy="153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440754" y="-620252"/>
              <a:ext cx="8563954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5043"/>
                </a:lnSpc>
              </a:pP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הדגמה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חיה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—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תהליך</a:t>
              </a:r>
              <a:r>
                <a:rPr lang="en-US" sz="4203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3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המנהל</a:t>
              </a: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43032" y="1024433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071"/>
                </a:lnSpc>
              </a:pP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הצגת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בקרה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מבוססת-תפקידים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ואבטחת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צד-שרת</a:t>
              </a:r>
              <a:r>
                <a:rPr lang="en-US" sz="2400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21428344">
            <a:off x="4547299" y="3511957"/>
            <a:ext cx="1003771" cy="45719"/>
            <a:chOff x="0" y="0"/>
            <a:chExt cx="1962417" cy="40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 rot="21434693">
            <a:off x="8524431" y="3464075"/>
            <a:ext cx="998502" cy="45719"/>
            <a:chOff x="0" y="0"/>
            <a:chExt cx="1962417" cy="406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02267" y="3553714"/>
            <a:ext cx="1471813" cy="30509"/>
            <a:chOff x="0" y="0"/>
            <a:chExt cx="1962417" cy="406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96410" y="2737723"/>
            <a:ext cx="3241034" cy="1662455"/>
            <a:chOff x="0" y="0"/>
            <a:chExt cx="4321378" cy="22166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00407" y="3120161"/>
            <a:ext cx="760305" cy="760305"/>
            <a:chOff x="0" y="0"/>
            <a:chExt cx="1013739" cy="10137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09941" y="3212049"/>
            <a:ext cx="741245" cy="494167"/>
            <a:chOff x="0" y="0"/>
            <a:chExt cx="988327" cy="658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4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  <a:endParaRPr lang="en-US" sz="225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451903" y="3074784"/>
            <a:ext cx="1734751" cy="538632"/>
            <a:chOff x="-25215" y="0"/>
            <a:chExt cx="2313002" cy="7181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25215" y="306746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197"/>
                </a:lnSpc>
              </a:pPr>
              <a:r>
                <a:rPr lang="en-US" sz="2400" b="1" dirty="0" err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פריט</a:t>
              </a:r>
              <a:r>
                <a:rPr lang="en-US" sz="24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שנתבע</a:t>
              </a:r>
              <a:endParaRPr lang="en-US" sz="2400" b="1" dirty="0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4235" y="3541490"/>
            <a:ext cx="2133600" cy="521618"/>
            <a:chOff x="-502105" y="0"/>
            <a:chExt cx="2844799" cy="6954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502105" y="0"/>
              <a:ext cx="2844798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549"/>
                </a:lnSpc>
              </a:pP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המשתמש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הגיש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תביעה</a:t>
              </a:r>
              <a:endParaRPr lang="en-US" b="1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14429" y="2737723"/>
            <a:ext cx="3241034" cy="1662455"/>
            <a:chOff x="0" y="0"/>
            <a:chExt cx="4321378" cy="22166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8426" y="3120161"/>
            <a:ext cx="760305" cy="760305"/>
            <a:chOff x="0" y="0"/>
            <a:chExt cx="1013739" cy="101373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27961" y="3212049"/>
            <a:ext cx="741245" cy="494167"/>
            <a:chOff x="0" y="0"/>
            <a:chExt cx="988327" cy="6588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4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88824" y="3074784"/>
            <a:ext cx="1819337" cy="538632"/>
            <a:chOff x="0" y="0"/>
            <a:chExt cx="2425783" cy="7181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992" y="306746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 rtl="1">
                <a:lnSpc>
                  <a:spcPts val="2197"/>
                </a:lnSpc>
              </a:pPr>
              <a:r>
                <a:rPr lang="en-US" sz="2400" b="1" dirty="0" err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תור</a:t>
              </a:r>
              <a:r>
                <a:rPr lang="en-US" sz="24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הניהול</a:t>
              </a:r>
              <a:endParaRPr lang="en-US" sz="2400" b="1" dirty="0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38236" y="3541490"/>
            <a:ext cx="2407609" cy="521618"/>
            <a:chOff x="-867451" y="0"/>
            <a:chExt cx="3210145" cy="6954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-867451" y="0"/>
              <a:ext cx="3210144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549"/>
                </a:lnSpc>
              </a:pP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המנהל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בודק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את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הפרטים</a:t>
              </a:r>
              <a:endParaRPr lang="en-US" b="1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32449" y="2737723"/>
            <a:ext cx="3241034" cy="1662455"/>
            <a:chOff x="0" y="0"/>
            <a:chExt cx="4321378" cy="221660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736445" y="3120161"/>
            <a:ext cx="760305" cy="760305"/>
            <a:chOff x="0" y="0"/>
            <a:chExt cx="1013739" cy="101373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745970" y="3212049"/>
            <a:ext cx="741245" cy="494167"/>
            <a:chOff x="0" y="0"/>
            <a:chExt cx="988327" cy="65888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4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  <a:endParaRPr lang="en-US" sz="225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603341" y="3074784"/>
            <a:ext cx="1819342" cy="631427"/>
            <a:chOff x="-138003" y="0"/>
            <a:chExt cx="2425790" cy="77541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-138003" y="363985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197"/>
                </a:lnSpc>
              </a:pPr>
              <a:r>
                <a:rPr lang="en-US" sz="2400" b="1" dirty="0" err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סימון</a:t>
              </a:r>
              <a:r>
                <a:rPr lang="en-US" sz="24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כהוחזר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73003" y="3541490"/>
            <a:ext cx="2390861" cy="550647"/>
            <a:chOff x="-845120" y="0"/>
            <a:chExt cx="3187814" cy="7341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-845120" y="38705"/>
              <a:ext cx="3105684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549"/>
                </a:lnSpc>
              </a:pP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המנהל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מאשר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את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הפעולה</a:t>
              </a:r>
              <a:endParaRPr lang="en-US" b="1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50468" y="2737723"/>
            <a:ext cx="3241034" cy="1662455"/>
            <a:chOff x="0" y="0"/>
            <a:chExt cx="4321378" cy="221660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854455" y="3120161"/>
            <a:ext cx="760305" cy="760305"/>
            <a:chOff x="0" y="0"/>
            <a:chExt cx="1013739" cy="101373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863990" y="3212049"/>
            <a:ext cx="741245" cy="494167"/>
            <a:chOff x="0" y="0"/>
            <a:chExt cx="988327" cy="65888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4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250649" y="3074784"/>
            <a:ext cx="2290053" cy="597939"/>
            <a:chOff x="-765618" y="0"/>
            <a:chExt cx="3053405" cy="79725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-765618" y="245977"/>
              <a:ext cx="2953474" cy="5512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197"/>
                </a:lnSpc>
              </a:pPr>
              <a:r>
                <a:rPr lang="en-US" sz="2400" b="1" dirty="0" err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ציר</a:t>
              </a:r>
              <a:r>
                <a:rPr lang="en-US" sz="2400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הזמן</a:t>
              </a:r>
              <a:r>
                <a:rPr lang="en-US" sz="2400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1" dirty="0" err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עודכן</a:t>
              </a:r>
              <a:endParaRPr lang="en-US" sz="2400" b="1" dirty="0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175701" y="3541490"/>
            <a:ext cx="2406182" cy="521618"/>
            <a:chOff x="-865548" y="0"/>
            <a:chExt cx="3208242" cy="69549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-865548" y="0"/>
              <a:ext cx="3208241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1549"/>
                </a:lnSpc>
              </a:pP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הערך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ReturnedAt</a:t>
              </a:r>
              <a:r>
                <a:rPr lang="en-US" b="1" dirty="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1" dirty="0" err="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נשמר</a:t>
              </a:r>
              <a:endParaRPr lang="en-US" b="1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708214" y="5551694"/>
            <a:ext cx="6192279" cy="2417426"/>
            <a:chOff x="0" y="0"/>
            <a:chExt cx="8256372" cy="32232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256397" cy="3223260"/>
            </a:xfrm>
            <a:custGeom>
              <a:avLst/>
              <a:gdLst/>
              <a:ahLst/>
              <a:cxnLst/>
              <a:rect l="l" t="t" r="r" b="b"/>
              <a:pathLst>
                <a:path w="8256397" h="32232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8109077" y="0"/>
                  </a:lnTo>
                  <a:cubicBezTo>
                    <a:pt x="8190484" y="0"/>
                    <a:pt x="8256397" y="65913"/>
                    <a:pt x="8256397" y="147320"/>
                  </a:cubicBezTo>
                  <a:lnTo>
                    <a:pt x="8256397" y="3075940"/>
                  </a:lnTo>
                  <a:cubicBezTo>
                    <a:pt x="8256397" y="3157347"/>
                    <a:pt x="8190484" y="3223260"/>
                    <a:pt x="8109077" y="3223260"/>
                  </a:cubicBezTo>
                  <a:lnTo>
                    <a:pt x="147320" y="3223260"/>
                  </a:lnTo>
                  <a:cubicBezTo>
                    <a:pt x="65913" y="3223260"/>
                    <a:pt x="0" y="3157220"/>
                    <a:pt x="0" y="307594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049475" y="5892956"/>
            <a:ext cx="2283971" cy="403412"/>
            <a:chOff x="0" y="0"/>
            <a:chExt cx="3045295" cy="53788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045333" cy="537845"/>
            </a:xfrm>
            <a:custGeom>
              <a:avLst/>
              <a:gdLst/>
              <a:ahLst/>
              <a:cxnLst/>
              <a:rect l="l" t="t" r="r" b="b"/>
              <a:pathLst>
                <a:path w="3045333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910840" y="0"/>
                  </a:lnTo>
                  <a:cubicBezTo>
                    <a:pt x="2985135" y="0"/>
                    <a:pt x="3045333" y="60198"/>
                    <a:pt x="3045333" y="134493"/>
                  </a:cubicBezTo>
                  <a:lnTo>
                    <a:pt x="3045333" y="403352"/>
                  </a:lnTo>
                  <a:cubicBezTo>
                    <a:pt x="3045333" y="477647"/>
                    <a:pt x="2985135" y="537845"/>
                    <a:pt x="2910840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2916946" y="5796992"/>
            <a:ext cx="3382754" cy="30122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 rtl="1"/>
            <a:r>
              <a:rPr lang="en-US" sz="3000" b="1" dirty="0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התחברות מנהל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828801" y="6585717"/>
            <a:ext cx="5943034" cy="1032617"/>
            <a:chOff x="-306945" y="-59057"/>
            <a:chExt cx="7924047" cy="137682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137897" cy="1317765"/>
            </a:xfrm>
            <a:custGeom>
              <a:avLst/>
              <a:gdLst/>
              <a:ahLst/>
              <a:cxnLst/>
              <a:rect l="l" t="t" r="r" b="b"/>
              <a:pathLst>
                <a:path w="7137897" h="1317765">
                  <a:moveTo>
                    <a:pt x="0" y="0"/>
                  </a:moveTo>
                  <a:lnTo>
                    <a:pt x="7137897" y="0"/>
                  </a:lnTo>
                  <a:lnTo>
                    <a:pt x="713789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-306945" y="-59057"/>
              <a:ext cx="7924047" cy="1317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161"/>
                </a:lnSpc>
              </a:pP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התחברו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באמצעות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משתמש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המשויך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לקבוצת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ה-Admin ב-Cognito.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ודאו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שתור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הניהול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ופעולות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המחיקה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/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ההחזרה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מופיעות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רק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עבור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מנהל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71576" y="5551694"/>
            <a:ext cx="7702220" cy="2417426"/>
            <a:chOff x="0" y="0"/>
            <a:chExt cx="10269626" cy="322323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269601" cy="3223260"/>
            </a:xfrm>
            <a:custGeom>
              <a:avLst/>
              <a:gdLst/>
              <a:ahLst/>
              <a:cxnLst/>
              <a:rect l="l" t="t" r="r" b="b"/>
              <a:pathLst>
                <a:path w="10269601" h="32232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122281" y="0"/>
                  </a:lnTo>
                  <a:cubicBezTo>
                    <a:pt x="10203688" y="0"/>
                    <a:pt x="10269601" y="65913"/>
                    <a:pt x="10269601" y="147320"/>
                  </a:cubicBezTo>
                  <a:lnTo>
                    <a:pt x="10269601" y="3075940"/>
                  </a:lnTo>
                  <a:cubicBezTo>
                    <a:pt x="10269601" y="3157347"/>
                    <a:pt x="10203688" y="3223260"/>
                    <a:pt x="10122281" y="3223260"/>
                  </a:cubicBezTo>
                  <a:lnTo>
                    <a:pt x="147320" y="3223260"/>
                  </a:lnTo>
                  <a:cubicBezTo>
                    <a:pt x="65913" y="3223260"/>
                    <a:pt x="0" y="3157220"/>
                    <a:pt x="0" y="307594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085176" y="5889725"/>
            <a:ext cx="2778814" cy="219627"/>
            <a:chOff x="0" y="0"/>
            <a:chExt cx="3705086" cy="29283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269485" cy="292837"/>
            </a:xfrm>
            <a:custGeom>
              <a:avLst/>
              <a:gdLst/>
              <a:ahLst/>
              <a:cxnLst/>
              <a:rect l="l" t="t" r="r" b="b"/>
              <a:pathLst>
                <a:path w="2269485" h="292837">
                  <a:moveTo>
                    <a:pt x="0" y="0"/>
                  </a:moveTo>
                  <a:lnTo>
                    <a:pt x="2269485" y="0"/>
                  </a:lnTo>
                  <a:lnTo>
                    <a:pt x="226948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009" b="-10100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3705086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/>
              <a:r>
                <a:rPr lang="en-US" sz="3000" b="1" dirty="0">
                  <a:solidFill>
                    <a:srgbClr val="DC26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הוכחת אבטחה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655501" y="6619679"/>
            <a:ext cx="7465789" cy="998655"/>
            <a:chOff x="-355828" y="-13775"/>
            <a:chExt cx="9954386" cy="13315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059638" cy="1317765"/>
            </a:xfrm>
            <a:custGeom>
              <a:avLst/>
              <a:gdLst/>
              <a:ahLst/>
              <a:cxnLst/>
              <a:rect l="l" t="t" r="r" b="b"/>
              <a:pathLst>
                <a:path w="9059638" h="1317765">
                  <a:moveTo>
                    <a:pt x="0" y="0"/>
                  </a:moveTo>
                  <a:lnTo>
                    <a:pt x="9059638" y="0"/>
                  </a:lnTo>
                  <a:lnTo>
                    <a:pt x="9059638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-355828" y="-13775"/>
              <a:ext cx="9954386" cy="1317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161"/>
                </a:lnSpc>
              </a:pP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ה-Lambda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בצד-שרת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בודק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את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cognito:groups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.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אם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משתמש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רגיל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קורא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ידנית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לנקודת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הקצה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של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המנהל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, ה-Lambda </a:t>
              </a:r>
              <a:r>
                <a:rPr lang="en-US" sz="2400" dirty="0" err="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מחזיר</a:t>
              </a:r>
              <a:r>
                <a:rPr lang="en-US" sz="2400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 403 Forbidden.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0508" y="2120017"/>
            <a:ext cx="4888240" cy="4545073"/>
            <a:chOff x="0" y="0"/>
            <a:chExt cx="6517653" cy="60600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84537" y="2556672"/>
            <a:ext cx="2086460" cy="219627"/>
            <a:chOff x="0" y="0"/>
            <a:chExt cx="2781946" cy="2928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781946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301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האפליקציה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37392" y="3355905"/>
            <a:ext cx="3980755" cy="2473395"/>
            <a:chOff x="0" y="-9525"/>
            <a:chExt cx="5307673" cy="32978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307673" cy="32978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521"/>
                </a:lnSpc>
              </a:pP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נחיתה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התחברות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לוח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בקרה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חלון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תביעה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תור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הניהול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ציר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זמן</a:t>
              </a:r>
              <a:endParaRPr lang="en-US" sz="28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7105" y="2120017"/>
            <a:ext cx="4888240" cy="4545073"/>
            <a:chOff x="0" y="0"/>
            <a:chExt cx="6517653" cy="60600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05731" y="2587599"/>
            <a:ext cx="2437247" cy="219627"/>
            <a:chOff x="0" y="0"/>
            <a:chExt cx="3249662" cy="2928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249662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30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מסוף AWS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33980" y="3355905"/>
            <a:ext cx="3980755" cy="2473395"/>
            <a:chOff x="0" y="-9525"/>
            <a:chExt cx="5307673" cy="32978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307673" cy="32978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DynamoDB, S3, Lambda, API Gateway, IAM, Cognito, SNS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83694" y="2120017"/>
            <a:ext cx="4888240" cy="4545073"/>
            <a:chOff x="0" y="0"/>
            <a:chExt cx="6517653" cy="60600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360861" y="2573760"/>
            <a:ext cx="3133896" cy="219627"/>
            <a:chOff x="0" y="0"/>
            <a:chExt cx="4178527" cy="29283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1785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1333"/>
                </a:lnSpc>
              </a:pPr>
              <a:r>
                <a:rPr lang="en-US" sz="30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הוכחות בונוס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930578" y="3355905"/>
            <a:ext cx="3980755" cy="2473395"/>
            <a:chOff x="0" y="-9525"/>
            <a:chExt cx="5307673" cy="32978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5307673" cy="32978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2521"/>
                </a:lnSpc>
              </a:pP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התראות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יומני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CloudWatch,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חוק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EventBridge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, S3 פרטי/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כתובות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URL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חתומות</a:t>
              </a:r>
              <a:r>
                <a:rPr lang="en-US" sz="2800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800" b="1" dirty="0" err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מראש</a:t>
              </a:r>
              <a:endParaRPr lang="en-US" sz="2800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284877" y="7471534"/>
            <a:ext cx="11755412" cy="952481"/>
            <a:chOff x="0" y="0"/>
            <a:chExt cx="15673883" cy="12699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73960" cy="1270000"/>
            </a:xfrm>
            <a:custGeom>
              <a:avLst/>
              <a:gdLst/>
              <a:ahLst/>
              <a:cxnLst/>
              <a:rect l="l" t="t" r="r" b="b"/>
              <a:pathLst>
                <a:path w="15673960" h="1270000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15449804" y="0"/>
                  </a:lnTo>
                  <a:cubicBezTo>
                    <a:pt x="15573629" y="0"/>
                    <a:pt x="15673960" y="100330"/>
                    <a:pt x="15673960" y="224155"/>
                  </a:cubicBezTo>
                  <a:lnTo>
                    <a:pt x="15673960" y="1045845"/>
                  </a:lnTo>
                  <a:cubicBezTo>
                    <a:pt x="15673960" y="1169670"/>
                    <a:pt x="15573629" y="1270000"/>
                    <a:pt x="15449804" y="1270000"/>
                  </a:cubicBezTo>
                  <a:lnTo>
                    <a:pt x="224155" y="1270000"/>
                  </a:lnTo>
                  <a:cubicBezTo>
                    <a:pt x="100330" y="1270000"/>
                    <a:pt x="0" y="1169670"/>
                    <a:pt x="0" y="1045845"/>
                  </a:cubicBez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637578" y="7796774"/>
            <a:ext cx="11050010" cy="274539"/>
            <a:chOff x="0" y="0"/>
            <a:chExt cx="14733346" cy="3660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733350" cy="366046"/>
            </a:xfrm>
            <a:custGeom>
              <a:avLst/>
              <a:gdLst/>
              <a:ahLst/>
              <a:cxnLst/>
              <a:rect l="l" t="t" r="r" b="b"/>
              <a:pathLst>
                <a:path w="14733350" h="366046">
                  <a:moveTo>
                    <a:pt x="0" y="0"/>
                  </a:moveTo>
                  <a:lnTo>
                    <a:pt x="14733350" y="0"/>
                  </a:lnTo>
                  <a:lnTo>
                    <a:pt x="1473335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271" b="-734273"/>
              </a:stretch>
            </a:blipFill>
          </p:spPr>
          <p:txBody>
            <a:bodyPr/>
            <a:lstStyle/>
            <a:p>
              <a:endParaRPr lang="en-I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4733346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rtl="1">
                <a:lnSpc>
                  <a:spcPts val="3602"/>
                </a:lnSpc>
              </a:pPr>
              <a:r>
                <a:rPr lang="en-US" sz="3200" b="1" dirty="0" err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תודה</a:t>
              </a:r>
              <a:r>
                <a:rPr lang="en-US" sz="32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— </a:t>
              </a:r>
              <a:r>
                <a:rPr lang="en-US" sz="3200" b="1" dirty="0" err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שאלות</a:t>
              </a:r>
              <a:r>
                <a:rPr lang="en-US" sz="32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963</Words>
  <Application>Microsoft Office PowerPoint</Application>
  <PresentationFormat>Custom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David</vt:lpstr>
      <vt:lpstr>Arial</vt:lpstr>
      <vt:lpstr>Aptos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Smart_Lost_and_Found_Presentation.pptx</dc:title>
  <dc:creator>home</dc:creator>
  <cp:lastModifiedBy>Ali Shweike</cp:lastModifiedBy>
  <cp:revision>6</cp:revision>
  <dcterms:created xsi:type="dcterms:W3CDTF">2006-08-16T00:00:00Z</dcterms:created>
  <dcterms:modified xsi:type="dcterms:W3CDTF">2026-07-01T15:03:10Z</dcterms:modified>
  <dc:identifier>DAHNnpc_74M</dc:identifier>
</cp:coreProperties>
</file>